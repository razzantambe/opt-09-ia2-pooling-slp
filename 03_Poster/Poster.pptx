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52514E"/>
                </a:solidFill>
                <a:latin typeface="Arial"/>
              </a:defRPr>
            </a:pPr>
            <a:r>
              <a:rPr sz="2000" b="0" i="0" u="none" strike="noStrike">
                <a:solidFill>
                  <a:srgbClr val="52514E"/>
                </a:solidFill>
                <a:latin typeface="Arial"/>
              </a:rPr>
              <a:t>% Good runs, 6 hard instances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%Good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22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IA-1</c:v>
                  </c:pt>
                  <c:pt idx="1">
                    <c:v>Paper</c:v>
                  </c:pt>
                  <c:pt idx="2">
                    <c:v>IA-2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</c:v>
                </c:pt>
                <c:pt idx="1">
                  <c:v>14.8</c:v>
                </c:pt>
                <c:pt idx="2">
                  <c:v>33.9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22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5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41148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975104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Restarts for Feed-Blending Optimization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97510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Sequential Linear Programming (SLP) for the pooling problem: from our IA-1 re-implementation to IA-2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9751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OPT-09  ·  Razzan Tambe (15)  ·  Saurabh Tripathi (04)  ·  Vivek Sharma (12)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19751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Optimization Techniques (IA-2)  ·  Dept. of IT, K. J. Somaiya College of Engineering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777240" cy="777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4572000"/>
            <a:ext cx="86410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5623560"/>
            <a:ext cx="9601200" cy="6492240"/>
          </a:xfrm>
          <a:prstGeom prst="roundRect">
            <a:avLst>
              <a:gd name="adj" fmla="val 35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6332220"/>
            <a:ext cx="2057400" cy="781812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7200900"/>
            <a:ext cx="2057400" cy="1563624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337560" y="7114032"/>
            <a:ext cx="2057400" cy="955548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8069580"/>
            <a:ext cx="2057400" cy="694944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337560" y="8764524"/>
            <a:ext cx="2057400" cy="173736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337560" y="7114032"/>
            <a:ext cx="2057400" cy="2692908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80760" y="6679692"/>
            <a:ext cx="2057400" cy="434340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7114032"/>
            <a:ext cx="2057400" cy="955548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7114032"/>
            <a:ext cx="2057400" cy="2345436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080760" y="6679692"/>
            <a:ext cx="2057400" cy="2084832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80760" y="8069580"/>
            <a:ext cx="2057400" cy="694944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8764524"/>
            <a:ext cx="2057400" cy="694944"/>
          </a:xfrm>
          <a:prstGeom prst="line">
            <a:avLst/>
          </a:prstGeom>
          <a:noFill/>
          <a:ln w="19050">
            <a:solidFill>
              <a:srgbClr val="C9C8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5989320"/>
            <a:ext cx="685800" cy="685800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88720" y="6099048"/>
            <a:ext cx="13716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51760" y="6858000"/>
            <a:ext cx="685800" cy="685800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88720" y="6967728"/>
            <a:ext cx="13716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651760" y="7726680"/>
            <a:ext cx="685800" cy="685800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7836408"/>
            <a:ext cx="13716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8595360"/>
            <a:ext cx="685800" cy="685800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88720" y="8705088"/>
            <a:ext cx="13716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651760" y="9464040"/>
            <a:ext cx="685800" cy="685800"/>
          </a:xfrm>
          <a:prstGeom prst="ellipse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88720" y="9573768"/>
            <a:ext cx="13716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12080" y="6588252"/>
            <a:ext cx="1051560" cy="1051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37760" y="658825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1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212080" y="8238744"/>
            <a:ext cx="1051560" cy="1051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8238744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2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138160" y="6336792"/>
            <a:ext cx="685800" cy="6858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69680" y="6446520"/>
            <a:ext cx="146304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138160" y="7726680"/>
            <a:ext cx="685800" cy="6858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69680" y="7836408"/>
            <a:ext cx="146304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138160" y="9116568"/>
            <a:ext cx="685800" cy="6858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69680" y="9226296"/>
            <a:ext cx="146304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" y="10332720"/>
            <a:ext cx="896112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go through a few </a:t>
            </a:r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bins</a:t>
            </a:r>
            <a:pPr indent="0" marL="0">
              <a:buNone/>
            </a:pPr>
            <a:r>
              <a:rPr lang="en-US" sz="2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many feeds. Every feed must meet nutrient limits. </a:t>
            </a:r>
            <a:pPr indent="0" marL="0">
              <a:buNone/>
            </a:pPr>
            <a:r>
              <a:rPr lang="en-US" sz="2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lowest total cost.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10972800" y="4617720"/>
            <a:ext cx="777240" cy="777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97280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11932920" y="4572000"/>
            <a:ext cx="86410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hard, and the gap</a:t>
            </a:r>
            <a:endParaRPr lang="en-US" sz="4000" dirty="0"/>
          </a:p>
        </p:txBody>
      </p:sp>
      <p:sp>
        <p:nvSpPr>
          <p:cNvPr id="47" name="Shape 45"/>
          <p:cNvSpPr/>
          <p:nvPr/>
        </p:nvSpPr>
        <p:spPr>
          <a:xfrm>
            <a:off x="10972800" y="5623560"/>
            <a:ext cx="9601200" cy="6492240"/>
          </a:xfrm>
          <a:prstGeom prst="roundRect">
            <a:avLst>
              <a:gd name="adj" fmla="val 352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292840" y="5852160"/>
            <a:ext cx="89611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 that suits one feed can hurt another: quality = share × content (two unknowns multiplied), so the problem has many </a:t>
            </a:r>
            <a:pPr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'valleys'</a:t>
            </a:r>
            <a:pPr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(local optima).</a:t>
            </a:r>
            <a:endParaRPr lang="en-US" sz="2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SLP (our IA-1 code) restarts from </a:t>
            </a:r>
            <a:pPr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pPr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points, so it often ends in a poor valley.</a:t>
            </a:r>
            <a:endParaRPr lang="en-US" sz="2500" dirty="0"/>
          </a:p>
        </p:txBody>
      </p:sp>
      <p:sp>
        <p:nvSpPr>
          <p:cNvPr id="49" name="Shape 47"/>
          <p:cNvSpPr/>
          <p:nvPr/>
        </p:nvSpPr>
        <p:spPr>
          <a:xfrm>
            <a:off x="11292840" y="8641080"/>
            <a:ext cx="4343400" cy="3246120"/>
          </a:xfrm>
          <a:prstGeom prst="roundRect">
            <a:avLst>
              <a:gd name="adj" fmla="val 704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475720" y="8823960"/>
            <a:ext cx="3977640" cy="168798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60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0" y="10458907"/>
            <a:ext cx="3886200" cy="136337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runs on the 6 hard instances (IA-1)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5910560" y="8641080"/>
            <a:ext cx="4343400" cy="3246120"/>
          </a:xfrm>
          <a:prstGeom prst="roundRect">
            <a:avLst>
              <a:gd name="adj" fmla="val 704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6093440" y="8823960"/>
            <a:ext cx="3977640" cy="168798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6000" dirty="0"/>
          </a:p>
        </p:txBody>
      </p:sp>
      <p:sp>
        <p:nvSpPr>
          <p:cNvPr id="54" name="Text 52"/>
          <p:cNvSpPr txBox="1"/>
          <p:nvPr/>
        </p:nvSpPr>
        <p:spPr>
          <a:xfrm>
            <a:off x="16139160" y="10458907"/>
            <a:ext cx="3886200" cy="136337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IA-1 runs end infeasible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822960" y="12298680"/>
            <a:ext cx="777240" cy="777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2960" y="1229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7" name="Text 55"/>
          <p:cNvSpPr txBox="1"/>
          <p:nvPr/>
        </p:nvSpPr>
        <p:spPr>
          <a:xfrm>
            <a:off x="1783080" y="12252960"/>
            <a:ext cx="18790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 (IA-2): restart smart, not random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822960" y="13304520"/>
            <a:ext cx="6400800" cy="4206240"/>
          </a:xfrm>
          <a:prstGeom prst="roundRect">
            <a:avLst>
              <a:gd name="adj" fmla="val 543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20440" y="13578840"/>
            <a:ext cx="1005840" cy="10058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246120" y="13578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1" name="Text 59"/>
          <p:cNvSpPr txBox="1"/>
          <p:nvPr/>
        </p:nvSpPr>
        <p:spPr>
          <a:xfrm>
            <a:off x="1097280" y="14721840"/>
            <a:ext cx="58521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start</a:t>
            </a:r>
            <a:endParaRPr lang="en-US" sz="3000" dirty="0"/>
          </a:p>
        </p:txBody>
      </p:sp>
      <p:sp>
        <p:nvSpPr>
          <p:cNvPr id="62" name="Text 60"/>
          <p:cNvSpPr txBox="1"/>
          <p:nvPr/>
        </p:nvSpPr>
        <p:spPr>
          <a:xfrm>
            <a:off x="1143000" y="15453360"/>
            <a:ext cx="576072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feed's ideal recipe (a small LP) and group similar recipes into the bins.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7498080" y="13304520"/>
            <a:ext cx="6400800" cy="4206240"/>
          </a:xfrm>
          <a:prstGeom prst="roundRect">
            <a:avLst>
              <a:gd name="adj" fmla="val 543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195560" y="13578840"/>
            <a:ext cx="1005840" cy="10058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21240" y="13578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66" name="Text 64"/>
          <p:cNvSpPr txBox="1"/>
          <p:nvPr/>
        </p:nvSpPr>
        <p:spPr>
          <a:xfrm>
            <a:off x="7772400" y="14721840"/>
            <a:ext cx="58521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one, solve the other</a:t>
            </a:r>
            <a:endParaRPr lang="en-US" sz="3000" dirty="0"/>
          </a:p>
        </p:txBody>
      </p:sp>
      <p:sp>
        <p:nvSpPr>
          <p:cNvPr id="67" name="Text 65"/>
          <p:cNvSpPr txBox="1"/>
          <p:nvPr/>
        </p:nvSpPr>
        <p:spPr>
          <a:xfrm>
            <a:off x="7818120" y="15453360"/>
            <a:ext cx="576072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bins fixed the rest is an easy LP: it repairs and polishes every answer.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14173200" y="13304520"/>
            <a:ext cx="6400800" cy="4206240"/>
          </a:xfrm>
          <a:prstGeom prst="roundRect">
            <a:avLst>
              <a:gd name="adj" fmla="val 543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870680" y="13578840"/>
            <a:ext cx="1005840" cy="10058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6596360" y="13578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71" name="Text 69"/>
          <p:cNvSpPr txBox="1"/>
          <p:nvPr/>
        </p:nvSpPr>
        <p:spPr>
          <a:xfrm>
            <a:off x="14447520" y="14721840"/>
            <a:ext cx="58521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best</a:t>
            </a:r>
            <a:endParaRPr lang="en-US" sz="3000" dirty="0"/>
          </a:p>
        </p:txBody>
      </p:sp>
      <p:sp>
        <p:nvSpPr>
          <p:cNvPr id="72" name="Text 70"/>
          <p:cNvSpPr txBox="1"/>
          <p:nvPr/>
        </p:nvSpPr>
        <p:spPr>
          <a:xfrm>
            <a:off x="14493240" y="15453360"/>
            <a:ext cx="576072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run starts from the best answer so far and changes the bin that hurts one feed most.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822960" y="17647920"/>
            <a:ext cx="197510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and the SLP solver from IA-1 stay unchanged. Check on af-1 (our IA-1 instance): IA-1 and IA-2 are both Good in 100% of runs, and IA-2's lower bound (295.93 = BARON's) proves the cost 296.446 is within 0.17% of the optimum.</a:t>
            </a:r>
            <a:endParaRPr lang="en-US" sz="2200" dirty="0"/>
          </a:p>
        </p:txBody>
      </p:sp>
      <p:sp>
        <p:nvSpPr>
          <p:cNvPr id="74" name="Shape 72"/>
          <p:cNvSpPr/>
          <p:nvPr/>
        </p:nvSpPr>
        <p:spPr>
          <a:xfrm>
            <a:off x="822960" y="18653760"/>
            <a:ext cx="777240" cy="777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22960" y="18653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76" name="Text 74"/>
          <p:cNvSpPr txBox="1"/>
          <p:nvPr/>
        </p:nvSpPr>
        <p:spPr>
          <a:xfrm>
            <a:off x="1783080" y="18608040"/>
            <a:ext cx="18790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IA-2 runs (20 runs per instance)</a:t>
            </a:r>
            <a:endParaRPr lang="en-US" sz="4000" dirty="0"/>
          </a:p>
        </p:txBody>
      </p:sp>
      <p:sp>
        <p:nvSpPr>
          <p:cNvPr id="77" name="Shape 75"/>
          <p:cNvSpPr/>
          <p:nvPr/>
        </p:nvSpPr>
        <p:spPr>
          <a:xfrm>
            <a:off x="822960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" y="19705320"/>
            <a:ext cx="2926080" cy="146304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14400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recipes</a:t>
            </a:r>
            <a:endParaRPr lang="en-US" sz="2500" dirty="0"/>
          </a:p>
        </p:txBody>
      </p:sp>
      <p:sp>
        <p:nvSpPr>
          <p:cNvPr id="80" name="Text 78"/>
          <p:cNvSpPr txBox="1"/>
          <p:nvPr/>
        </p:nvSpPr>
        <p:spPr>
          <a:xfrm>
            <a:off x="914400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per feed</a:t>
            </a:r>
            <a:endParaRPr lang="en-US" sz="2000" dirty="0"/>
          </a:p>
        </p:txBody>
      </p:sp>
      <p:sp>
        <p:nvSpPr>
          <p:cNvPr id="81" name="Shape 79"/>
          <p:cNvSpPr/>
          <p:nvPr/>
        </p:nvSpPr>
        <p:spPr>
          <a:xfrm>
            <a:off x="3776472" y="20756880"/>
            <a:ext cx="338328" cy="0"/>
          </a:xfrm>
          <a:prstGeom prst="line">
            <a:avLst/>
          </a:prstGeom>
          <a:noFill/>
          <a:ln w="3810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133088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33088" y="19705320"/>
            <a:ext cx="2926080" cy="146304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224528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start</a:t>
            </a:r>
            <a:endParaRPr lang="en-US" sz="2500" dirty="0"/>
          </a:p>
        </p:txBody>
      </p:sp>
      <p:sp>
        <p:nvSpPr>
          <p:cNvPr id="85" name="Text 83"/>
          <p:cNvSpPr txBox="1"/>
          <p:nvPr/>
        </p:nvSpPr>
        <p:spPr>
          <a:xfrm>
            <a:off x="4224528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→ bins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7086600" y="20756880"/>
            <a:ext cx="338328" cy="0"/>
          </a:xfrm>
          <a:prstGeom prst="line">
            <a:avLst/>
          </a:prstGeom>
          <a:noFill/>
          <a:ln w="3810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7443216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43216" y="19705320"/>
            <a:ext cx="2926080" cy="146304"/>
          </a:xfrm>
          <a:prstGeom prst="rect">
            <a:avLst/>
          </a:prstGeom>
          <a:solidFill>
            <a:srgbClr val="9AA9BC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534656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SLP</a:t>
            </a:r>
            <a:endParaRPr lang="en-US" sz="2500" dirty="0"/>
          </a:p>
        </p:txBody>
      </p:sp>
      <p:sp>
        <p:nvSpPr>
          <p:cNvPr id="90" name="Text 88"/>
          <p:cNvSpPr txBox="1"/>
          <p:nvPr/>
        </p:nvSpPr>
        <p:spPr>
          <a:xfrm>
            <a:off x="7534656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IA-1</a:t>
            </a:r>
            <a:endParaRPr lang="en-US" sz="2000" dirty="0"/>
          </a:p>
        </p:txBody>
      </p:sp>
      <p:sp>
        <p:nvSpPr>
          <p:cNvPr id="91" name="Shape 89"/>
          <p:cNvSpPr/>
          <p:nvPr/>
        </p:nvSpPr>
        <p:spPr>
          <a:xfrm>
            <a:off x="10396728" y="20756880"/>
            <a:ext cx="338328" cy="0"/>
          </a:xfrm>
          <a:prstGeom prst="line">
            <a:avLst/>
          </a:prstGeom>
          <a:noFill/>
          <a:ln w="3810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0753344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753344" y="19705320"/>
            <a:ext cx="2926080" cy="146304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844784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2500" dirty="0"/>
          </a:p>
        </p:txBody>
      </p:sp>
      <p:sp>
        <p:nvSpPr>
          <p:cNvPr id="95" name="Text 93"/>
          <p:cNvSpPr txBox="1"/>
          <p:nvPr/>
        </p:nvSpPr>
        <p:spPr>
          <a:xfrm>
            <a:off x="10844784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exact LPs</a:t>
            </a:r>
            <a:endParaRPr lang="en-US" sz="2000" dirty="0"/>
          </a:p>
        </p:txBody>
      </p:sp>
      <p:sp>
        <p:nvSpPr>
          <p:cNvPr id="96" name="Shape 94"/>
          <p:cNvSpPr/>
          <p:nvPr/>
        </p:nvSpPr>
        <p:spPr>
          <a:xfrm>
            <a:off x="13706856" y="20756880"/>
            <a:ext cx="338328" cy="0"/>
          </a:xfrm>
          <a:prstGeom prst="line">
            <a:avLst/>
          </a:prstGeom>
          <a:noFill/>
          <a:ln w="3810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4063472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4063472" y="19705320"/>
            <a:ext cx="2926080" cy="14630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4154912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 far</a:t>
            </a:r>
            <a:endParaRPr lang="en-US" sz="2500" dirty="0"/>
          </a:p>
        </p:txBody>
      </p:sp>
      <p:sp>
        <p:nvSpPr>
          <p:cNvPr id="100" name="Text 98"/>
          <p:cNvSpPr txBox="1"/>
          <p:nvPr/>
        </p:nvSpPr>
        <p:spPr>
          <a:xfrm>
            <a:off x="14154912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valid</a:t>
            </a:r>
            <a:endParaRPr lang="en-US" sz="2000" dirty="0"/>
          </a:p>
        </p:txBody>
      </p:sp>
      <p:sp>
        <p:nvSpPr>
          <p:cNvPr id="101" name="Shape 99"/>
          <p:cNvSpPr/>
          <p:nvPr/>
        </p:nvSpPr>
        <p:spPr>
          <a:xfrm>
            <a:off x="17016984" y="20756880"/>
            <a:ext cx="338328" cy="0"/>
          </a:xfrm>
          <a:prstGeom prst="line">
            <a:avLst/>
          </a:prstGeom>
          <a:noFill/>
          <a:ln w="3810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17373600" y="19705320"/>
            <a:ext cx="2926080" cy="2103120"/>
          </a:xfrm>
          <a:prstGeom prst="roundRect">
            <a:avLst>
              <a:gd name="adj" fmla="val 1087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373600" y="19705320"/>
            <a:ext cx="2926080" cy="146304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7465040" y="19979640"/>
            <a:ext cx="27432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change</a:t>
            </a:r>
            <a:endParaRPr lang="en-US" sz="2500" dirty="0"/>
          </a:p>
        </p:txBody>
      </p:sp>
      <p:sp>
        <p:nvSpPr>
          <p:cNvPr id="105" name="Text 103"/>
          <p:cNvSpPr txBox="1"/>
          <p:nvPr/>
        </p:nvSpPr>
        <p:spPr>
          <a:xfrm>
            <a:off x="17465040" y="20665440"/>
            <a:ext cx="27432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re-mix one bin</a:t>
            </a:r>
            <a:endParaRPr lang="en-US" sz="2000" dirty="0"/>
          </a:p>
        </p:txBody>
      </p:sp>
      <p:sp>
        <p:nvSpPr>
          <p:cNvPr id="106" name="Shape 104"/>
          <p:cNvSpPr/>
          <p:nvPr/>
        </p:nvSpPr>
        <p:spPr>
          <a:xfrm>
            <a:off x="18836640" y="21808440"/>
            <a:ext cx="0" cy="502920"/>
          </a:xfrm>
          <a:prstGeom prst="line">
            <a:avLst/>
          </a:prstGeom>
          <a:noFill/>
          <a:ln w="38100">
            <a:solidFill>
              <a:srgbClr val="6250D6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8906256" y="22311360"/>
            <a:ext cx="9930384" cy="0"/>
          </a:xfrm>
          <a:prstGeom prst="line">
            <a:avLst/>
          </a:prstGeom>
          <a:noFill/>
          <a:ln w="38100">
            <a:solidFill>
              <a:srgbClr val="6250D6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V="1">
            <a:off x="8906256" y="21826728"/>
            <a:ext cx="0" cy="484632"/>
          </a:xfrm>
          <a:prstGeom prst="line">
            <a:avLst/>
          </a:prstGeom>
          <a:noFill/>
          <a:ln w="38100">
            <a:solidFill>
              <a:srgbClr val="6250D6"/>
            </a:solidFill>
            <a:prstDash val="dash"/>
            <a:tailEnd type="triangle"/>
          </a:ln>
        </p:spPr>
      </p:sp>
      <p:sp>
        <p:nvSpPr>
          <p:cNvPr id="109" name="Text 107"/>
          <p:cNvSpPr txBox="1"/>
          <p:nvPr/>
        </p:nvSpPr>
        <p:spPr>
          <a:xfrm>
            <a:off x="9180576" y="22311360"/>
            <a:ext cx="9381744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25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run starts from the best answer</a:t>
            </a:r>
            <a:endParaRPr lang="en-US" sz="2000" dirty="0"/>
          </a:p>
        </p:txBody>
      </p:sp>
      <p:sp>
        <p:nvSpPr>
          <p:cNvPr id="110" name="Shape 108"/>
          <p:cNvSpPr/>
          <p:nvPr/>
        </p:nvSpPr>
        <p:spPr>
          <a:xfrm>
            <a:off x="822960" y="22860000"/>
            <a:ext cx="777240" cy="777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22960" y="22860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12" name="Text 110"/>
          <p:cNvSpPr txBox="1"/>
          <p:nvPr/>
        </p:nvSpPr>
        <p:spPr>
          <a:xfrm>
            <a:off x="1783080" y="22814280"/>
            <a:ext cx="18790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IA-1 vs IA-2 (11 instances, 3 × 20 runs each, same computer)</a:t>
            </a:r>
            <a:endParaRPr lang="en-US" sz="4000" dirty="0"/>
          </a:p>
        </p:txBody>
      </p:sp>
      <p:graphicFrame>
        <p:nvGraphicFramePr>
          <p:cNvPr id="113" name="Chart 0" descr=""/>
          <p:cNvGraphicFramePr/>
          <p:nvPr/>
        </p:nvGraphicFramePr>
        <p:xfrm>
          <a:off x="822960" y="2386584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4" name="Shape 111"/>
          <p:cNvSpPr/>
          <p:nvPr/>
        </p:nvSpPr>
        <p:spPr>
          <a:xfrm>
            <a:off x="8595360" y="23911560"/>
            <a:ext cx="3840480" cy="2743200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8778240" y="24094440"/>
            <a:ext cx="3474720" cy="142646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6000" dirty="0"/>
          </a:p>
        </p:txBody>
      </p:sp>
      <p:sp>
        <p:nvSpPr>
          <p:cNvPr id="116" name="Text 113"/>
          <p:cNvSpPr txBox="1"/>
          <p:nvPr/>
        </p:nvSpPr>
        <p:spPr>
          <a:xfrm>
            <a:off x="8823960" y="25447752"/>
            <a:ext cx="3383280" cy="115214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a Good answer (hard)</a:t>
            </a:r>
            <a:endParaRPr lang="en-US" sz="2100" dirty="0"/>
          </a:p>
        </p:txBody>
      </p:sp>
      <p:sp>
        <p:nvSpPr>
          <p:cNvPr id="117" name="Shape 114"/>
          <p:cNvSpPr/>
          <p:nvPr/>
        </p:nvSpPr>
        <p:spPr>
          <a:xfrm>
            <a:off x="12664440" y="23911560"/>
            <a:ext cx="3840480" cy="2743200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2847320" y="24094440"/>
            <a:ext cx="3474720" cy="142646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88→96%</a:t>
            </a:r>
            <a:endParaRPr lang="en-US" sz="4800" dirty="0"/>
          </a:p>
        </p:txBody>
      </p:sp>
      <p:sp>
        <p:nvSpPr>
          <p:cNvPr id="119" name="Text 116"/>
          <p:cNvSpPr txBox="1"/>
          <p:nvPr/>
        </p:nvSpPr>
        <p:spPr>
          <a:xfrm>
            <a:off x="12893040" y="25447752"/>
            <a:ext cx="3383280" cy="115214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runs (all 11)</a:t>
            </a:r>
            <a:endParaRPr lang="en-US" sz="2100" dirty="0"/>
          </a:p>
        </p:txBody>
      </p:sp>
      <p:sp>
        <p:nvSpPr>
          <p:cNvPr id="120" name="Shape 117"/>
          <p:cNvSpPr/>
          <p:nvPr/>
        </p:nvSpPr>
        <p:spPr>
          <a:xfrm>
            <a:off x="16733520" y="23911560"/>
            <a:ext cx="3840480" cy="2743200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16916400" y="24094440"/>
            <a:ext cx="3474720" cy="142646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44→62%</a:t>
            </a:r>
            <a:endParaRPr lang="en-US" sz="4800" dirty="0"/>
          </a:p>
        </p:txBody>
      </p:sp>
      <p:sp>
        <p:nvSpPr>
          <p:cNvPr id="122" name="Text 119"/>
          <p:cNvSpPr txBox="1"/>
          <p:nvPr/>
        </p:nvSpPr>
        <p:spPr>
          <a:xfrm>
            <a:off x="16962120" y="25447752"/>
            <a:ext cx="3383280" cy="115214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runs (all 11)</a:t>
            </a:r>
            <a:endParaRPr lang="en-US" sz="2100" dirty="0"/>
          </a:p>
        </p:txBody>
      </p:sp>
      <p:sp>
        <p:nvSpPr>
          <p:cNvPr id="123" name="Shape 120"/>
          <p:cNvSpPr/>
          <p:nvPr/>
        </p:nvSpPr>
        <p:spPr>
          <a:xfrm>
            <a:off x="8595360" y="26883360"/>
            <a:ext cx="11978640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25400">
            <a:solidFill>
              <a:srgbClr val="C9C8C2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8778240" y="26974800"/>
            <a:ext cx="116128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gains: af-2 2% → 68%, af-4 20% → 58% Good runs. </a:t>
            </a:r>
            <a:pPr indent="0" marL="0">
              <a:buNone/>
            </a:pPr>
            <a:r>
              <a:rPr lang="en-US" sz="2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af-6-f unsolved by both; easy instances a bit slower.</a:t>
            </a:r>
            <a:endParaRPr lang="en-US" sz="2100" dirty="0"/>
          </a:p>
        </p:txBody>
      </p:sp>
      <p:sp>
        <p:nvSpPr>
          <p:cNvPr id="125" name="Shape 122"/>
          <p:cNvSpPr/>
          <p:nvPr/>
        </p:nvSpPr>
        <p:spPr>
          <a:xfrm>
            <a:off x="822960" y="29215080"/>
            <a:ext cx="19751040" cy="36576"/>
          </a:xfrm>
          <a:prstGeom prst="rect">
            <a:avLst/>
          </a:prstGeom>
          <a:solidFill>
            <a:srgbClr val="C9C8C2"/>
          </a:solidFill>
          <a:ln w="12700">
            <a:solidFill>
              <a:srgbClr val="C9C8C2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822960" y="28392120"/>
            <a:ext cx="1975104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</a:t>
            </a:r>
            <a:pPr indent="0" marL="0">
              <a:buNone/>
            </a:pPr>
            <a:r>
              <a:rPr lang="en-US" sz="2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simple LPs to start smart and to learn from the best answer makes SLP find good feed recipes about 5× more often on hard problems.</a:t>
            </a:r>
            <a:endParaRPr lang="en-US" sz="2400" dirty="0"/>
          </a:p>
        </p:txBody>
      </p:sp>
      <p:sp>
        <p:nvSpPr>
          <p:cNvPr id="127" name="Text 124"/>
          <p:cNvSpPr txBox="1"/>
          <p:nvPr/>
        </p:nvSpPr>
        <p:spPr>
          <a:xfrm>
            <a:off x="822960" y="29306520"/>
            <a:ext cx="197510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Grothey, K. McKinnon, On the effectiveness of sequential linear programming for the pooling problem, Ann. Oper. Res. 322 (2023) 691–711.  [2] Group OPT-09, IA-1 report (2026).  Code + Colab demo: github.com/razzantambe/OPT-09-IA2-Pooling-SLP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2026-10-16T14:32:59Z</dcterms:created>
  <dcterms:modified xsi:type="dcterms:W3CDTF">2026-10-16T14:32:59Z</dcterms:modified>
</cp:coreProperties>
</file>