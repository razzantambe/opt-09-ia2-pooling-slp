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721a89a-39cd-82ca-0107-246c82a07741}">
          <p14:sldIdLst>
            <p14:sldId id="256"/>
            <p14:sldId id="257"/>
          </p14:sldIdLst>
        </p14:section>
        <p14:section name="Baseline &amp; gap" id="{abe59c4a-42b7-c0de-eedf-be39fe336491}">
          <p14:sldIdLst>
            <p14:sldId id="258"/>
            <p14:sldId id="259"/>
          </p14:sldIdLst>
        </p14:section>
        <p14:section name="Proposed method" id="{186d7f26-7621-b211-ce37-fa959848fe72}">
          <p14:sldIdLst>
            <p14:sldId id="260"/>
            <p14:sldId id="261"/>
          </p14:sldIdLst>
        </p14:section>
        <p14:section name="Experiments" id="{f82bac10-5c7b-c3bc-59b8-c3b65fde9362}">
          <p14:sldIdLst>
            <p14:sldId id="262"/>
            <p14:sldId id="263"/>
          </p14:sldIdLst>
        </p14:section>
        <p14:section name="Results" id="{952c5bcc-b6c9-f05e-9aad-6eda493e3ca1}">
          <p14:sldIdLst>
            <p14:sldId id="264"/>
            <p14:sldId id="265"/>
            <p14:sldId id="266"/>
            <p14:sldId id="267"/>
            <p14:sldId id="268"/>
          </p14:sldIdLst>
        </p14:section>
        <p14:section name="Conclusion" id="{0fdf7884-cbb6-065f-fe91-f91388fee244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%Good (runs within 0.2% of best known)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 SLP-CPLEX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af-1</c:v>
                  </c:pt>
                  <c:pt idx="1">
                    <c:v>af-2</c:v>
                  </c:pt>
                  <c:pt idx="2">
                    <c:v>af-3</c:v>
                  </c:pt>
                  <c:pt idx="3">
                    <c:v>af-4</c:v>
                  </c:pt>
                  <c:pt idx="4">
                    <c:v>af-5</c:v>
                  </c:pt>
                  <c:pt idx="5">
                    <c:v>af-5-fs</c:v>
                  </c:pt>
                  <c:pt idx="6">
                    <c:v>af-6-f</c:v>
                  </c:pt>
                  <c:pt idx="7">
                    <c:v>af-6-fs</c:v>
                  </c:pt>
                  <c:pt idx="8">
                    <c:v>af-7</c:v>
                  </c:pt>
                  <c:pt idx="9">
                    <c:v>af-7b</c:v>
                  </c:pt>
                  <c:pt idx="10">
                    <c:v>af-7b-fs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79</c:v>
                </c:pt>
                <c:pt idx="1">
                  <c:v>19.4</c:v>
                </c:pt>
                <c:pt idx="2">
                  <c:v>20</c:v>
                </c:pt>
                <c:pt idx="3">
                  <c:v>19.8</c:v>
                </c:pt>
                <c:pt idx="4">
                  <c:v>100</c:v>
                </c:pt>
                <c:pt idx="5">
                  <c:v>99.6</c:v>
                </c:pt>
                <c:pt idx="6">
                  <c:v>4</c:v>
                </c:pt>
                <c:pt idx="7">
                  <c:v>5.2</c:v>
                </c:pt>
                <c:pt idx="8">
                  <c:v>20.4</c:v>
                </c:pt>
                <c:pt idx="9">
                  <c:v>71.8</c:v>
                </c:pt>
                <c:pt idx="10">
                  <c:v>52.6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IA-1 (baseline)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af-1</c:v>
                  </c:pt>
                  <c:pt idx="1">
                    <c:v>af-2</c:v>
                  </c:pt>
                  <c:pt idx="2">
                    <c:v>af-3</c:v>
                  </c:pt>
                  <c:pt idx="3">
                    <c:v>af-4</c:v>
                  </c:pt>
                  <c:pt idx="4">
                    <c:v>af-5</c:v>
                  </c:pt>
                  <c:pt idx="5">
                    <c:v>af-5-fs</c:v>
                  </c:pt>
                  <c:pt idx="6">
                    <c:v>af-6-f</c:v>
                  </c:pt>
                  <c:pt idx="7">
                    <c:v>af-6-fs</c:v>
                  </c:pt>
                  <c:pt idx="8">
                    <c:v>af-7</c:v>
                  </c:pt>
                  <c:pt idx="9">
                    <c:v>af-7b</c:v>
                  </c:pt>
                  <c:pt idx="10">
                    <c:v>af-7b-fs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1.6666666666666667</c:v>
                </c:pt>
                <c:pt idx="2">
                  <c:v>1.6666666666666667</c:v>
                </c:pt>
                <c:pt idx="3">
                  <c:v>20</c:v>
                </c:pt>
                <c:pt idx="4">
                  <c:v>98.33333333333333</c:v>
                </c:pt>
                <c:pt idx="5">
                  <c:v>80</c:v>
                </c:pt>
                <c:pt idx="6">
                  <c:v>1.6666666666666667</c:v>
                </c:pt>
                <c:pt idx="7">
                  <c:v>3.3333333333333335</c:v>
                </c:pt>
                <c:pt idx="8">
                  <c:v>10</c:v>
                </c:pt>
                <c:pt idx="9">
                  <c:v>68.33333333333333</c:v>
                </c:pt>
                <c:pt idx="10">
                  <c:v>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IA-2 (proposed RG-ILS-SLP)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af-1</c:v>
                  </c:pt>
                  <c:pt idx="1">
                    <c:v>af-2</c:v>
                  </c:pt>
                  <c:pt idx="2">
                    <c:v>af-3</c:v>
                  </c:pt>
                  <c:pt idx="3">
                    <c:v>af-4</c:v>
                  </c:pt>
                  <c:pt idx="4">
                    <c:v>af-5</c:v>
                  </c:pt>
                  <c:pt idx="5">
                    <c:v>af-5-fs</c:v>
                  </c:pt>
                  <c:pt idx="6">
                    <c:v>af-6-f</c:v>
                  </c:pt>
                  <c:pt idx="7">
                    <c:v>af-6-fs</c:v>
                  </c:pt>
                  <c:pt idx="8">
                    <c:v>af-7</c:v>
                  </c:pt>
                  <c:pt idx="9">
                    <c:v>af-7b</c:v>
                  </c:pt>
                  <c:pt idx="10">
                    <c:v>af-7b-fs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68.33333333333333</c:v>
                </c:pt>
                <c:pt idx="2">
                  <c:v>31.666666666666664</c:v>
                </c:pt>
                <c:pt idx="3">
                  <c:v>58.333333333333336</c:v>
                </c:pt>
                <c:pt idx="4">
                  <c:v>98.33333333333333</c:v>
                </c:pt>
                <c:pt idx="5">
                  <c:v>98.33333333333333</c:v>
                </c:pt>
                <c:pt idx="6">
                  <c:v>0</c:v>
                </c:pt>
                <c:pt idx="7">
                  <c:v>26.666666666666668</c:v>
                </c:pt>
                <c:pt idx="8">
                  <c:v>18.333333333333332</c:v>
                </c:pt>
                <c:pt idx="9">
                  <c:v>81.66666666666667</c:v>
                </c:pt>
                <c:pt idx="10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5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topic. In IA-1 we re-implemented Grothey &amp; McKinnon (2023); IA-2 extends that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pooling structure; bilinear terms come from mixing bins shared by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baseline paper and its headline result; point out the weakness on hard instances.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precisely with the paper's own numbers and our IA-1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loop; emphasise that the qq model and the SLP are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Mathematical changes: one convex relaxation and two exact linear restrictions of the bilinear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code base for baseline and proposed, so the comparison isolates our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what IA-2 changes relative to IA-1, and what it achieves. Same instances, seeds and machine for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seeds x 20 runs. Equal on easy instances, large gains on af-2, af-3, af-4, af-6-fs; af-7 improves but stays just below the paper; af-6-f is not solved by either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and time-to-quality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Good runs is significant on af-2, af-3, af-4, af-5-fs, af-6-fs; lower gaps on 9 of 11 instances.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Convergence curves: the incumbent improves quickly once the search is guided.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ablation: each component's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comparison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</a:rPr>
              <a:t>IA-2 | Introduction to Optimization Techniques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Recipe-Guided Iterated Local Search around SLP for the Fixed-Demand Pooling Problem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IA-2 · Introduction to Optimization Techniques · extending our IA-1 filter-SLP 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Group OPT-09  ·  Razzan Tambe (15)  ·  Saurabh Tripathi (04)  ·  Vivek Sharma (12)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Dept. of IT, K. J. Somaiya College of Engineering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bins make feed blending nonconvex</a:t>
            </a:r>
            <a:endParaRPr lang="en-US" sz="3200" dirty="0"/>
          </a:p>
        </p:txBody>
      </p:sp>
      <p:sp>
        <p:nvSpPr>
          <p:cNvPr id="3" name="raw materials0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4" name="raw materials1"/>
          <p:cNvSpPr/>
          <p:nvPr/>
        </p:nvSpPr>
        <p:spPr>
          <a:xfrm>
            <a:off x="822960" y="2167128"/>
            <a:ext cx="384048" cy="384048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5" name="raw materials2"/>
          <p:cNvSpPr/>
          <p:nvPr/>
        </p:nvSpPr>
        <p:spPr>
          <a:xfrm>
            <a:off x="822960" y="2734056"/>
            <a:ext cx="384048" cy="384048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6" name="raw materials3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7" name="raw materials4"/>
          <p:cNvSpPr/>
          <p:nvPr/>
        </p:nvSpPr>
        <p:spPr>
          <a:xfrm>
            <a:off x="822960" y="3867912"/>
            <a:ext cx="384048" cy="384048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8" name="raw materials5"/>
          <p:cNvSpPr/>
          <p:nvPr/>
        </p:nvSpPr>
        <p:spPr>
          <a:xfrm>
            <a:off x="822960" y="4434840"/>
            <a:ext cx="384048" cy="384048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9" name="raw materials6"/>
          <p:cNvSpPr/>
          <p:nvPr/>
        </p:nvSpPr>
        <p:spPr>
          <a:xfrm>
            <a:off x="822960" y="5001768"/>
            <a:ext cx="384048" cy="384048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5568696"/>
            <a:ext cx="1188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endParaRPr lang="en-US" sz="1200" dirty="0"/>
          </a:p>
        </p:txBody>
      </p:sp>
      <p:sp>
        <p:nvSpPr>
          <p:cNvPr id="11" name="bins (λ)0"/>
          <p:cNvSpPr/>
          <p:nvPr/>
        </p:nvSpPr>
        <p:spPr>
          <a:xfrm>
            <a:off x="2743200" y="2167128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bins (λ)1"/>
          <p:cNvSpPr/>
          <p:nvPr/>
        </p:nvSpPr>
        <p:spPr>
          <a:xfrm>
            <a:off x="2743200" y="2734056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bins (λ)2"/>
          <p:cNvSpPr/>
          <p:nvPr/>
        </p:nvSpPr>
        <p:spPr>
          <a:xfrm>
            <a:off x="2743200" y="3300984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bins (λ)3"/>
          <p:cNvSpPr/>
          <p:nvPr/>
        </p:nvSpPr>
        <p:spPr>
          <a:xfrm>
            <a:off x="2743200" y="3867912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31720" y="4434840"/>
            <a:ext cx="1188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(λ)</a:t>
            </a:r>
            <a:endParaRPr lang="en-US" sz="1200" dirty="0"/>
          </a:p>
        </p:txBody>
      </p:sp>
      <p:sp>
        <p:nvSpPr>
          <p:cNvPr id="16" name="products (μ)0"/>
          <p:cNvSpPr/>
          <p:nvPr/>
        </p:nvSpPr>
        <p:spPr>
          <a:xfrm>
            <a:off x="4663440" y="160020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7" name="products (μ)1"/>
          <p:cNvSpPr/>
          <p:nvPr/>
        </p:nvSpPr>
        <p:spPr>
          <a:xfrm>
            <a:off x="4663440" y="216712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8" name="products (μ)2"/>
          <p:cNvSpPr/>
          <p:nvPr/>
        </p:nvSpPr>
        <p:spPr>
          <a:xfrm>
            <a:off x="4663440" y="2734056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9" name="products (μ)3"/>
          <p:cNvSpPr/>
          <p:nvPr/>
        </p:nvSpPr>
        <p:spPr>
          <a:xfrm>
            <a:off x="4663440" y="3300984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0" name="products (μ)4"/>
          <p:cNvSpPr/>
          <p:nvPr/>
        </p:nvSpPr>
        <p:spPr>
          <a:xfrm>
            <a:off x="4663440" y="3867912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products (μ)5"/>
          <p:cNvSpPr/>
          <p:nvPr/>
        </p:nvSpPr>
        <p:spPr>
          <a:xfrm>
            <a:off x="4663440" y="443484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2" name="products (μ)6"/>
          <p:cNvSpPr/>
          <p:nvPr/>
        </p:nvSpPr>
        <p:spPr>
          <a:xfrm>
            <a:off x="4663440" y="500176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5568696"/>
            <a:ext cx="1188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(μ)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07008" y="1792224"/>
            <a:ext cx="1536192" cy="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1792224"/>
            <a:ext cx="1536192" cy="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7008" y="2359152"/>
            <a:ext cx="1536192" cy="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" y="2359152"/>
            <a:ext cx="1536192" cy="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7008" y="2926080"/>
            <a:ext cx="1536192" cy="-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7008" y="2926080"/>
            <a:ext cx="1536192" cy="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7008" y="3493008"/>
            <a:ext cx="1536192" cy="-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7008" y="3493008"/>
            <a:ext cx="1536192" cy="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07008" y="4059936"/>
            <a:ext cx="1536192" cy="-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07008" y="4059936"/>
            <a:ext cx="1536192" cy="-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07008" y="4626864"/>
            <a:ext cx="1536192" cy="-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7008" y="4626864"/>
            <a:ext cx="1536192" cy="-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07008" y="5193792"/>
            <a:ext cx="1536192" cy="-2834640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07008" y="5193792"/>
            <a:ext cx="1536192" cy="-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27248" y="2359152"/>
            <a:ext cx="1536192" cy="0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27248" y="2359152"/>
            <a:ext cx="1536192" cy="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27248" y="2359152"/>
            <a:ext cx="1536192" cy="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27248" y="2359152"/>
            <a:ext cx="1536192" cy="2267712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27248" y="2926080"/>
            <a:ext cx="1536192" cy="-1133856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27248" y="2926080"/>
            <a:ext cx="1536192" cy="-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27248" y="2926080"/>
            <a:ext cx="1536192" cy="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27248" y="2926080"/>
            <a:ext cx="1536192" cy="1133856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27248" y="2926080"/>
            <a:ext cx="1536192" cy="2267712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27248" y="3493008"/>
            <a:ext cx="1536192" cy="-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27248" y="3493008"/>
            <a:ext cx="1536192" cy="-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27248" y="3493008"/>
            <a:ext cx="1536192" cy="0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27248" y="3493008"/>
            <a:ext cx="1536192" cy="1133856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27248" y="3493008"/>
            <a:ext cx="1536192" cy="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27248" y="4059936"/>
            <a:ext cx="1536192" cy="-1700784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27248" y="4059936"/>
            <a:ext cx="1536192" cy="-1133856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27248" y="4059936"/>
            <a:ext cx="1536192" cy="0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27248" y="4059936"/>
            <a:ext cx="1536192" cy="566928"/>
          </a:xfrm>
          <a:prstGeom prst="line">
            <a:avLst/>
          </a:prstGeom>
          <a:noFill/>
          <a:ln w="9525">
            <a:solidFill>
              <a:srgbClr val="C9C8C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07008" y="1792224"/>
            <a:ext cx="3456432" cy="0"/>
          </a:xfrm>
          <a:prstGeom prst="line">
            <a:avLst/>
          </a:prstGeom>
          <a:noFill/>
          <a:ln w="19050">
            <a:solidFill>
              <a:srgbClr val="EB6834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18288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(direct, extra cost)</a:t>
            </a:r>
            <a:endParaRPr lang="en-US" sz="1100" dirty="0"/>
          </a:p>
        </p:txBody>
      </p:sp>
      <p:sp>
        <p:nvSpPr>
          <p:cNvPr id="58" name="card"/>
          <p:cNvSpPr/>
          <p:nvPr/>
        </p:nvSpPr>
        <p:spPr>
          <a:xfrm>
            <a:off x="6035040" y="137160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09360" y="1600200"/>
            <a:ext cx="512064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demands t_p must meet N nutrient specs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compositions λ are decisions, shared by many products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= Σ μ_pm · v_mn  →  bilinear, nonconvex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local optima even with fixed demands (96 in a 2-nutrient toy example)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Mills re-solve many times a day → need near-optimal recipes in seconds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the paper's method, as implemented in our IA-1 code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760720" cy="4663440"/>
          </a:xfrm>
          <a:prstGeom prst="roundRect">
            <a:avLst>
              <a:gd name="adj" fmla="val 235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53949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qq-formulation (Grothey &amp; McKinnon, 2023)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539496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Σ_p t_p c^D_p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v_mn = Σ_i λ_mi r_in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d_pn = Σ_i μ_pi r_in + Σ_m μ_pm v_mn      (bilinear)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c^D_p = Σ_i μ_pi c_i + Σ_m μ_pm c^M_m        (bilinear)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λ = 1,  Σ μ = 1,  d̲ ≤ d ≤ d̄,  bounds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434840"/>
            <a:ext cx="53949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SLP: linearise, solve LP in an ∞-norm trust region, accept with a filter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multistart: every run independent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IA-1: qq_model.py + slp.py (Python, HiGHS); af-1 best known 296.44604 reproduced</a:t>
            </a:r>
            <a:endParaRPr lang="en-US" sz="1400" dirty="0"/>
          </a:p>
        </p:txBody>
      </p:sp>
      <p:sp>
        <p:nvSpPr>
          <p:cNvPr id="7" name="stat faster to a good solution than FilterSQP"/>
          <p:cNvSpPr/>
          <p:nvPr/>
        </p:nvSpPr>
        <p:spPr>
          <a:xfrm>
            <a:off x="6675120" y="137160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863×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a good solution than FilterSQP</a:t>
            </a:r>
            <a:endParaRPr lang="en-US" sz="1300" dirty="0"/>
          </a:p>
        </p:txBody>
      </p:sp>
      <p:sp>
        <p:nvSpPr>
          <p:cNvPr id="10" name="stat faster than the global solver Baron"/>
          <p:cNvSpPr/>
          <p:nvPr/>
        </p:nvSpPr>
        <p:spPr>
          <a:xfrm>
            <a:off x="9235440" y="137160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the global solver Baron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675120" y="3200400"/>
            <a:ext cx="49377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3291840"/>
            <a:ext cx="457200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 the hard instances only</a:t>
            </a:r>
            <a:endParaRPr lang="en-US" sz="16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4–20%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random starts end within 0.2% of the best known cost (af-2, af-3, af-4, af-6, af-6-fs, af-7)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gap: random restarts waste most of the run time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280160"/>
                <a:gridCol w="1143000"/>
                <a:gridCol w="1143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Instance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Paper %Good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Paper ETiGood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IA-1 code %Feas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IA-1 code %Good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af-2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19.4%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6.7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95%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0%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af-3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20%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6.5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100%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0%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af-4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19.8%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8.6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60%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25%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af-6-f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4%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112.5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65%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5%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af-6-fs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5.2%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125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90%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0%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af-7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20.4%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22.5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75%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5%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6949440" y="1463040"/>
            <a:ext cx="4663440" cy="4480560"/>
          </a:xfrm>
          <a:prstGeom prst="roundRect">
            <a:avLst>
              <a:gd name="adj" fmla="val 244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78040" y="1600200"/>
            <a:ext cx="42976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land in poor basins; nothing is learned from earlier runs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runs stall in feasibility restoration (af-4, af-7)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unused: fix the bins, or the bin shares, and the problem is an LP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found via: limitation stated by the authors + IA-1 implementation experience + IA-1 results vs the paper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603504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IA-1 code = our IA-1 notebook, 20 runs, seed 12345 (the IA-1 report validated af-1 only: 20/20 Good; af-2, af-6-f, af-7b-fs re-run with the same code and seed). af-6-f = the paper's af-6. ETiGood = 100·Ti / %Good.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RG-ILS-SLP: same IA-1 model and solver, smarter search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LP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product's ideal recipe + lower bound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15184" y="2788920"/>
            <a:ext cx="173736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2798064" y="14630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6459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8094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clustering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35224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k-means on recipes → initial bins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64608" y="2788920"/>
            <a:ext cx="173736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5047488" y="14630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0368" y="16459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3036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870448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84648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repair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184648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LP / bin LP until the start is feasible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14032" y="2788920"/>
            <a:ext cx="173736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7296912" y="14630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9792" y="1645920"/>
            <a:ext cx="548640" cy="548640"/>
          </a:xfrm>
          <a:prstGeom prst="ellipse">
            <a:avLst/>
          </a:prstGeom>
          <a:solidFill>
            <a:srgbClr val="8A8984"/>
          </a:solidFill>
          <a:ln w="12700">
            <a:solidFill>
              <a:srgbClr val="8A89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979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34072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Filter-SLP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34072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IA-1 slp.py, unchanged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363456" y="2788920"/>
            <a:ext cx="173736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31" name="card"/>
          <p:cNvSpPr/>
          <p:nvPr/>
        </p:nvSpPr>
        <p:spPr>
          <a:xfrm>
            <a:off x="9546336" y="14630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29216" y="16459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921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369296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683496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polish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683496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feasible, never worse</a:t>
            </a:r>
            <a:endParaRPr lang="en-US" sz="1500" dirty="0"/>
          </a:p>
        </p:txBody>
      </p:sp>
      <p:sp>
        <p:nvSpPr>
          <p:cNvPr id="37" name="card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508760" y="4572000"/>
            <a:ext cx="99212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Regret-guided iterated local search (new). </a:t>
            </a:r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best solution so far, build 4 candidates: re-seed a bin with the ideal recipe of a product that pays a lot for bin sharing (regret), LP-repair, probe with a 10-iteration SLP; continue the full SLP from the best probe. Runs 1–3 and any run after 6 failures use a fresh recipe start. One pass = one run; 20 runs.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exact LPs exploit the bilinear structure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relaxation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1546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c*_p = min Σ c_i w_pi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s.t. specs on Σ w_pi r_in, Σ w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= Σ t_p c*_p ≤ f*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31546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af-1: LB 295.932 = Baron's 2-hour bound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315968" y="13716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481328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LP (bins fixed)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011680"/>
            <a:ext cx="31546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fixed ⇒ v, c^M constants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(5c), (5g) become linear in 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optimal recipes, exact feasibility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3703320"/>
            <a:ext cx="31546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repair starts and polish SLP end points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8083296" y="13716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1481328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LP (bin shares fixed)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011680"/>
            <a:ext cx="31546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μ_pm fixed ⇒ d linear in (λ, μ^S)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with product LP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cost never increases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3703320"/>
            <a:ext cx="31546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recursion / ALT idea (Haverly; Audet et al.)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892040"/>
            <a:ext cx="106984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regret  </a:t>
            </a:r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regret_p = t_p · max(0, c^D_p − c*_p).  Pick product p ∝ regret and a bin m, set λ_m ← Proj((1−α) q_p + α λ_m), α ~ U(0, 0.5); 4 such candidates are ranked by a 10-iteration SLP probe.  The model (5a)–(5h) itself is unchanged.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Item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Details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Instances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all 11: af-1, af-2, af-3, af-4, af-5, af-5-fs, af-6-f (= paper's af-6), af-6-fs, af-7, af-7b, af-7b-fs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Code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IA-1 qq_model.py + slp.py unchanged; new rg_ils.py; run_experiments.py --method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Software / HW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Python 3.13, NumPy, SciPy 1.18 (HiGHS LP); 2-vCPU cloud container, 1 thread per run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Runs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3 seeds (12345 = IA-1 seed, 2024, 7) × 20 runs per instance and method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IA-1 vs IA-2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IA-1 = baseline (our IA-1 code, unchanged; seed 12345 reproduces the IA-1 notebook); IA-2 = proposed RG-ILS-SLP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Metrics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%Feas, %Good (≤ 0.2% of best known), Ti, It, ETiGood, gaps; Fisher and Mann–Whitney tests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Also compared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published SLP-CPLEX (500 runs); 2 ablations (seed 12345)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IA-1 vs IA-2 at a glance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IA-1 (baseline)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IA-2 (proposed)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Model + SLP solver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qq_model.py + slp.py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same files, unchanged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Starting points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uniform random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recipe clustering (diet LP) + LP repair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Restarts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independent random multistart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regret-guided ILS, 4 SLP-probed moves, fresh starts after 6 failures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SLP end point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returned as is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LP polish (product LP, bin LP)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Lower bound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diet LP (af-1 = Baron's bound)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Mean %Feas (11 inst.)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87.9%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96.1%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Mean %Good (11 inst.)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43.6%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62.0%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%Good, 6 hard inst. (paper 14.8%)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6.4%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33.9%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ETiGood, hard inst.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1.0×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5.0× shorter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IA-2 vs IA-1: many more runs reach a Good solution on the hard instances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af-2 (paper 19.4%, IA-1 1.7%)"/>
          <p:cNvSpPr/>
          <p:nvPr/>
        </p:nvSpPr>
        <p:spPr>
          <a:xfrm>
            <a:off x="8595360" y="137160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af-2 (paper 19.4%, IA-1 1.7%)</a:t>
            </a:r>
            <a:endParaRPr lang="en-US" sz="1300" dirty="0"/>
          </a:p>
        </p:txBody>
      </p:sp>
      <p:sp>
        <p:nvSpPr>
          <p:cNvPr id="7" name="stat af-4 (paper 19.8%, IA-1 20.0%)"/>
          <p:cNvSpPr/>
          <p:nvPr/>
        </p:nvSpPr>
        <p:spPr>
          <a:xfrm>
            <a:off x="8595360" y="310896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0" y="3246120"/>
            <a:ext cx="26517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af-4 (paper 19.8%, IA-1 20.0%)</a:t>
            </a:r>
            <a:endParaRPr lang="en-US" sz="1300" dirty="0"/>
          </a:p>
        </p:txBody>
      </p:sp>
      <p:sp>
        <p:nvSpPr>
          <p:cNvPr id="10" name="stat af-6-f (paper 4%, IA-1 1.7%) — not solved"/>
          <p:cNvSpPr/>
          <p:nvPr/>
        </p:nvSpPr>
        <p:spPr>
          <a:xfrm>
            <a:off x="8595360" y="484632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0" y="4983480"/>
            <a:ext cx="26517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5806440"/>
            <a:ext cx="26517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af-6-f (paper 4%, IA-1 1.7%) — not solved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IA-2 vs IA-1: more feasible runs, faster to a good solution</a:t>
            </a:r>
            <a:endParaRPr lang="en-US" sz="3200" dirty="0"/>
          </a:p>
        </p:txBody>
      </p:sp>
      <p:sp>
        <p:nvSpPr>
          <p:cNvPr id="3" name="stat mean %Feas, IA-1 → IA-2"/>
          <p:cNvSpPr/>
          <p:nvPr/>
        </p:nvSpPr>
        <p:spPr>
          <a:xfrm>
            <a:off x="54864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 → 96%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%Feas, IA-1 → IA-2</a:t>
            </a:r>
            <a:endParaRPr lang="en-US" sz="1300" dirty="0"/>
          </a:p>
        </p:txBody>
      </p:sp>
      <p:sp>
        <p:nvSpPr>
          <p:cNvPr id="6" name="stat mean %Good, IA-1 → IA-2"/>
          <p:cNvSpPr/>
          <p:nvPr/>
        </p:nvSpPr>
        <p:spPr>
          <a:xfrm>
            <a:off x="434340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 → 62%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%Good, IA-1 → IA-2</a:t>
            </a:r>
            <a:endParaRPr lang="en-US" sz="1300" dirty="0"/>
          </a:p>
        </p:txBody>
      </p:sp>
      <p:sp>
        <p:nvSpPr>
          <p:cNvPr id="9" name="stat shorter ETiGood on the hard instances (geo-mean, af-6-f excluded)"/>
          <p:cNvSpPr/>
          <p:nvPr/>
        </p:nvSpPr>
        <p:spPr>
          <a:xfrm>
            <a:off x="813816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5.0×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ETiGood on the hard instances (geo-mean, af-6-f excluded)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Instance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Paper ETiGood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IA-1 ETiGood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IA-2 ETiGood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af-2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6.7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60.1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3.1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af-3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6.5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60.9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7.0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af-4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8.6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16.9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10.7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af-6-f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112.5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369.6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no Good run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af-6-fs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125.0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368.3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50.9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af-7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22.5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72.6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</a:rPr>
                        <a:t>43.4 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7863840" y="3291840"/>
            <a:ext cx="37490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times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IA-2 run costs more (repair, 4 probes, polish) but far fewer runs are wasted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instances (af-1, af-5, af-5-fs, af-7b-fs): overhead, ETiGood up to ~2× worse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times: CPLEX in C, 500 runs; ours: HiGHS from Python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gains are statistically significant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554480"/>
                <a:gridCol w="2286000"/>
                <a:gridCol w="155448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Instance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Good: IA-1 → IA-2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p (Fisher)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Feasible: IA-1 → IA-2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p (Fisher)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p (Mann–Whitney, gaps)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60/60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1.0000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60/60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1.0000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0.0634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1/60 → 41/60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59/60 → 58/60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0.8782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1/60 → 19/60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58/60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0.2479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12/60 → 35/60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41/60 → 52/60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0.0138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af-5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59/60 → 59/60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0.7521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59/60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0.5000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0.0004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af-5-fs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48/60 → 59/60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0.0010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48/60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0.0002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af-6-f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1/60 → 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1.0000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44/60 → 44/60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0.5817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0.7554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af-6-fs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2/60 → 16/60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0.0003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54/60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0.0137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af-7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6/60 → 11/60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0.1475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42/60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&lt; 0.0001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0.0020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af-7b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41/60 → 49/60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0.0696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57/60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0.1218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0.0023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af-7b-fs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57/60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0.1218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58/60 → 60/60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0.2479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0.0003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tests, IA-2 better than IA-1, 60 vs 60 runs per instance (3 seeds × 20). Shaded: p &lt; 0.05. ILS runs within a seed are dependent, so the per-seed results in the paper (Table A1) are the conservative check.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guided search keeps the incumbent below the 0.2% line (except af-6-f)</a:t>
            </a:r>
            <a:endParaRPr lang="en-US" sz="3200" dirty="0"/>
          </a:p>
        </p:txBody>
      </p:sp>
      <p:pic>
        <p:nvPicPr>
          <p:cNvPr id="3" name="Image 0" descr="Best gap vs cumulative time on the six hard insta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428246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gap to the best-known cost vs cumulative time (log scale), one line per seed; blue = IA-2, orange = IA-1; dashed = Good threshold.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9052560" y="128016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89720" y="1417320"/>
            <a:ext cx="228600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 best found: af-2 = best known (IA-1 +0.20%), af-3 +0.008% (IA-1 +0.048%), af-6-fs +0.04% (IA-1 +0.14%). On af-4 (+0.19%) and af-6-f (+0.50%) an IA-1 run was better: more reliable, not always better in the single best run.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the components complement each other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37160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Instance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IA-1 (baseline)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A: random + polish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B: recipe start, no ILS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IA-2 (full)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90%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95% / 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20%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95% / 65%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95% / 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15%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60% / 25%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70% / 25%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25%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80% / 60%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af-5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af-5-fs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90% / 90%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95%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af-6-f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65% / 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70% / 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60% / 15%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80% / 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af-6-fs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90% / 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20%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af-7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75% / 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85% / 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95% / 20%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20%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af-7b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95% / 70%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75%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90%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85%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af-7b-fs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95%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100% / 95%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100% / 100%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5806440"/>
            <a:ext cx="3749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show %Feas / %Good over 20 runs, seed 12345.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7863840" y="1371600"/>
            <a:ext cx="3749040" cy="4343400"/>
          </a:xfrm>
          <a:prstGeom prst="roundRect">
            <a:avLst>
              <a:gd name="adj" fmla="val 292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508760"/>
            <a:ext cx="338328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alone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fixes feasibility (af-4 60→70%, af-6-fs 90→100%).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starts alone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best on af-6-f, af-6-fs and af-7b, but weak on af-2, af-3 and af-4.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probed ILS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big gains on af-2 (65%), af-3 (15%) and af-4 (60%), but over-refines on af-6-f (0%).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(fresh starts) + depth (ILS) together.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and limitations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15468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%Good up on 5 of 6 hard instances (af-7 seed 2024: tie)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IA-2 runs feasible (IA-1 88%)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Significant: Fisher p &lt; 0.01 on 5 instances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IA-1 model and SLP unchanged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15968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98848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2057400"/>
            <a:ext cx="315468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LPs and probes cost time per run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instances get slower (ETiGood up to ~2×)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runs within a seed are dependent → 3 seeds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083296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66176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66176" y="2057400"/>
            <a:ext cx="315468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af-6-f not solved (IA-2 0% vs paper 4.0%, IA-1 1.7%)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af-7: 18.3% vs paper 20.4%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af-4 single best run: IA-1 found the best known value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3×20 runs vs 500 in the paper; other hardware/LP solver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bound tight only on af-1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Structure-aware restarts make our IA-1 SLP reliable on hard pooling instances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Mean %Feas 87.9% → 96.1%, %Good 43.6% → 62.0%; hard instances 6.4% → 33.9% (paper 14.8%), ETiGood 5.0× shorter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Future: more seeds / full benchmark, adaptive choice of moves, parallel probes, stronger bounds, capacity limits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Grothey, K. McKinnon, Annals of Operations Research 322 (2023) 691–711.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M. Terzi et al., Computers &amp; Operations Research 163 (2024) 106507.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S. Sass et al., European Journal of Operational Research 316 (2024) 36–45.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P. E. Gill, M. Zhang, Computational Optimization and Applications 88 (2024) 37–70.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M. Muehlebach, M. I. Jordan, Mathematical Programming 215 (2026) 407–452.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D. di Serafino et al., Mathematical Programming 205 (2024) 107–134.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C. Audet et al., Management Science 50 (2004) 761–776.   [8] C. A. Haverly, ACM SIGMAP Bulletin 25 (1978).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A. Grothey, K. McKinnon, Pooling problem test data (2020).   [10] R. Fletcher, S. Leyffer, Math. Programming 91 (2002).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H. R. Lourenço et al., Iterated local search, Handbook of Metaheuristics (2019).   [12] D. Arthur, S. Vassilvitskii, k-means++, SODA (2007).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Group OPT-09, IA-1 report: SLP for nonlinear pooling optimization problems (2026).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ed Mill Optimisation">
  <a:themeElements>
    <a:clrScheme name="Feed Mill Optimisation">
      <a:dk1>
        <a:srgbClr val="1B2433"/>
      </a:dk1>
      <a:lt1>
        <a:srgbClr val="FFFFFF"/>
      </a:lt1>
      <a:dk2>
        <a:srgbClr val="16324F"/>
      </a:dk2>
      <a:lt2>
        <a:srgbClr val="EEF3F8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52514E"/>
      </a:accent6>
      <a:hlink>
        <a:srgbClr val="2A78D6"/>
      </a:hlink>
      <a:folHlink>
        <a:srgbClr val="6250D6"/>
      </a:folHlink>
    </a:clrScheme>
    <a:fontScheme name="Feed Mill Optimis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RG-ILS-SLP for the pooling problem</dc:title>
  <dc:subject>PptxGenJS Presentation</dc:subject>
  <dc:creator>Group OPT-09</dc:creator>
  <cp:lastModifiedBy>Group OPT-09</cp:lastModifiedBy>
  <cp:revision>1</cp:revision>
  <dcterms:created xsi:type="dcterms:W3CDTF">2026-10-16T08:50:18Z</dcterms:created>
  <dcterms:modified xsi:type="dcterms:W3CDTF">2026-10-16T08:50:18Z</dcterms:modified>
</cp:coreProperties>
</file>