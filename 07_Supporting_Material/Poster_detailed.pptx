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87816" cy="448056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411480"/>
            <a:ext cx="19751040" cy="2514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Recipe-Guided Iterated Local Search around SLP for the Fixed-Demand Pooling Problem: Extending our IA-1 Filter-SLP Code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1975104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OPT-09  ·  Razzan Tambe (15)  ·  Saurabh Tripathi (04)  ·  Vivek Sharma (12)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1975104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Optimization Techniques (IA-2)  ·  Dept. of IT, K. J. Somaiya College of Engineering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37760"/>
            <a:ext cx="950976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Problem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06440"/>
            <a:ext cx="9509760" cy="2377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mills blend raw materials through a few shared mixing bins into many products with nutrient specs and fixed demands.</a:t>
            </a:r>
            <a:endParaRPr lang="en-US" sz="2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compositions are decisions, so product quality Σ μ_pm v_mn is bilinear: nonconvex, with very many local optima.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8321040"/>
            <a:ext cx="950976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Baseline &amp; research gap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22960" y="9189720"/>
            <a:ext cx="9509760" cy="4206240"/>
          </a:xfrm>
          <a:prstGeom prst="roundRect">
            <a:avLst>
              <a:gd name="adj" fmla="val 43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9372600"/>
            <a:ext cx="8961120" cy="3840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qq-formulation + trust-region filter SLP + random multistart [1], as re-implemented in our IA-1 code (qq_model.py, slp.py; Python + HiGHS).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[1] only 4–20% of random starts are Good on the hard instances. With our IA-1 code, af-2, af-3 and af-6-fs never reached 0.2% and af-4 had 40% infeasible runs. Runs are independent and the LP structure is unused.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3716000"/>
            <a:ext cx="950976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Proposed: RG-ILS-SLP</a:t>
            </a:r>
            <a:endParaRPr lang="en-US" sz="4000" dirty="0"/>
          </a:p>
        </p:txBody>
      </p:sp>
      <p:pic>
        <p:nvPicPr>
          <p:cNvPr id="12" name="Image 0" descr="fig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538960"/>
            <a:ext cx="6766560" cy="899908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22960" y="23720921"/>
            <a:ext cx="950976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Key formulations (new)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822960" y="24589601"/>
            <a:ext cx="9509760" cy="3931920"/>
          </a:xfrm>
          <a:prstGeom prst="roundRect">
            <a:avLst>
              <a:gd name="adj" fmla="val 465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0" y="24726761"/>
            <a:ext cx="8961120" cy="3749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relaxation  </a:t>
            </a:r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c*_p = min Σ c_i w_pi  s.t. specs, Σ w = 1;  LB = Σ t_p c*_p ≤ f*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LP  </a:t>
            </a:r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bins λ fixed ⇒ (5c),(5g) linear in μ  → exact feasibility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LP  </a:t>
            </a:r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shares μ_pm fixed ⇒ d linear in (λ, μ^S)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 </a:t>
            </a:r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B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regret_p = t_p max(0, c^D_p − c*_p): re-seed a bin with a high-regret product's recipe; best of 4 by 10-iteration SLP probe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1055096" y="4937760"/>
            <a:ext cx="950976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Results (11 instances, 3×20 runs)</a:t>
            </a:r>
            <a:endParaRPr lang="en-US" sz="4000" dirty="0"/>
          </a:p>
        </p:txBody>
      </p:sp>
      <p:sp>
        <p:nvSpPr>
          <p:cNvPr id="17" name="Shape 14"/>
          <p:cNvSpPr/>
          <p:nvPr/>
        </p:nvSpPr>
        <p:spPr>
          <a:xfrm>
            <a:off x="11055096" y="5852160"/>
            <a:ext cx="2971800" cy="22860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192256" y="6035040"/>
            <a:ext cx="269748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11192256" y="7178040"/>
            <a:ext cx="269748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IA-2 %Good, 6 hard inst. (IA-1 6%, paper 15%)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14324076" y="5852160"/>
            <a:ext cx="2971800" cy="22860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4461236" y="6035040"/>
            <a:ext cx="269748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5400" dirty="0"/>
          </a:p>
        </p:txBody>
      </p:sp>
      <p:sp>
        <p:nvSpPr>
          <p:cNvPr id="22" name="Text 19"/>
          <p:cNvSpPr txBox="1"/>
          <p:nvPr/>
        </p:nvSpPr>
        <p:spPr>
          <a:xfrm>
            <a:off x="14461236" y="7178040"/>
            <a:ext cx="269748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IA-2 mean %Feas (IA-1 88%)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17593056" y="5852160"/>
            <a:ext cx="2971800" cy="22860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7730216" y="6035040"/>
            <a:ext cx="269748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5.0×</a:t>
            </a:r>
            <a:endParaRPr lang="en-US" sz="5400" dirty="0"/>
          </a:p>
        </p:txBody>
      </p:sp>
      <p:sp>
        <p:nvSpPr>
          <p:cNvPr id="25" name="Text 22"/>
          <p:cNvSpPr txBox="1"/>
          <p:nvPr/>
        </p:nvSpPr>
        <p:spPr>
          <a:xfrm>
            <a:off x="17730216" y="7178040"/>
            <a:ext cx="269748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IA-2 vs IA-1: shorter time to a Good solution</a:t>
            </a:r>
            <a:endParaRPr lang="en-US" sz="1900" dirty="0"/>
          </a:p>
        </p:txBody>
      </p:sp>
      <p:pic>
        <p:nvPicPr>
          <p:cNvPr id="26" name="Image 1" descr="fig_pct_go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096" y="8412480"/>
            <a:ext cx="9509760" cy="3708806"/>
          </a:xfrm>
          <a:prstGeom prst="rect">
            <a:avLst/>
          </a:prstGeom>
        </p:spPr>
      </p:pic>
      <p:pic>
        <p:nvPicPr>
          <p:cNvPr id="27" name="Image 2" descr="fig_converge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12304166"/>
            <a:ext cx="9509760" cy="5571375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11055096" y="18241301"/>
            <a:ext cx="9509760" cy="3017520"/>
          </a:xfrm>
          <a:prstGeom prst="roundRect">
            <a:avLst>
              <a:gd name="adj" fmla="val 606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1329416" y="18378461"/>
            <a:ext cx="89611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IA-2 %Good: af-2 68% (paper 19.4%), af-4 58% (19.8%), af-3 32% (20%), af-6-fs 27% (5.2%); af-7 18% (20.4%) and af-6-f 0% (4.0%) stay below the paper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IA-2 vs IA-1 significant: Fisher p &lt; 0.01 on 5 instances, Mann–Whitney on 9 of 11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LP bound on af-1 = Baron's bound (295.93), in milliseconds; easy instances ~2× slower</a:t>
            </a:r>
            <a:endParaRPr lang="en-US" sz="2200" dirty="0"/>
          </a:p>
        </p:txBody>
      </p:sp>
      <p:sp>
        <p:nvSpPr>
          <p:cNvPr id="30" name="Text 25"/>
          <p:cNvSpPr txBox="1"/>
          <p:nvPr/>
        </p:nvSpPr>
        <p:spPr>
          <a:xfrm>
            <a:off x="11055096" y="21533141"/>
            <a:ext cx="950976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Conclusion</a:t>
            </a:r>
            <a:endParaRPr lang="en-US" sz="4000" dirty="0"/>
          </a:p>
        </p:txBody>
      </p:sp>
      <p:sp>
        <p:nvSpPr>
          <p:cNvPr id="31" name="Text 26"/>
          <p:cNvSpPr txBox="1"/>
          <p:nvPr/>
        </p:nvSpPr>
        <p:spPr>
          <a:xfrm>
            <a:off x="11055096" y="22401821"/>
            <a:ext cx="9509760" cy="2377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our IA-1 model and SLP solver unchanged but making restarts structure-aware (LP repair, LP polish, regret-guided re-seeding with SLP probes) turns random-multistart SLP into a reliable method on the hard feed-mill instances. Next: more seeds, adaptive moves, parallel probes, stronger bounds.</a:t>
            </a:r>
            <a:endParaRPr lang="en-US" sz="2300" dirty="0"/>
          </a:p>
        </p:txBody>
      </p:sp>
      <p:sp>
        <p:nvSpPr>
          <p:cNvPr id="32" name="Shape 27"/>
          <p:cNvSpPr/>
          <p:nvPr/>
        </p:nvSpPr>
        <p:spPr>
          <a:xfrm>
            <a:off x="822960" y="29032200"/>
            <a:ext cx="19751040" cy="0"/>
          </a:xfrm>
          <a:prstGeom prst="line">
            <a:avLst/>
          </a:prstGeom>
          <a:noFill/>
          <a:ln w="12700">
            <a:solidFill>
              <a:srgbClr val="C9C8C2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22960" y="29123640"/>
            <a:ext cx="1975104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Grothey, K. McKinnon, On the effectiveness of sequential linear programming for the pooling problem, Ann. Oper. Res. 322 (2023) 691–711.   [2] C. Audet et al., Pooling problem: alternate formulations and solution methods, Manag. Sci. 50 (2004).   [3] Group OPT-09, IA-1 report (2026). Data: Grothey &amp; McKinnon (2020). Code: Python + SciPy/HiGHS.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2026-10-16T08:50:20Z</dcterms:created>
  <dcterms:modified xsi:type="dcterms:W3CDTF">2026-10-16T08:50:20Z</dcterms:modified>
</cp:coreProperties>
</file>