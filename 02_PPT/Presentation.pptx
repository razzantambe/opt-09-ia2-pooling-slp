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project is about a problem every feed mill has: mixing ingredients into animal feed at the lowest possible cost. In IA-1 we re-implemented a fast method from a research paper. In IA-2 we made that method more reliable. I will explain four things in simple steps: the problem, the weakness of today’s method, our fix,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feed mill. It buys raw ingredients, and each ingredient has a price and contains certain nutrients. The ingredients are first mixed into a few shared bins, and the bins are then blended into the final products, the different animal feeds. Every product must stay between a minimum and a maximum for each nutrient, and the mill must make a fixed amount of each product. Some ingredients can skip the bins and go straight into a product, but that costs extra. The goal is simple to say: spend as little as possible on ingredients while every product stays inside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hard? A product’s quality depends on how much of each bin goes into it, which is the bin share, multiplied by the quality of that bin. But the bin’s quality depends on the bin recipe, which we also have to decide. So we are multiplying two unknowns, and that makes the problem “nonconvex”. In plain words: it has many “local best” answers. Imagine a hiker in fog who always walks downhill. They stop in the nearest valley, which may not be the deepest one. Even a tiny example with two nutrients has 96 such valleys. And mills solve this many times a day, so they need good answers in seconds, not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best method is called SLP. At the current recipe it replaces the hard, curved part with a straight-line approximation, takes a small safe step, and repeats. It is very fast: the paper shows it is hundreds of times faster than other local solvers, and 20 times faster than the global solver Baron. But SLP only finds the nearest valley. So the standard approach is random restarts: start from many random recipes and keep the best result. We measured this with our IA-1 code. On the six hard instances, only 6.4 percent of random starts reach a good answer. Good means feasible and within 0.2 percent of the best known cost. The paper itself reports 14.8 percent. Two more problems: every restart is independent, so nothing is learned from earlier runs, and on three instances about a quarter to 40 percent of runs end infeasible, which means they break a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idea. The hard part of the problem is deciding the bin recipes. But notice: if somebody tells us the bin recipes, the rest of the problem becomes easy. It turns into a linear program, an LP, which a computer solves exactly and very fast. The same is true if somebody tells us how much of each bin goes into each product. So we use three LPs. The Diet LP ignores bin sharing and lets each product pick its ideal cheapest recipe. That gives us ideal recipes, and also a lower bound: no real solution can cost less than this. The Product LP fixes the bins and finds the best product recipes. The Bin LP fixes the bin shares and finds the best bin recipes. Switching between these last two never makes the cost worse. Important: we did not change the model or the SLP solver from IA-1. We only use these LPs around it. On the first instance, af-1, our bound matches the bound the global solver Baron needed two hours for, and we get it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method on one slide. Step 1: we solve the Diet LP for every product, which gives each product its ideal recipe. Step 2: we group similar ideal recipes using k-means, so products that want similar recipes share a bin. That gives a smart starting point instead of a random one. Step 3: we repair that start with the Product and Bin LPs until it is feasible. Step 4 is the SLP solver from IA-1, completely unchanged. Step 5: we polish its end point with the two LPs, and we only keep the result if it is feasible and cheaper. Step 6 is the learning part, and the next slide explains it. The tags show what is new, what we modified, and what we retained. After 3 fresh starts, later runs build on the best solution so far. If 6 runs in a row give no improvement, we do a fresh smart start again. One pass counts as one run, so the comparison with the baseline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makes the method learn. Regret means: how much extra does a product pay because it has to share bins, compared with the ideal recipe it would get on its own. A product with high regret is being served badly by the current bins. So we take the best solution found so far, pick a high-regret product, pick a bin, and blend that bin’s recipe toward the product’s ideal recipe. We build four such candidates, repair each one, and test each with a short ten-iteration SLP. Then we continue the full SLP from the best candidate. Why test first? On instance af-3, we once tried all 56 single moves from a stuck solution. Only 3 of them led to a good solution. The cost after repair did not show which ones, but a short SLP test ranked a good move first. So the test saves the full SLP for the promising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we test it fairly? We used all 11 feed-mill instances from the original paper’s data set. For each instance and each method we did 3 random seeds with 20 runs each, so 60 runs per method per instance. That is 1,320 runs in total, plus 440 extra runs for the ablation tests I will show later. Both methods use the same code, the same computer and the same seeds. Only the starting points, the polish and the restart rule differ. Three measures. Feasible: the run ends without breaking any limit. Good: feasible and within 0.2 percent of the best known cost. ETiGood: the expected time to get one good solution, which is the time per run divided by the share of good runs. To check that the gains are not luck, we used two statistical tests: Fisher’s exact test on counts of good runs, and the Mann–Whitney test on the final cost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First, reliability: with our method 96 percent of runs end feasible, up from 88 percent with random starts. Second, quality: on the six hard instances, 33.9 percent of runs are good, up from 6.4 percent. The original paper reports 14.8 percent, so we beat the paper too on average. Third, speed: the expected time to get a good solution is 5 times shorter on the hard instances where both methods find one. That is five of the six; on af-6-f our method found no good run, so it is left out. If you include every instance where both methods find a good run, the speed-up is 2 times, because on easy instances our method is slower. Over all 11 instances, good runs rise from 43.6 to 62.0 percent. Each run of our method costs about 19 percent more time, but far fewer runs are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result instance by instance, for the six hard ones. Orange is random restarts, blue is our method. On af-2, good runs go from under 2 percent to 68 percent. On af-4, from 20 to 58. On af-3, from under 2 to 32. On af-6-fs, from 3 to 27. On af-7 there is a smaller gain, from 10 to 18. On af-6-f, the hardest one, our method found no good run, and I will say that honestly on the limits slide. At the bottom you can see what the paper reports for its own method. We are above the paper on af-2, af-3, af-4 and af-6-fs, and slightly below it on af-7 and af-6-f.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just luck, and do we need every part? On luck: we used two statistical tests. For good runs, Fisher’s test says the gain is significant, with p below 0.01, on 5 of the 11 instances. For the final cost gap, the Mann–Whitney test says our method is better, again with p below 0.01, on 9 of the 11. On the parts: we tested the method in pieces, using seed 12345 and 20 runs each. Polish alone mostly fixes feasibility but barely changes the share of good runs. Smart starts plus polish help, for example af-2 goes from 0 to 20 percent. The full method, with the learning search, gives the big gains: 65 percent on af-2, 15 on af-3, 60 on af-4. So the parts complement each other: smart starts give variety, and the learning search gives depth. A fair caveat: our runs inside one seed depend on each other, so the tests slightly overstate the sample size. That is why we used three seeds and also checked each seed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what our method does not do. First, af-6-f, which is the paper’s af-6, is still not solved: no run of ours reached the good zone, and the baseline reached it once in 60 runs. Second, on easy instances the extra LPs cost time, so the time to a good solution can be up to about 2 times worse. Third, on af-7 we are slightly below the paper: 18.3 against 20.4 percent. Fourth, on af-4 one baseline run found the exact best known cost, while our best run is 0.19 percent above it. So our method is more reliable, but not always better in the single best run. Also, we used 3 times 20 runs while the paper used 500, we used a different LP solver and computer, and our lower bound is tight only on af-1. We also chose our parameters once, on the same instances we report, which is another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model and the SLP solver stayed exactly as in IA-1. We only changed what happens around them: smart starts, LP repair and polish, and a search that learns from the best solution so far using regret. With that, 96 percent of runs end feasible, up from 88. On the hard instances, good runs rise from 6.4 to 33.9 percent, and the expected time to a good solution is about 5 times shorter. The price is some extra time per run, and one instance, af-6-f, is still unsolved. Next steps: more seeds or the full 500 runs, choosing adaptively between smart starts and learning moves, running the tests in parallel, stronger lower bounds, and extending to bin capacities. Thank you,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2A267"/>
                </a:solidFill>
                <a:latin typeface="DM Sans" pitchFamily="34" charset="0"/>
                <a:ea typeface="DM Sans" pitchFamily="34" charset="-122"/>
                <a:cs typeface="DM Sans" pitchFamily="34" charset="-120"/>
              </a:rPr>
              <a:t>IA-2 · INTRODUCTION TO OPTIMIZATION TECHNIQUES</a:t>
            </a:r>
            <a:endParaRPr lang="en-US" sz="1300" dirty="0"/>
          </a:p>
        </p:txBody>
      </p:sp>
      <p:sp>
        <p:nvSpPr>
          <p:cNvPr id="3" name="Shape 1"/>
          <p:cNvSpPr/>
          <p:nvPr/>
        </p:nvSpPr>
        <p:spPr>
          <a:xfrm>
            <a:off x="812800" y="2079030"/>
            <a:ext cx="1270000" cy="63500"/>
          </a:xfrm>
          <a:prstGeom prst="rect">
            <a:avLst/>
          </a:prstGeom>
          <a:gradFill rotWithShape="1">
            <a:gsLst>
              <a:gs pos="0">
                <a:srgbClr val="8DB2F5"/>
              </a:gs>
              <a:gs pos="100000">
                <a:srgbClr val="F2A267"/>
              </a:gs>
            </a:gsLst>
            <a:lin ang="0" scaled="0"/>
          </a:gradFill>
          <a:ln/>
        </p:spPr>
      </p:sp>
      <p:sp>
        <p:nvSpPr>
          <p:cNvPr id="4" name="Text 2"/>
          <p:cNvSpPr/>
          <p:nvPr>
            <p:ph type="title"/>
          </p:nvPr>
        </p:nvSpPr>
        <p:spPr>
          <a:xfrm>
            <a:off x="812800" y="2345730"/>
            <a:ext cx="10883392" cy="1590014"/>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7F6F2"/>
                </a:solidFill>
                <a:latin typeface="DM Sans" pitchFamily="34" charset="0"/>
                <a:ea typeface="DM Sans" pitchFamily="34" charset="-122"/>
                <a:cs typeface="DM Sans" pitchFamily="34" charset="-120"/>
              </a:rPr>
              <a:t>Smarter restarts for a hard feed-blending problem</a:t>
            </a:r>
            <a:endParaRPr lang="en-US" sz="5600" dirty="0"/>
          </a:p>
        </p:txBody>
      </p:sp>
      <p:sp>
        <p:nvSpPr>
          <p:cNvPr id="5" name="Text 3"/>
          <p:cNvSpPr/>
          <p:nvPr/>
        </p:nvSpPr>
        <p:spPr>
          <a:xfrm>
            <a:off x="812800" y="4113543"/>
            <a:ext cx="113792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5CFE0"/>
                </a:solidFill>
                <a:latin typeface="DM Sans" pitchFamily="34" charset="0"/>
                <a:ea typeface="DM Sans" pitchFamily="34" charset="-122"/>
                <a:cs typeface="DM Sans" pitchFamily="34" charset="-120"/>
              </a:rPr>
              <a:t>Recipe-Guided Iterated Local Search around SLP for the Fixed-Demand Pooling Problem</a:t>
            </a:r>
            <a:endParaRPr lang="en-US" sz="2000" dirty="0"/>
          </a:p>
        </p:txBody>
      </p:sp>
      <p:sp>
        <p:nvSpPr>
          <p:cNvPr id="6" name="Text 4"/>
          <p:cNvSpPr/>
          <p:nvPr/>
        </p:nvSpPr>
        <p:spPr>
          <a:xfrm>
            <a:off x="812800" y="547885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DM Sans" pitchFamily="34" charset="0"/>
                <a:ea typeface="DM Sans" pitchFamily="34" charset="-122"/>
                <a:cs typeface="DM Sans" pitchFamily="34" charset="-120"/>
              </a:rPr>
              <a:t>Group OPT-09 · Razzan Tambe (15) · Saurabh Tripathi (04) · Vivek Sharma (12)</a:t>
            </a:r>
            <a:endParaRPr lang="en-US" sz="1600" dirty="0"/>
          </a:p>
        </p:txBody>
      </p:sp>
      <p:sp>
        <p:nvSpPr>
          <p:cNvPr id="7" name="Text 5"/>
          <p:cNvSpPr/>
          <p:nvPr/>
        </p:nvSpPr>
        <p:spPr>
          <a:xfrm>
            <a:off x="812800" y="5814087"/>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Dept. of IT, K. J. Somaiya College of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The problem: blending feed at the lowest cost</a:t>
            </a:r>
            <a:endParaRPr lang="en-US" sz="3200" dirty="0"/>
          </a:p>
        </p:txBody>
      </p:sp>
      <p:sp>
        <p:nvSpPr>
          <p:cNvPr id="3" name="Shape 1"/>
          <p:cNvSpPr/>
          <p:nvPr/>
        </p:nvSpPr>
        <p:spPr>
          <a:xfrm>
            <a:off x="815975" y="1659203"/>
            <a:ext cx="3007783" cy="1693598"/>
          </a:xfrm>
          <a:prstGeom prst="roundRect">
            <a:avLst>
              <a:gd name="adj" fmla="val 7311"/>
            </a:avLst>
          </a:prstGeom>
          <a:solidFill>
            <a:srgbClr val="FDFDFB"/>
          </a:solidFill>
          <a:ln w="6350">
            <a:solidFill>
              <a:srgbClr val="DDE2EA"/>
            </a:solidFill>
            <a:prstDash val="solid"/>
          </a:ln>
        </p:spPr>
      </p:sp>
      <p:sp>
        <p:nvSpPr>
          <p:cNvPr id="4" name="Text 2"/>
          <p:cNvSpPr/>
          <p:nvPr/>
        </p:nvSpPr>
        <p:spPr>
          <a:xfrm>
            <a:off x="1045633" y="1888861"/>
            <a:ext cx="26249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5FCC"/>
                </a:solidFill>
                <a:latin typeface="DM Sans" pitchFamily="34" charset="0"/>
                <a:ea typeface="DM Sans" pitchFamily="34" charset="-122"/>
                <a:cs typeface="DM Sans" pitchFamily="34" charset="-120"/>
              </a:rPr>
              <a:t>Raw materials</a:t>
            </a:r>
            <a:endParaRPr lang="en-US" sz="2000" dirty="0"/>
          </a:p>
        </p:txBody>
      </p:sp>
      <p:sp>
        <p:nvSpPr>
          <p:cNvPr id="5" name="Text 3"/>
          <p:cNvSpPr/>
          <p:nvPr/>
        </p:nvSpPr>
        <p:spPr>
          <a:xfrm>
            <a:off x="1045633" y="2269861"/>
            <a:ext cx="262492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The ingredients. Each has a price and a nutrient content.</a:t>
            </a:r>
            <a:endParaRPr lang="en-US" sz="1600" dirty="0"/>
          </a:p>
        </p:txBody>
      </p:sp>
      <p:pic>
        <p:nvPicPr>
          <p:cNvPr id="6" name="Image 0" descr="arrow-right">    </p:cNvPr>
          <p:cNvPicPr>
            <a:picLocks noChangeAspect="1"/>
          </p:cNvPicPr>
          <p:nvPr/>
        </p:nvPicPr>
        <p:blipFill>
          <a:blip r:embed="rId1"/>
          <a:srcRect l="0" r="0" t="0" b="0"/>
          <a:stretch/>
        </p:blipFill>
        <p:spPr>
          <a:xfrm>
            <a:off x="3979333" y="2379001"/>
            <a:ext cx="457200" cy="254000"/>
          </a:xfrm>
          <a:prstGeom prst="rect">
            <a:avLst/>
          </a:prstGeom>
        </p:spPr>
      </p:pic>
      <p:sp>
        <p:nvSpPr>
          <p:cNvPr id="7" name="Shape 4"/>
          <p:cNvSpPr/>
          <p:nvPr/>
        </p:nvSpPr>
        <p:spPr>
          <a:xfrm>
            <a:off x="4592108" y="1659203"/>
            <a:ext cx="3007783" cy="1693598"/>
          </a:xfrm>
          <a:prstGeom prst="roundRect">
            <a:avLst>
              <a:gd name="adj" fmla="val 7311"/>
            </a:avLst>
          </a:prstGeom>
          <a:solidFill>
            <a:srgbClr val="FDFDFB"/>
          </a:solidFill>
          <a:ln w="6350">
            <a:solidFill>
              <a:srgbClr val="DDE2EA"/>
            </a:solidFill>
            <a:prstDash val="solid"/>
          </a:ln>
        </p:spPr>
      </p:sp>
      <p:sp>
        <p:nvSpPr>
          <p:cNvPr id="8" name="Text 5"/>
          <p:cNvSpPr/>
          <p:nvPr/>
        </p:nvSpPr>
        <p:spPr>
          <a:xfrm>
            <a:off x="4821767" y="1888861"/>
            <a:ext cx="26249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5FCC"/>
                </a:solidFill>
                <a:latin typeface="DM Sans" pitchFamily="34" charset="0"/>
                <a:ea typeface="DM Sans" pitchFamily="34" charset="-122"/>
                <a:cs typeface="DM Sans" pitchFamily="34" charset="-120"/>
              </a:rPr>
              <a:t>Mixing bins</a:t>
            </a:r>
            <a:endParaRPr lang="en-US" sz="2000" dirty="0"/>
          </a:p>
        </p:txBody>
      </p:sp>
      <p:sp>
        <p:nvSpPr>
          <p:cNvPr id="9" name="Text 6"/>
          <p:cNvSpPr/>
          <p:nvPr/>
        </p:nvSpPr>
        <p:spPr>
          <a:xfrm>
            <a:off x="4821767" y="2269861"/>
            <a:ext cx="262492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A few shared mixes. Many products use the same bin.</a:t>
            </a:r>
            <a:endParaRPr lang="en-US" sz="1600" dirty="0"/>
          </a:p>
        </p:txBody>
      </p:sp>
      <p:pic>
        <p:nvPicPr>
          <p:cNvPr id="10" name="Image 1" descr="arrow-right">    </p:cNvPr>
          <p:cNvPicPr>
            <a:picLocks noChangeAspect="1"/>
          </p:cNvPicPr>
          <p:nvPr/>
        </p:nvPicPr>
        <p:blipFill>
          <a:blip r:embed="rId2"/>
          <a:srcRect l="0" r="0" t="0" b="0"/>
          <a:stretch/>
        </p:blipFill>
        <p:spPr>
          <a:xfrm>
            <a:off x="7755467" y="2379001"/>
            <a:ext cx="457200" cy="254000"/>
          </a:xfrm>
          <a:prstGeom prst="rect">
            <a:avLst/>
          </a:prstGeom>
        </p:spPr>
      </p:pic>
      <p:sp>
        <p:nvSpPr>
          <p:cNvPr id="11" name="Shape 7"/>
          <p:cNvSpPr/>
          <p:nvPr/>
        </p:nvSpPr>
        <p:spPr>
          <a:xfrm>
            <a:off x="8368242" y="1516989"/>
            <a:ext cx="3007783" cy="1978025"/>
          </a:xfrm>
          <a:prstGeom prst="roundRect">
            <a:avLst>
              <a:gd name="adj" fmla="val 6260"/>
            </a:avLst>
          </a:prstGeom>
          <a:solidFill>
            <a:srgbClr val="FDFDFB"/>
          </a:solidFill>
          <a:ln w="6350">
            <a:solidFill>
              <a:srgbClr val="DDE2EA"/>
            </a:solidFill>
            <a:prstDash val="solid"/>
          </a:ln>
        </p:spPr>
      </p:sp>
      <p:sp>
        <p:nvSpPr>
          <p:cNvPr id="12" name="Text 8"/>
          <p:cNvSpPr/>
          <p:nvPr/>
        </p:nvSpPr>
        <p:spPr>
          <a:xfrm>
            <a:off x="8597900" y="1746647"/>
            <a:ext cx="26249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5FCC"/>
                </a:solidFill>
                <a:latin typeface="DM Sans" pitchFamily="34" charset="0"/>
                <a:ea typeface="DM Sans" pitchFamily="34" charset="-122"/>
                <a:cs typeface="DM Sans" pitchFamily="34" charset="-120"/>
              </a:rPr>
              <a:t>Products</a:t>
            </a:r>
            <a:endParaRPr lang="en-US" sz="2000" dirty="0"/>
          </a:p>
        </p:txBody>
      </p:sp>
      <p:sp>
        <p:nvSpPr>
          <p:cNvPr id="13" name="Text 9"/>
          <p:cNvSpPr/>
          <p:nvPr/>
        </p:nvSpPr>
        <p:spPr>
          <a:xfrm>
            <a:off x="8597900" y="2127647"/>
            <a:ext cx="2624921"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Each has a fixed tonnage and a minimum and maximum for every nutrient.</a:t>
            </a:r>
            <a:endParaRPr lang="en-US" sz="1600" dirty="0"/>
          </a:p>
        </p:txBody>
      </p:sp>
      <p:sp>
        <p:nvSpPr>
          <p:cNvPr id="14" name="Text 10"/>
          <p:cNvSpPr/>
          <p:nvPr/>
        </p:nvSpPr>
        <p:spPr>
          <a:xfrm>
            <a:off x="812800" y="375218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Some ingredients can also go straight into a product, at extra cost.</a:t>
            </a:r>
            <a:endParaRPr lang="en-US" sz="1600" dirty="0"/>
          </a:p>
        </p:txBody>
      </p:sp>
      <p:sp>
        <p:nvSpPr>
          <p:cNvPr id="15" name="Text 11"/>
          <p:cNvSpPr/>
          <p:nvPr/>
        </p:nvSpPr>
        <p:spPr>
          <a:xfrm>
            <a:off x="812800" y="4290616"/>
            <a:ext cx="10566400" cy="1117600"/>
          </a:xfrm>
          <a:prstGeom prst="roundRect">
            <a:avLst>
              <a:gd name="adj" fmla="val 11364"/>
            </a:avLst>
          </a:prstGeom>
          <a:solidFill>
            <a:srgbClr val="14213D"/>
          </a:solidFill>
          <a:ln/>
        </p:spPr>
        <p:txBody>
          <a:bodyPr wrap="square" lIns="242203" tIns="191403" rIns="0" bIns="166003" rtlCol="0" anchor="t">
            <a:normAutofit/>
          </a:bodyPr>
          <a:lstStyle/>
          <a:p>
            <a:pPr algn="l" indent="0" marL="0">
              <a:lnSpc>
                <a:spcPts val="2600"/>
              </a:lnSpc>
              <a:buNone/>
            </a:pPr>
            <a:r>
              <a:rPr lang="en-US" sz="2000" dirty="0">
                <a:solidFill>
                  <a:srgbClr val="F7F6F2"/>
                </a:solidFill>
                <a:latin typeface="DM Sans" pitchFamily="34" charset="0"/>
                <a:ea typeface="DM Sans" pitchFamily="34" charset="-122"/>
                <a:cs typeface="DM Sans" pitchFamily="34" charset="-120"/>
              </a:rPr>
              <a:t>Goal: the lowest total cost of raw materials, with every product inside its nutrient limits.</a:t>
            </a:r>
            <a:endParaRPr lang="en-US" sz="2000" dirty="0"/>
          </a:p>
        </p:txBody>
      </p:sp>
      <p:sp>
        <p:nvSpPr>
          <p:cNvPr id="16" name="Text 12"/>
          <p:cNvSpPr/>
          <p:nvPr/>
        </p:nvSpPr>
        <p:spPr>
          <a:xfrm>
            <a:off x="812800" y="6220487"/>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17" name="Text 13"/>
          <p:cNvSpPr/>
          <p:nvPr/>
        </p:nvSpPr>
        <p:spPr>
          <a:xfrm>
            <a:off x="10058400" y="6220487"/>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2 / 13</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F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Why it is hard</a:t>
            </a:r>
            <a:endParaRPr lang="en-US" sz="3200" dirty="0"/>
          </a:p>
        </p:txBody>
      </p:sp>
      <p:sp>
        <p:nvSpPr>
          <p:cNvPr id="3" name="Shape 1"/>
          <p:cNvSpPr/>
          <p:nvPr/>
        </p:nvSpPr>
        <p:spPr>
          <a:xfrm>
            <a:off x="815975" y="1516990"/>
            <a:ext cx="5603941" cy="2927152"/>
          </a:xfrm>
          <a:prstGeom prst="roundRect">
            <a:avLst>
              <a:gd name="adj" fmla="val 4230"/>
            </a:avLst>
          </a:prstGeom>
          <a:solidFill>
            <a:srgbClr val="FDFDFB"/>
          </a:solidFill>
          <a:ln w="6350">
            <a:solidFill>
              <a:srgbClr val="DDE2EA"/>
            </a:solidFill>
            <a:prstDash val="solid"/>
          </a:ln>
        </p:spPr>
      </p:sp>
      <p:sp>
        <p:nvSpPr>
          <p:cNvPr id="4" name="Text 2"/>
          <p:cNvSpPr/>
          <p:nvPr/>
        </p:nvSpPr>
        <p:spPr>
          <a:xfrm>
            <a:off x="1071033" y="1772047"/>
            <a:ext cx="5246639"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5FCC"/>
                </a:solidFill>
                <a:latin typeface="DM Sans" pitchFamily="34" charset="0"/>
                <a:ea typeface="DM Sans" pitchFamily="34" charset="-122"/>
                <a:cs typeface="DM Sans" pitchFamily="34" charset="-120"/>
              </a:rPr>
              <a:t>THE CATCH</a:t>
            </a:r>
            <a:endParaRPr lang="en-US" sz="1300" dirty="0"/>
          </a:p>
        </p:txBody>
      </p:sp>
      <p:sp>
        <p:nvSpPr>
          <p:cNvPr id="5" name="Text 3"/>
          <p:cNvSpPr/>
          <p:nvPr/>
        </p:nvSpPr>
        <p:spPr>
          <a:xfrm>
            <a:off x="1071033" y="2155561"/>
            <a:ext cx="5345708"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14213D"/>
                </a:solidFill>
                <a:latin typeface="DM Sans" pitchFamily="34" charset="0"/>
                <a:ea typeface="DM Sans" pitchFamily="34" charset="-122"/>
                <a:cs typeface="DM Sans" pitchFamily="34" charset="-120"/>
              </a:rPr>
              <a:t>Product quality = bin share × bin quality</a:t>
            </a:r>
            <a:endParaRPr lang="en-US" sz="2000" dirty="0"/>
          </a:p>
        </p:txBody>
      </p:sp>
      <p:sp>
        <p:nvSpPr>
          <p:cNvPr id="6" name="Text 4"/>
          <p:cNvSpPr/>
          <p:nvPr/>
        </p:nvSpPr>
        <p:spPr>
          <a:xfrm>
            <a:off x="1071033" y="2625461"/>
            <a:ext cx="5246639"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The bin quality depends on the bin recipe, and we choose the bin recipe too.</a:t>
            </a:r>
            <a:endParaRPr lang="en-US" sz="1600" dirty="0"/>
          </a:p>
        </p:txBody>
      </p:sp>
      <p:sp>
        <p:nvSpPr>
          <p:cNvPr id="7" name="Text 5"/>
          <p:cNvSpPr/>
          <p:nvPr/>
        </p:nvSpPr>
        <p:spPr>
          <a:xfrm>
            <a:off x="1071033" y="3346715"/>
            <a:ext cx="5246639"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34D14"/>
                </a:solidFill>
                <a:latin typeface="DM Sans" pitchFamily="34" charset="0"/>
                <a:ea typeface="DM Sans" pitchFamily="34" charset="-122"/>
                <a:cs typeface="DM Sans" pitchFamily="34" charset="-120"/>
              </a:rPr>
              <a:t>Unknown × unknown gives many “local best” answers.</a:t>
            </a:r>
            <a:endParaRPr lang="en-US" sz="1600" dirty="0"/>
          </a:p>
        </p:txBody>
      </p:sp>
      <p:sp>
        <p:nvSpPr>
          <p:cNvPr id="8" name="Shape 6"/>
          <p:cNvSpPr/>
          <p:nvPr/>
        </p:nvSpPr>
        <p:spPr>
          <a:xfrm>
            <a:off x="6626292" y="1513815"/>
            <a:ext cx="4752909" cy="2933502"/>
          </a:xfrm>
          <a:prstGeom prst="roundRect">
            <a:avLst>
              <a:gd name="adj" fmla="val 4329"/>
            </a:avLst>
          </a:prstGeom>
          <a:solidFill>
            <a:srgbClr val="14213D"/>
          </a:solidFill>
          <a:ln/>
        </p:spPr>
      </p:sp>
      <p:sp>
        <p:nvSpPr>
          <p:cNvPr id="9" name="Text 7"/>
          <p:cNvSpPr/>
          <p:nvPr/>
        </p:nvSpPr>
        <p:spPr>
          <a:xfrm>
            <a:off x="6880292" y="1767815"/>
            <a:ext cx="4372256"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267"/>
                </a:solidFill>
                <a:latin typeface="DM Sans" pitchFamily="34" charset="0"/>
                <a:ea typeface="DM Sans" pitchFamily="34" charset="-122"/>
                <a:cs typeface="DM Sans" pitchFamily="34" charset="-120"/>
              </a:rPr>
              <a:t>THINK OF A HIKER IN FOG</a:t>
            </a:r>
            <a:endParaRPr lang="en-US" sz="1300" dirty="0"/>
          </a:p>
        </p:txBody>
      </p:sp>
      <p:sp>
        <p:nvSpPr>
          <p:cNvPr id="10" name="Text 8"/>
          <p:cNvSpPr/>
          <p:nvPr/>
        </p:nvSpPr>
        <p:spPr>
          <a:xfrm>
            <a:off x="6880292" y="2125928"/>
            <a:ext cx="437225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DM Sans" pitchFamily="34" charset="0"/>
                <a:ea typeface="DM Sans" pitchFamily="34" charset="-122"/>
                <a:cs typeface="DM Sans" pitchFamily="34" charset="-120"/>
              </a:rPr>
              <a:t>Many valleys. Walking downhill stops in the nearest one, not always the deepest.</a:t>
            </a:r>
            <a:endParaRPr lang="en-US" sz="1600" dirty="0"/>
          </a:p>
        </p:txBody>
      </p:sp>
      <p:sp>
        <p:nvSpPr>
          <p:cNvPr id="11" name="Text 9"/>
          <p:cNvSpPr/>
          <p:nvPr/>
        </p:nvSpPr>
        <p:spPr>
          <a:xfrm>
            <a:off x="6880292" y="2821781"/>
            <a:ext cx="4372256"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8DB2F5"/>
                </a:solidFill>
                <a:latin typeface="DM Sans" pitchFamily="34" charset="0"/>
                <a:ea typeface="DM Sans" pitchFamily="34" charset="-122"/>
                <a:cs typeface="DM Sans" pitchFamily="34" charset="-120"/>
              </a:rPr>
              <a:t>96</a:t>
            </a:r>
            <a:endParaRPr lang="en-US" sz="5600" dirty="0"/>
          </a:p>
        </p:txBody>
      </p:sp>
      <p:sp>
        <p:nvSpPr>
          <p:cNvPr id="12" name="Text 10"/>
          <p:cNvSpPr/>
          <p:nvPr/>
        </p:nvSpPr>
        <p:spPr>
          <a:xfrm>
            <a:off x="6880292" y="3731089"/>
            <a:ext cx="437225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local best answers in a tiny example with only 2 nutrients</a:t>
            </a:r>
            <a:endParaRPr lang="en-US" sz="1300" dirty="0"/>
          </a:p>
        </p:txBody>
      </p:sp>
      <p:sp>
        <p:nvSpPr>
          <p:cNvPr id="13" name="Text 11"/>
          <p:cNvSpPr/>
          <p:nvPr/>
        </p:nvSpPr>
        <p:spPr>
          <a:xfrm>
            <a:off x="815975" y="4704491"/>
            <a:ext cx="10560050" cy="642144"/>
          </a:xfrm>
          <a:prstGeom prst="roundRect">
            <a:avLst>
              <a:gd name="adj" fmla="val 19283"/>
            </a:avLst>
          </a:prstGeom>
          <a:solidFill>
            <a:srgbClr val="FDFDFB"/>
          </a:solidFill>
          <a:ln w="6350">
            <a:solidFill>
              <a:srgbClr val="DDE2EA"/>
            </a:solidFill>
            <a:prstDash val="solid"/>
          </a:ln>
        </p:spPr>
        <p:txBody>
          <a:bodyPr wrap="square" lIns="218791" tIns="142591" rIns="0" bIns="117191"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Mills re-solve this many times a day, so they need good recipes in seconds.</a:t>
            </a:r>
            <a:endParaRPr lang="en-US" sz="1600" dirty="0"/>
          </a:p>
        </p:txBody>
      </p:sp>
      <p:sp>
        <p:nvSpPr>
          <p:cNvPr id="14" name="Text 12"/>
          <p:cNvSpPr/>
          <p:nvPr/>
        </p:nvSpPr>
        <p:spPr>
          <a:xfrm>
            <a:off x="812800" y="6220487"/>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15" name="Text 13"/>
          <p:cNvSpPr/>
          <p:nvPr/>
        </p:nvSpPr>
        <p:spPr>
          <a:xfrm>
            <a:off x="10058400" y="6220487"/>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3 / 13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Today’s method and its weakness</a:t>
            </a:r>
            <a:endParaRPr lang="en-US" sz="3200" dirty="0"/>
          </a:p>
        </p:txBody>
      </p:sp>
      <p:sp>
        <p:nvSpPr>
          <p:cNvPr id="3" name="Shape 1"/>
          <p:cNvSpPr/>
          <p:nvPr/>
        </p:nvSpPr>
        <p:spPr>
          <a:xfrm>
            <a:off x="815975" y="1466190"/>
            <a:ext cx="5608572" cy="2625857"/>
          </a:xfrm>
          <a:prstGeom prst="roundRect">
            <a:avLst>
              <a:gd name="adj" fmla="val 4716"/>
            </a:avLst>
          </a:prstGeom>
          <a:solidFill>
            <a:srgbClr val="FDFDFB"/>
          </a:solidFill>
          <a:ln w="6350">
            <a:solidFill>
              <a:srgbClr val="DDE2EA"/>
            </a:solidFill>
            <a:prstDash val="solid"/>
          </a:ln>
        </p:spPr>
      </p:sp>
      <p:sp>
        <p:nvSpPr>
          <p:cNvPr id="4" name="Text 2"/>
          <p:cNvSpPr/>
          <p:nvPr/>
        </p:nvSpPr>
        <p:spPr>
          <a:xfrm>
            <a:off x="1045633" y="1695847"/>
            <a:ext cx="530373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5FCC"/>
                </a:solidFill>
                <a:latin typeface="DM Sans" pitchFamily="34" charset="0"/>
                <a:ea typeface="DM Sans" pitchFamily="34" charset="-122"/>
                <a:cs typeface="DM Sans" pitchFamily="34" charset="-120"/>
              </a:rPr>
              <a:t>HOW IT WORKS TODAY</a:t>
            </a:r>
            <a:endParaRPr lang="en-US" sz="1300" dirty="0"/>
          </a:p>
        </p:txBody>
      </p:sp>
      <p:sp>
        <p:nvSpPr>
          <p:cNvPr id="5" name="Text 3"/>
          <p:cNvSpPr/>
          <p:nvPr/>
        </p:nvSpPr>
        <p:spPr>
          <a:xfrm>
            <a:off x="1045633" y="20285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1</a:t>
            </a:r>
            <a:endParaRPr lang="en-US" sz="1600" dirty="0"/>
          </a:p>
        </p:txBody>
      </p:sp>
      <p:sp>
        <p:nvSpPr>
          <p:cNvPr id="6" name="Text 4"/>
          <p:cNvSpPr/>
          <p:nvPr/>
        </p:nvSpPr>
        <p:spPr>
          <a:xfrm>
            <a:off x="1528233" y="2074267"/>
            <a:ext cx="335915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DM Sans" pitchFamily="34" charset="0"/>
                <a:ea typeface="DM Sans" pitchFamily="34" charset="-122"/>
                <a:cs typeface="DM Sans" pitchFamily="34" charset="-120"/>
              </a:rPr>
              <a:t>Pick a random starting recipe.</a:t>
            </a:r>
            <a:endParaRPr lang="en-US" sz="1600" dirty="0"/>
          </a:p>
        </p:txBody>
      </p:sp>
      <p:sp>
        <p:nvSpPr>
          <p:cNvPr id="7" name="Text 5"/>
          <p:cNvSpPr/>
          <p:nvPr/>
        </p:nvSpPr>
        <p:spPr>
          <a:xfrm>
            <a:off x="1045633" y="24857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2</a:t>
            </a:r>
            <a:endParaRPr lang="en-US" sz="1600" dirty="0"/>
          </a:p>
        </p:txBody>
      </p:sp>
      <p:sp>
        <p:nvSpPr>
          <p:cNvPr id="8" name="Text 6"/>
          <p:cNvSpPr/>
          <p:nvPr/>
        </p:nvSpPr>
        <p:spPr>
          <a:xfrm>
            <a:off x="1528233" y="2531467"/>
            <a:ext cx="390390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DM Sans" pitchFamily="34" charset="0"/>
                <a:ea typeface="DM Sans" pitchFamily="34" charset="-122"/>
                <a:cs typeface="DM Sans" pitchFamily="34" charset="-120"/>
              </a:rPr>
              <a:t>Run SLP: small, safe steps downhill.</a:t>
            </a:r>
            <a:endParaRPr lang="en-US" sz="1600" dirty="0"/>
          </a:p>
        </p:txBody>
      </p:sp>
      <p:sp>
        <p:nvSpPr>
          <p:cNvPr id="9" name="Text 7"/>
          <p:cNvSpPr/>
          <p:nvPr/>
        </p:nvSpPr>
        <p:spPr>
          <a:xfrm>
            <a:off x="1045633" y="29429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3</a:t>
            </a:r>
            <a:endParaRPr lang="en-US" sz="1600" dirty="0"/>
          </a:p>
        </p:txBody>
      </p:sp>
      <p:sp>
        <p:nvSpPr>
          <p:cNvPr id="10" name="Text 8"/>
          <p:cNvSpPr/>
          <p:nvPr/>
        </p:nvSpPr>
        <p:spPr>
          <a:xfrm>
            <a:off x="1528233" y="2988667"/>
            <a:ext cx="4330859"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DM Sans" pitchFamily="34" charset="0"/>
                <a:ea typeface="DM Sans" pitchFamily="34" charset="-122"/>
                <a:cs typeface="DM Sans" pitchFamily="34" charset="-120"/>
              </a:rPr>
              <a:t>Repeat many times and keep the best.</a:t>
            </a:r>
            <a:endParaRPr lang="en-US" sz="1600" dirty="0"/>
          </a:p>
        </p:txBody>
      </p:sp>
      <p:sp>
        <p:nvSpPr>
          <p:cNvPr id="11" name="Text 9"/>
          <p:cNvSpPr/>
          <p:nvPr/>
        </p:nvSpPr>
        <p:spPr>
          <a:xfrm>
            <a:off x="1045633" y="3400161"/>
            <a:ext cx="530373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Paper: 863× faster than FilterSQP and 20× faster than the global solver Baron.</a:t>
            </a:r>
            <a:endParaRPr lang="en-US" sz="1300" dirty="0"/>
          </a:p>
        </p:txBody>
      </p:sp>
      <p:sp>
        <p:nvSpPr>
          <p:cNvPr id="12" name="Shape 10"/>
          <p:cNvSpPr/>
          <p:nvPr/>
        </p:nvSpPr>
        <p:spPr>
          <a:xfrm>
            <a:off x="6630922" y="1463015"/>
            <a:ext cx="4748279" cy="2632207"/>
          </a:xfrm>
          <a:prstGeom prst="roundRect">
            <a:avLst>
              <a:gd name="adj" fmla="val 4825"/>
            </a:avLst>
          </a:prstGeom>
          <a:solidFill>
            <a:srgbClr val="14213D"/>
          </a:solidFill>
          <a:ln/>
        </p:spPr>
      </p:sp>
      <p:sp>
        <p:nvSpPr>
          <p:cNvPr id="13" name="Text 11"/>
          <p:cNvSpPr/>
          <p:nvPr/>
        </p:nvSpPr>
        <p:spPr>
          <a:xfrm>
            <a:off x="6859522" y="1691615"/>
            <a:ext cx="4419811"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267"/>
                </a:solidFill>
                <a:latin typeface="DM Sans" pitchFamily="34" charset="0"/>
                <a:ea typeface="DM Sans" pitchFamily="34" charset="-122"/>
                <a:cs typeface="DM Sans" pitchFamily="34" charset="-120"/>
              </a:rPr>
              <a:t>RANDOM STARTS THAT END “GOOD”</a:t>
            </a:r>
            <a:endParaRPr lang="en-US" sz="1300" dirty="0"/>
          </a:p>
        </p:txBody>
      </p:sp>
      <p:sp>
        <p:nvSpPr>
          <p:cNvPr id="14" name="Text 12"/>
          <p:cNvSpPr/>
          <p:nvPr/>
        </p:nvSpPr>
        <p:spPr>
          <a:xfrm>
            <a:off x="6859522" y="1998928"/>
            <a:ext cx="4419811"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F7F6F2"/>
                </a:solidFill>
                <a:latin typeface="DM Sans" pitchFamily="34" charset="0"/>
                <a:ea typeface="DM Sans" pitchFamily="34" charset="-122"/>
                <a:cs typeface="DM Sans" pitchFamily="34" charset="-120"/>
              </a:rPr>
              <a:t>6.4%</a:t>
            </a:r>
            <a:endParaRPr lang="en-US" sz="5600" dirty="0"/>
          </a:p>
        </p:txBody>
      </p:sp>
      <p:sp>
        <p:nvSpPr>
          <p:cNvPr id="15" name="Text 13"/>
          <p:cNvSpPr/>
          <p:nvPr/>
        </p:nvSpPr>
        <p:spPr>
          <a:xfrm>
            <a:off x="6859522" y="2857435"/>
            <a:ext cx="441981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of runs on the 6 hard instances (paper: 14.8%). Good = feasible and within 0.2% of the best known cost.</a:t>
            </a:r>
            <a:endParaRPr lang="en-US" sz="1300" dirty="0"/>
          </a:p>
        </p:txBody>
      </p:sp>
      <p:sp>
        <p:nvSpPr>
          <p:cNvPr id="16" name="Text 14"/>
          <p:cNvSpPr/>
          <p:nvPr/>
        </p:nvSpPr>
        <p:spPr>
          <a:xfrm>
            <a:off x="812800" y="4298421"/>
            <a:ext cx="5181600" cy="924454"/>
          </a:xfrm>
          <a:prstGeom prst="roundRect">
            <a:avLst>
              <a:gd name="adj" fmla="val 13738"/>
            </a:avLst>
          </a:prstGeom>
          <a:solidFill>
            <a:srgbClr val="EAEFF6"/>
          </a:solidFill>
          <a:ln/>
        </p:spPr>
        <p:txBody>
          <a:bodyPr wrap="square" lIns="191403" tIns="140603" rIns="49671" bIns="115203"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Runs are independent: nothing is learned from earlier runs.</a:t>
            </a:r>
            <a:endParaRPr lang="en-US" sz="1600" dirty="0"/>
          </a:p>
        </p:txBody>
      </p:sp>
      <p:sp>
        <p:nvSpPr>
          <p:cNvPr id="17" name="Text 15"/>
          <p:cNvSpPr/>
          <p:nvPr/>
        </p:nvSpPr>
        <p:spPr>
          <a:xfrm>
            <a:off x="6197600" y="4298421"/>
            <a:ext cx="5181600" cy="924454"/>
          </a:xfrm>
          <a:prstGeom prst="roundRect">
            <a:avLst>
              <a:gd name="adj" fmla="val 13738"/>
            </a:avLst>
          </a:prstGeom>
          <a:solidFill>
            <a:srgbClr val="EAEFF6"/>
          </a:solidFill>
          <a:ln/>
        </p:spPr>
        <p:txBody>
          <a:bodyPr wrap="square" lIns="191403" tIns="140603" rIns="49671" bIns="115203"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25–40% of runs on af-4, af-6-f and af-7 end infeasible: they break a limit.</a:t>
            </a:r>
            <a:endParaRPr lang="en-US" sz="1600" dirty="0"/>
          </a:p>
        </p:txBody>
      </p:sp>
      <p:sp>
        <p:nvSpPr>
          <p:cNvPr id="18" name="Text 16"/>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19" name="Text 17"/>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4 / 13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F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Our idea: three easy calculations</a:t>
            </a:r>
            <a:endParaRPr lang="en-US" sz="3200" dirty="0"/>
          </a:p>
        </p:txBody>
      </p:sp>
      <p:sp>
        <p:nvSpPr>
          <p:cNvPr id="3" name="Shape 1"/>
          <p:cNvSpPr/>
          <p:nvPr/>
        </p:nvSpPr>
        <p:spPr>
          <a:xfrm>
            <a:off x="815975" y="1516990"/>
            <a:ext cx="3380317" cy="2343745"/>
          </a:xfrm>
          <a:prstGeom prst="roundRect">
            <a:avLst>
              <a:gd name="adj" fmla="val 5283"/>
            </a:avLst>
          </a:prstGeom>
          <a:solidFill>
            <a:srgbClr val="FDFDFB"/>
          </a:solidFill>
          <a:ln w="6350">
            <a:solidFill>
              <a:srgbClr val="DDE2EA"/>
            </a:solidFill>
            <a:prstDash val="solid"/>
          </a:ln>
        </p:spPr>
      </p:sp>
      <p:sp>
        <p:nvSpPr>
          <p:cNvPr id="4" name="Text 2"/>
          <p:cNvSpPr/>
          <p:nvPr/>
        </p:nvSpPr>
        <p:spPr>
          <a:xfrm>
            <a:off x="1045633" y="1746647"/>
            <a:ext cx="1536303" cy="289520"/>
          </a:xfrm>
          <a:custGeom>
            <a:avLst/>
            <a:gdLst/>
            <a:ahLst/>
            <a:cxnLst/>
            <a:rect l="l" t="t" r="r" b="b"/>
            <a:pathLst>
              <a:path w="1536303" h="289520">
                <a:moveTo>
                  <a:pt x="144760" y="0"/>
                </a:moveTo>
                <a:lnTo>
                  <a:pt x="1391543" y="0"/>
                </a:lnTo>
                <a:arcTo hR="144760" wR="144760" stAng="16200000" swAng="5400000"/>
                <a:lnTo>
                  <a:pt x="1536303" y="144760"/>
                </a:lnTo>
                <a:arcTo hR="144760" wR="144760" stAng="0" swAng="5400000"/>
                <a:lnTo>
                  <a:pt x="144760" y="289520"/>
                </a:lnTo>
                <a:arcTo hR="144760" wR="144760" stAng="5400000" swAng="5400000"/>
                <a:lnTo>
                  <a:pt x="0" y="144760"/>
                </a:lnTo>
                <a:arcTo hR="144760" wR="144760" stAng="10800000" swAng="5400000"/>
                <a:close/>
              </a:path>
            </a:pathLst>
          </a:custGeom>
          <a:solidFill>
            <a:srgbClr val="E2E9F4"/>
          </a:solidFill>
          <a:ln/>
        </p:spPr>
        <p:txBody>
          <a:bodyPr wrap="none" lIns="0" tIns="0" rIns="0" bIns="0" rtlCol="0" anchor="ctr">
            <a:normAutofit/>
          </a:bodyPr>
          <a:lstStyle/>
          <a:p>
            <a:pPr algn="ctr" indent="0" marL="0">
              <a:lnSpc>
                <a:spcPts val="1680"/>
              </a:lnSpc>
              <a:buNone/>
            </a:pPr>
            <a:r>
              <a:rPr lang="en-US" sz="1200" b="1" dirty="0">
                <a:solidFill>
                  <a:srgbClr val="1F5FCC"/>
                </a:solidFill>
                <a:latin typeface="DM Sans" pitchFamily="34" charset="0"/>
                <a:ea typeface="DM Sans" pitchFamily="34" charset="-122"/>
                <a:cs typeface="DM Sans" pitchFamily="34" charset="-120"/>
              </a:rPr>
              <a:t>Ignore bin sharing</a:t>
            </a:r>
            <a:endParaRPr lang="en-US" sz="1200" dirty="0"/>
          </a:p>
        </p:txBody>
      </p:sp>
      <p:sp>
        <p:nvSpPr>
          <p:cNvPr id="5" name="Text 3"/>
          <p:cNvSpPr/>
          <p:nvPr/>
        </p:nvSpPr>
        <p:spPr>
          <a:xfrm>
            <a:off x="1045633" y="2112367"/>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Diet LP</a:t>
            </a:r>
            <a:endParaRPr lang="en-US" sz="2000" dirty="0"/>
          </a:p>
        </p:txBody>
      </p:sp>
      <p:sp>
        <p:nvSpPr>
          <p:cNvPr id="6" name="Text 4"/>
          <p:cNvSpPr/>
          <p:nvPr/>
        </p:nvSpPr>
        <p:spPr>
          <a:xfrm>
            <a:off x="1045633" y="2493367"/>
            <a:ext cx="3008630"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Each product gets its ideal cheapest recipe. This also gives a lower bound on the best cost.</a:t>
            </a:r>
            <a:endParaRPr lang="en-US" sz="1600" dirty="0"/>
          </a:p>
        </p:txBody>
      </p:sp>
      <p:sp>
        <p:nvSpPr>
          <p:cNvPr id="7" name="Shape 5"/>
          <p:cNvSpPr/>
          <p:nvPr/>
        </p:nvSpPr>
        <p:spPr>
          <a:xfrm>
            <a:off x="4405842" y="1516990"/>
            <a:ext cx="3380317" cy="2343745"/>
          </a:xfrm>
          <a:prstGeom prst="roundRect">
            <a:avLst>
              <a:gd name="adj" fmla="val 5283"/>
            </a:avLst>
          </a:prstGeom>
          <a:solidFill>
            <a:srgbClr val="FDFDFB"/>
          </a:solidFill>
          <a:ln w="6350">
            <a:solidFill>
              <a:srgbClr val="DDE2EA"/>
            </a:solidFill>
            <a:prstDash val="solid"/>
          </a:ln>
        </p:spPr>
      </p:sp>
      <p:sp>
        <p:nvSpPr>
          <p:cNvPr id="8" name="Text 6"/>
          <p:cNvSpPr/>
          <p:nvPr/>
        </p:nvSpPr>
        <p:spPr>
          <a:xfrm>
            <a:off x="4635500" y="1746647"/>
            <a:ext cx="1435232" cy="289520"/>
          </a:xfrm>
          <a:custGeom>
            <a:avLst/>
            <a:gdLst/>
            <a:ahLst/>
            <a:cxnLst/>
            <a:rect l="l" t="t" r="r" b="b"/>
            <a:pathLst>
              <a:path w="1435232" h="289520">
                <a:moveTo>
                  <a:pt x="144760" y="0"/>
                </a:moveTo>
                <a:lnTo>
                  <a:pt x="1290472" y="0"/>
                </a:lnTo>
                <a:arcTo hR="144760" wR="144760" stAng="16200000" swAng="5400000"/>
                <a:lnTo>
                  <a:pt x="1435232" y="144760"/>
                </a:lnTo>
                <a:arcTo hR="144760" wR="144760" stAng="0" swAng="5400000"/>
                <a:lnTo>
                  <a:pt x="144760" y="289520"/>
                </a:lnTo>
                <a:arcTo hR="144760" wR="144760" stAng="5400000" swAng="5400000"/>
                <a:lnTo>
                  <a:pt x="0" y="144760"/>
                </a:lnTo>
                <a:arcTo hR="144760" wR="144760" stAng="10800000" swAng="5400000"/>
                <a:close/>
              </a:path>
            </a:pathLst>
          </a:custGeom>
          <a:solidFill>
            <a:srgbClr val="E2E9F4"/>
          </a:solidFill>
          <a:ln/>
        </p:spPr>
        <p:txBody>
          <a:bodyPr wrap="none" lIns="0" tIns="0" rIns="0" bIns="0" rtlCol="0" anchor="ctr">
            <a:normAutofit/>
          </a:bodyPr>
          <a:lstStyle/>
          <a:p>
            <a:pPr algn="ctr" indent="0" marL="0">
              <a:lnSpc>
                <a:spcPts val="1680"/>
              </a:lnSpc>
              <a:buNone/>
            </a:pPr>
            <a:r>
              <a:rPr lang="en-US" sz="1200" b="1" dirty="0">
                <a:solidFill>
                  <a:srgbClr val="1F5FCC"/>
                </a:solidFill>
                <a:latin typeface="DM Sans" pitchFamily="34" charset="0"/>
                <a:ea typeface="DM Sans" pitchFamily="34" charset="-122"/>
                <a:cs typeface="DM Sans" pitchFamily="34" charset="-120"/>
              </a:rPr>
              <a:t>Bin recipes fixed</a:t>
            </a:r>
            <a:endParaRPr lang="en-US" sz="1200" dirty="0"/>
          </a:p>
        </p:txBody>
      </p:sp>
      <p:sp>
        <p:nvSpPr>
          <p:cNvPr id="9" name="Text 7"/>
          <p:cNvSpPr/>
          <p:nvPr/>
        </p:nvSpPr>
        <p:spPr>
          <a:xfrm>
            <a:off x="4635500" y="2112367"/>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Product LP</a:t>
            </a:r>
            <a:endParaRPr lang="en-US" sz="2000" dirty="0"/>
          </a:p>
        </p:txBody>
      </p:sp>
      <p:sp>
        <p:nvSpPr>
          <p:cNvPr id="10" name="Text 8"/>
          <p:cNvSpPr/>
          <p:nvPr/>
        </p:nvSpPr>
        <p:spPr>
          <a:xfrm>
            <a:off x="4635500" y="2493367"/>
            <a:ext cx="3008630"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With the bin recipes fixed, the best product recipes are easy to find, and exact.</a:t>
            </a:r>
            <a:endParaRPr lang="en-US" sz="1600" dirty="0"/>
          </a:p>
        </p:txBody>
      </p:sp>
      <p:sp>
        <p:nvSpPr>
          <p:cNvPr id="11" name="Shape 9"/>
          <p:cNvSpPr/>
          <p:nvPr/>
        </p:nvSpPr>
        <p:spPr>
          <a:xfrm>
            <a:off x="7995709" y="1516990"/>
            <a:ext cx="3380317" cy="2343745"/>
          </a:xfrm>
          <a:prstGeom prst="roundRect">
            <a:avLst>
              <a:gd name="adj" fmla="val 5283"/>
            </a:avLst>
          </a:prstGeom>
          <a:solidFill>
            <a:srgbClr val="FDFDFB"/>
          </a:solidFill>
          <a:ln w="6350">
            <a:solidFill>
              <a:srgbClr val="DDE2EA"/>
            </a:solidFill>
            <a:prstDash val="solid"/>
          </a:ln>
        </p:spPr>
      </p:sp>
      <p:sp>
        <p:nvSpPr>
          <p:cNvPr id="12" name="Text 10"/>
          <p:cNvSpPr/>
          <p:nvPr/>
        </p:nvSpPr>
        <p:spPr>
          <a:xfrm>
            <a:off x="8225367" y="1746647"/>
            <a:ext cx="1373981" cy="289520"/>
          </a:xfrm>
          <a:custGeom>
            <a:avLst/>
            <a:gdLst/>
            <a:ahLst/>
            <a:cxnLst/>
            <a:rect l="l" t="t" r="r" b="b"/>
            <a:pathLst>
              <a:path w="1373981" h="289520">
                <a:moveTo>
                  <a:pt x="144760" y="0"/>
                </a:moveTo>
                <a:lnTo>
                  <a:pt x="1229221" y="0"/>
                </a:lnTo>
                <a:arcTo hR="144760" wR="144760" stAng="16200000" swAng="5400000"/>
                <a:lnTo>
                  <a:pt x="1373981" y="144760"/>
                </a:lnTo>
                <a:arcTo hR="144760" wR="144760" stAng="0" swAng="5400000"/>
                <a:lnTo>
                  <a:pt x="144760" y="289520"/>
                </a:lnTo>
                <a:arcTo hR="144760" wR="144760" stAng="5400000" swAng="5400000"/>
                <a:lnTo>
                  <a:pt x="0" y="144760"/>
                </a:lnTo>
                <a:arcTo hR="144760" wR="144760" stAng="10800000" swAng="5400000"/>
                <a:close/>
              </a:path>
            </a:pathLst>
          </a:custGeom>
          <a:solidFill>
            <a:srgbClr val="E2E9F4"/>
          </a:solidFill>
          <a:ln/>
        </p:spPr>
        <p:txBody>
          <a:bodyPr wrap="none" lIns="0" tIns="0" rIns="0" bIns="0" rtlCol="0" anchor="ctr">
            <a:normAutofit/>
          </a:bodyPr>
          <a:lstStyle/>
          <a:p>
            <a:pPr algn="ctr" indent="0" marL="0">
              <a:lnSpc>
                <a:spcPts val="1680"/>
              </a:lnSpc>
              <a:buNone/>
            </a:pPr>
            <a:r>
              <a:rPr lang="en-US" sz="1200" b="1" dirty="0">
                <a:solidFill>
                  <a:srgbClr val="1F5FCC"/>
                </a:solidFill>
                <a:latin typeface="DM Sans" pitchFamily="34" charset="0"/>
                <a:ea typeface="DM Sans" pitchFamily="34" charset="-122"/>
                <a:cs typeface="DM Sans" pitchFamily="34" charset="-120"/>
              </a:rPr>
              <a:t>Bin shares fixed</a:t>
            </a:r>
            <a:endParaRPr lang="en-US" sz="1200" dirty="0"/>
          </a:p>
        </p:txBody>
      </p:sp>
      <p:sp>
        <p:nvSpPr>
          <p:cNvPr id="13" name="Text 11"/>
          <p:cNvSpPr/>
          <p:nvPr/>
        </p:nvSpPr>
        <p:spPr>
          <a:xfrm>
            <a:off x="8225367" y="2112367"/>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Bin LP</a:t>
            </a:r>
            <a:endParaRPr lang="en-US" sz="2000" dirty="0"/>
          </a:p>
        </p:txBody>
      </p:sp>
      <p:sp>
        <p:nvSpPr>
          <p:cNvPr id="14" name="Text 12"/>
          <p:cNvSpPr/>
          <p:nvPr/>
        </p:nvSpPr>
        <p:spPr>
          <a:xfrm>
            <a:off x="8225367" y="2493367"/>
            <a:ext cx="3008630"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With the bin shares fixed, the best bin recipes are easy to find. Alternating both LPs never raises the cost.</a:t>
            </a:r>
            <a:endParaRPr lang="en-US" sz="1600" dirty="0"/>
          </a:p>
        </p:txBody>
      </p:sp>
      <p:sp>
        <p:nvSpPr>
          <p:cNvPr id="15" name="Text 13"/>
          <p:cNvSpPr/>
          <p:nvPr/>
        </p:nvSpPr>
        <p:spPr>
          <a:xfrm>
            <a:off x="815975" y="4121085"/>
            <a:ext cx="10560050" cy="926571"/>
          </a:xfrm>
          <a:prstGeom prst="roundRect">
            <a:avLst>
              <a:gd name="adj" fmla="val 13364"/>
            </a:avLst>
          </a:prstGeom>
          <a:solidFill>
            <a:srgbClr val="FDFDFB"/>
          </a:solidFill>
          <a:ln w="6350">
            <a:solidFill>
              <a:srgbClr val="DDE2EA"/>
            </a:solidFill>
            <a:prstDash val="solid"/>
          </a:ln>
        </p:spPr>
        <p:txBody>
          <a:bodyPr wrap="square" lIns="218791" tIns="142591" rIns="0" bIns="117191"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On af-1 the Diet LP bound (295.93) equals Baron’s 2-hour bound. LP = linear program: solved exactly and fast.</a:t>
            </a:r>
            <a:endParaRPr lang="en-US" sz="1600" dirty="0"/>
          </a:p>
        </p:txBody>
      </p:sp>
      <p:sp>
        <p:nvSpPr>
          <p:cNvPr id="16" name="Text 14"/>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17" name="Text 15"/>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5 / 13</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The method in six steps</a:t>
            </a:r>
            <a:endParaRPr lang="en-US" sz="3200" dirty="0"/>
          </a:p>
        </p:txBody>
      </p:sp>
      <p:sp>
        <p:nvSpPr>
          <p:cNvPr id="3" name="Shape 1"/>
          <p:cNvSpPr/>
          <p:nvPr/>
        </p:nvSpPr>
        <p:spPr>
          <a:xfrm>
            <a:off x="815975" y="1440790"/>
            <a:ext cx="3414183" cy="1764771"/>
          </a:xfrm>
          <a:prstGeom prst="roundRect">
            <a:avLst>
              <a:gd name="adj" fmla="val 7016"/>
            </a:avLst>
          </a:prstGeom>
          <a:solidFill>
            <a:srgbClr val="FDFDFB"/>
          </a:solidFill>
          <a:ln w="6350">
            <a:solidFill>
              <a:srgbClr val="DDE2EA"/>
            </a:solidFill>
            <a:prstDash val="solid"/>
          </a:ln>
        </p:spPr>
      </p:sp>
      <p:sp>
        <p:nvSpPr>
          <p:cNvPr id="4" name="Text 2"/>
          <p:cNvSpPr/>
          <p:nvPr/>
        </p:nvSpPr>
        <p:spPr>
          <a:xfrm>
            <a:off x="1020233" y="1645047"/>
            <a:ext cx="14327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CC"/>
                </a:solidFill>
                <a:latin typeface="DM Sans" pitchFamily="34" charset="0"/>
                <a:ea typeface="DM Sans" pitchFamily="34" charset="-122"/>
                <a:cs typeface="DM Sans" pitchFamily="34" charset="-120"/>
              </a:rPr>
              <a:t>1</a:t>
            </a:r>
            <a:endParaRPr lang="en-US" sz="2000" dirty="0"/>
          </a:p>
        </p:txBody>
      </p:sp>
      <p:sp>
        <p:nvSpPr>
          <p:cNvPr id="5" name="Text 3"/>
          <p:cNvSpPr/>
          <p:nvPr/>
        </p:nvSpPr>
        <p:spPr>
          <a:xfrm>
            <a:off x="3497726" y="1678056"/>
            <a:ext cx="528174" cy="289520"/>
          </a:xfrm>
          <a:custGeom>
            <a:avLst/>
            <a:gdLst/>
            <a:ahLst/>
            <a:cxnLst/>
            <a:rect l="l" t="t" r="r" b="b"/>
            <a:pathLst>
              <a:path w="528174" h="289520">
                <a:moveTo>
                  <a:pt x="144760" y="0"/>
                </a:moveTo>
                <a:lnTo>
                  <a:pt x="383414" y="0"/>
                </a:lnTo>
                <a:arcTo hR="144760" wR="144760" stAng="16200000" swAng="5400000"/>
                <a:lnTo>
                  <a:pt x="5281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F5FCC"/>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DM Sans" pitchFamily="34" charset="0"/>
                <a:ea typeface="DM Sans" pitchFamily="34" charset="-122"/>
                <a:cs typeface="DM Sans" pitchFamily="34" charset="-120"/>
              </a:rPr>
              <a:t>New</a:t>
            </a:r>
            <a:endParaRPr lang="en-US" sz="1200" dirty="0"/>
          </a:p>
        </p:txBody>
      </p:sp>
      <p:sp>
        <p:nvSpPr>
          <p:cNvPr id="6" name="Text 4"/>
          <p:cNvSpPr/>
          <p:nvPr/>
        </p:nvSpPr>
        <p:spPr>
          <a:xfrm>
            <a:off x="1020233" y="2064147"/>
            <a:ext cx="30958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Ideal recipes</a:t>
            </a:r>
            <a:endParaRPr lang="en-US" sz="2000" dirty="0"/>
          </a:p>
        </p:txBody>
      </p:sp>
      <p:sp>
        <p:nvSpPr>
          <p:cNvPr id="7" name="Text 5"/>
          <p:cNvSpPr/>
          <p:nvPr/>
        </p:nvSpPr>
        <p:spPr>
          <a:xfrm>
            <a:off x="1020233" y="2432447"/>
            <a:ext cx="30958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Diet LP: each product’s ideal recipe.</a:t>
            </a:r>
            <a:endParaRPr lang="en-US" sz="1600" dirty="0"/>
          </a:p>
        </p:txBody>
      </p:sp>
      <p:sp>
        <p:nvSpPr>
          <p:cNvPr id="8" name="Shape 6"/>
          <p:cNvSpPr/>
          <p:nvPr/>
        </p:nvSpPr>
        <p:spPr>
          <a:xfrm>
            <a:off x="4388908" y="1440790"/>
            <a:ext cx="3414183" cy="1764771"/>
          </a:xfrm>
          <a:prstGeom prst="roundRect">
            <a:avLst>
              <a:gd name="adj" fmla="val 7016"/>
            </a:avLst>
          </a:prstGeom>
          <a:solidFill>
            <a:srgbClr val="FDFDFB"/>
          </a:solidFill>
          <a:ln w="6350">
            <a:solidFill>
              <a:srgbClr val="DDE2EA"/>
            </a:solidFill>
            <a:prstDash val="solid"/>
          </a:ln>
        </p:spPr>
      </p:sp>
      <p:sp>
        <p:nvSpPr>
          <p:cNvPr id="9" name="Text 7"/>
          <p:cNvSpPr/>
          <p:nvPr/>
        </p:nvSpPr>
        <p:spPr>
          <a:xfrm>
            <a:off x="4593167" y="1645047"/>
            <a:ext cx="19737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CC"/>
                </a:solidFill>
                <a:latin typeface="DM Sans" pitchFamily="34" charset="0"/>
                <a:ea typeface="DM Sans" pitchFamily="34" charset="-122"/>
                <a:cs typeface="DM Sans" pitchFamily="34" charset="-120"/>
              </a:rPr>
              <a:t>2</a:t>
            </a:r>
            <a:endParaRPr lang="en-US" sz="2000" dirty="0"/>
          </a:p>
        </p:txBody>
      </p:sp>
      <p:sp>
        <p:nvSpPr>
          <p:cNvPr id="10" name="Text 8"/>
          <p:cNvSpPr/>
          <p:nvPr/>
        </p:nvSpPr>
        <p:spPr>
          <a:xfrm>
            <a:off x="6741517" y="1678056"/>
            <a:ext cx="857316" cy="289520"/>
          </a:xfrm>
          <a:custGeom>
            <a:avLst/>
            <a:gdLst/>
            <a:ahLst/>
            <a:cxnLst/>
            <a:rect l="l" t="t" r="r" b="b"/>
            <a:pathLst>
              <a:path w="857316" h="289520">
                <a:moveTo>
                  <a:pt x="144760" y="0"/>
                </a:moveTo>
                <a:lnTo>
                  <a:pt x="712556" y="0"/>
                </a:lnTo>
                <a:arcTo hR="144760" wR="144760" stAng="16200000" swAng="5400000"/>
                <a:lnTo>
                  <a:pt x="857316" y="144760"/>
                </a:lnTo>
                <a:arcTo hR="144760" wR="144760" stAng="0" swAng="5400000"/>
                <a:lnTo>
                  <a:pt x="144760" y="289520"/>
                </a:lnTo>
                <a:arcTo hR="144760" wR="144760" stAng="5400000" swAng="5400000"/>
                <a:lnTo>
                  <a:pt x="0" y="144760"/>
                </a:lnTo>
                <a:arcTo hR="144760" wR="144760" stAng="10800000" swAng="5400000"/>
                <a:close/>
              </a:path>
            </a:pathLst>
          </a:custGeom>
          <a:solidFill>
            <a:srgbClr val="F6D9C3"/>
          </a:solidFill>
          <a:ln/>
        </p:spPr>
        <p:txBody>
          <a:bodyPr wrap="none" lIns="0" tIns="0" rIns="0" bIns="0" rtlCol="0" anchor="ctr">
            <a:normAutofit/>
          </a:bodyPr>
          <a:lstStyle/>
          <a:p>
            <a:pPr algn="ctr" indent="0" marL="0">
              <a:lnSpc>
                <a:spcPts val="1680"/>
              </a:lnSpc>
              <a:buNone/>
            </a:pPr>
            <a:r>
              <a:rPr lang="en-US" sz="1200" b="1" dirty="0">
                <a:solidFill>
                  <a:srgbClr val="7A3410"/>
                </a:solidFill>
                <a:latin typeface="DM Sans" pitchFamily="34" charset="0"/>
                <a:ea typeface="DM Sans" pitchFamily="34" charset="-122"/>
                <a:cs typeface="DM Sans" pitchFamily="34" charset="-120"/>
              </a:rPr>
              <a:t>Modified</a:t>
            </a:r>
            <a:endParaRPr lang="en-US" sz="1200" dirty="0"/>
          </a:p>
        </p:txBody>
      </p:sp>
      <p:sp>
        <p:nvSpPr>
          <p:cNvPr id="11" name="Text 9"/>
          <p:cNvSpPr/>
          <p:nvPr/>
        </p:nvSpPr>
        <p:spPr>
          <a:xfrm>
            <a:off x="4593167" y="2064147"/>
            <a:ext cx="30958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Smart start</a:t>
            </a:r>
            <a:endParaRPr lang="en-US" sz="2000" dirty="0"/>
          </a:p>
        </p:txBody>
      </p:sp>
      <p:sp>
        <p:nvSpPr>
          <p:cNvPr id="12" name="Text 10"/>
          <p:cNvSpPr/>
          <p:nvPr/>
        </p:nvSpPr>
        <p:spPr>
          <a:xfrm>
            <a:off x="4593167" y="2432447"/>
            <a:ext cx="30958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Group similar recipes into starting bins.</a:t>
            </a:r>
            <a:endParaRPr lang="en-US" sz="1600" dirty="0"/>
          </a:p>
        </p:txBody>
      </p:sp>
      <p:sp>
        <p:nvSpPr>
          <p:cNvPr id="13" name="Shape 11"/>
          <p:cNvSpPr/>
          <p:nvPr/>
        </p:nvSpPr>
        <p:spPr>
          <a:xfrm>
            <a:off x="7961842" y="1440790"/>
            <a:ext cx="3414183" cy="1764771"/>
          </a:xfrm>
          <a:prstGeom prst="roundRect">
            <a:avLst>
              <a:gd name="adj" fmla="val 7016"/>
            </a:avLst>
          </a:prstGeom>
          <a:solidFill>
            <a:srgbClr val="FDFDFB"/>
          </a:solidFill>
          <a:ln w="6350">
            <a:solidFill>
              <a:srgbClr val="DDE2EA"/>
            </a:solidFill>
            <a:prstDash val="solid"/>
          </a:ln>
        </p:spPr>
      </p:sp>
      <p:sp>
        <p:nvSpPr>
          <p:cNvPr id="14" name="Text 12"/>
          <p:cNvSpPr/>
          <p:nvPr/>
        </p:nvSpPr>
        <p:spPr>
          <a:xfrm>
            <a:off x="8166100" y="1645047"/>
            <a:ext cx="20399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CC"/>
                </a:solidFill>
                <a:latin typeface="DM Sans" pitchFamily="34" charset="0"/>
                <a:ea typeface="DM Sans" pitchFamily="34" charset="-122"/>
                <a:cs typeface="DM Sans" pitchFamily="34" charset="-120"/>
              </a:rPr>
              <a:t>3</a:t>
            </a:r>
            <a:endParaRPr lang="en-US" sz="2000" dirty="0"/>
          </a:p>
        </p:txBody>
      </p:sp>
      <p:sp>
        <p:nvSpPr>
          <p:cNvPr id="15" name="Text 13"/>
          <p:cNvSpPr/>
          <p:nvPr/>
        </p:nvSpPr>
        <p:spPr>
          <a:xfrm>
            <a:off x="10643592" y="1678056"/>
            <a:ext cx="528174" cy="289520"/>
          </a:xfrm>
          <a:custGeom>
            <a:avLst/>
            <a:gdLst/>
            <a:ahLst/>
            <a:cxnLst/>
            <a:rect l="l" t="t" r="r" b="b"/>
            <a:pathLst>
              <a:path w="528174" h="289520">
                <a:moveTo>
                  <a:pt x="144760" y="0"/>
                </a:moveTo>
                <a:lnTo>
                  <a:pt x="383414" y="0"/>
                </a:lnTo>
                <a:arcTo hR="144760" wR="144760" stAng="16200000" swAng="5400000"/>
                <a:lnTo>
                  <a:pt x="5281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F5FCC"/>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DM Sans" pitchFamily="34" charset="0"/>
                <a:ea typeface="DM Sans" pitchFamily="34" charset="-122"/>
                <a:cs typeface="DM Sans" pitchFamily="34" charset="-120"/>
              </a:rPr>
              <a:t>New</a:t>
            </a:r>
            <a:endParaRPr lang="en-US" sz="1200" dirty="0"/>
          </a:p>
        </p:txBody>
      </p:sp>
      <p:sp>
        <p:nvSpPr>
          <p:cNvPr id="16" name="Text 14"/>
          <p:cNvSpPr/>
          <p:nvPr/>
        </p:nvSpPr>
        <p:spPr>
          <a:xfrm>
            <a:off x="8166100" y="2064147"/>
            <a:ext cx="30958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Repair</a:t>
            </a:r>
            <a:endParaRPr lang="en-US" sz="2000" dirty="0"/>
          </a:p>
        </p:txBody>
      </p:sp>
      <p:sp>
        <p:nvSpPr>
          <p:cNvPr id="17" name="Text 15"/>
          <p:cNvSpPr/>
          <p:nvPr/>
        </p:nvSpPr>
        <p:spPr>
          <a:xfrm>
            <a:off x="8166100" y="2432447"/>
            <a:ext cx="30958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Product and bin LPs make the start feasible.</a:t>
            </a:r>
            <a:endParaRPr lang="en-US" sz="1600" dirty="0"/>
          </a:p>
        </p:txBody>
      </p:sp>
      <p:sp>
        <p:nvSpPr>
          <p:cNvPr id="18" name="Shape 16"/>
          <p:cNvSpPr/>
          <p:nvPr/>
        </p:nvSpPr>
        <p:spPr>
          <a:xfrm>
            <a:off x="815975" y="3364309"/>
            <a:ext cx="3414183" cy="1764771"/>
          </a:xfrm>
          <a:prstGeom prst="roundRect">
            <a:avLst>
              <a:gd name="adj" fmla="val 7016"/>
            </a:avLst>
          </a:prstGeom>
          <a:solidFill>
            <a:srgbClr val="FDFDFB"/>
          </a:solidFill>
          <a:ln w="6350">
            <a:solidFill>
              <a:srgbClr val="DDE2EA"/>
            </a:solidFill>
            <a:prstDash val="solid"/>
          </a:ln>
        </p:spPr>
      </p:sp>
      <p:sp>
        <p:nvSpPr>
          <p:cNvPr id="19" name="Text 17"/>
          <p:cNvSpPr/>
          <p:nvPr/>
        </p:nvSpPr>
        <p:spPr>
          <a:xfrm>
            <a:off x="1020233" y="3568570"/>
            <a:ext cx="2159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CC"/>
                </a:solidFill>
                <a:latin typeface="DM Sans" pitchFamily="34" charset="0"/>
                <a:ea typeface="DM Sans" pitchFamily="34" charset="-122"/>
                <a:cs typeface="DM Sans" pitchFamily="34" charset="-120"/>
              </a:rPr>
              <a:t>4</a:t>
            </a:r>
            <a:endParaRPr lang="en-US" sz="2000" dirty="0"/>
          </a:p>
        </p:txBody>
      </p:sp>
      <p:sp>
        <p:nvSpPr>
          <p:cNvPr id="20" name="Text 18"/>
          <p:cNvSpPr/>
          <p:nvPr/>
        </p:nvSpPr>
        <p:spPr>
          <a:xfrm>
            <a:off x="3157934" y="3601576"/>
            <a:ext cx="867966" cy="289520"/>
          </a:xfrm>
          <a:custGeom>
            <a:avLst/>
            <a:gdLst/>
            <a:ahLst/>
            <a:cxnLst/>
            <a:rect l="l" t="t" r="r" b="b"/>
            <a:pathLst>
              <a:path w="867966" h="289520">
                <a:moveTo>
                  <a:pt x="144760" y="0"/>
                </a:moveTo>
                <a:lnTo>
                  <a:pt x="723205" y="0"/>
                </a:lnTo>
                <a:arcTo hR="144760" wR="144760" stAng="16200000" swAng="5400000"/>
                <a:lnTo>
                  <a:pt x="867966" y="144760"/>
                </a:lnTo>
                <a:arcTo hR="144760" wR="144760" stAng="0" swAng="5400000"/>
                <a:lnTo>
                  <a:pt x="144760" y="289520"/>
                </a:lnTo>
                <a:arcTo hR="144760" wR="144760" stAng="5400000" swAng="5400000"/>
                <a:lnTo>
                  <a:pt x="0" y="144760"/>
                </a:lnTo>
                <a:arcTo hR="144760" wR="144760" stAng="10800000" swAng="5400000"/>
                <a:close/>
              </a:path>
            </a:pathLst>
          </a:custGeom>
          <a:solidFill>
            <a:srgbClr val="DDE2EA"/>
          </a:solidFill>
          <a:ln/>
        </p:spPr>
        <p:txBody>
          <a:bodyPr wrap="none" lIns="0" tIns="0" rIns="0" bIns="0" rtlCol="0" anchor="ctr">
            <a:normAutofit/>
          </a:bodyPr>
          <a:lstStyle/>
          <a:p>
            <a:pPr algn="ctr" indent="0" marL="0">
              <a:lnSpc>
                <a:spcPts val="1680"/>
              </a:lnSpc>
              <a:buNone/>
            </a:pPr>
            <a:r>
              <a:rPr lang="en-US" sz="1200" b="1" dirty="0">
                <a:solidFill>
                  <a:srgbClr val="3F4A5C"/>
                </a:solidFill>
                <a:latin typeface="DM Sans" pitchFamily="34" charset="0"/>
                <a:ea typeface="DM Sans" pitchFamily="34" charset="-122"/>
                <a:cs typeface="DM Sans" pitchFamily="34" charset="-120"/>
              </a:rPr>
              <a:t>Retained</a:t>
            </a:r>
            <a:endParaRPr lang="en-US" sz="1200" dirty="0"/>
          </a:p>
        </p:txBody>
      </p:sp>
      <p:sp>
        <p:nvSpPr>
          <p:cNvPr id="21" name="Text 19"/>
          <p:cNvSpPr/>
          <p:nvPr/>
        </p:nvSpPr>
        <p:spPr>
          <a:xfrm>
            <a:off x="1020233" y="3987670"/>
            <a:ext cx="30958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Filter-SLP</a:t>
            </a:r>
            <a:endParaRPr lang="en-US" sz="2000" dirty="0"/>
          </a:p>
        </p:txBody>
      </p:sp>
      <p:sp>
        <p:nvSpPr>
          <p:cNvPr id="22" name="Text 20"/>
          <p:cNvSpPr/>
          <p:nvPr/>
        </p:nvSpPr>
        <p:spPr>
          <a:xfrm>
            <a:off x="1020233" y="4355970"/>
            <a:ext cx="309583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The IA-1 solver, unchanged.</a:t>
            </a:r>
            <a:endParaRPr lang="en-US" sz="1600" dirty="0"/>
          </a:p>
        </p:txBody>
      </p:sp>
      <p:sp>
        <p:nvSpPr>
          <p:cNvPr id="23" name="Shape 21"/>
          <p:cNvSpPr/>
          <p:nvPr/>
        </p:nvSpPr>
        <p:spPr>
          <a:xfrm>
            <a:off x="4388908" y="3364309"/>
            <a:ext cx="3414183" cy="1764771"/>
          </a:xfrm>
          <a:prstGeom prst="roundRect">
            <a:avLst>
              <a:gd name="adj" fmla="val 7016"/>
            </a:avLst>
          </a:prstGeom>
          <a:solidFill>
            <a:srgbClr val="FDFDFB"/>
          </a:solidFill>
          <a:ln w="6350">
            <a:solidFill>
              <a:srgbClr val="DDE2EA"/>
            </a:solidFill>
            <a:prstDash val="solid"/>
          </a:ln>
        </p:spPr>
      </p:sp>
      <p:sp>
        <p:nvSpPr>
          <p:cNvPr id="24" name="Text 22"/>
          <p:cNvSpPr/>
          <p:nvPr/>
        </p:nvSpPr>
        <p:spPr>
          <a:xfrm>
            <a:off x="4593167" y="3568570"/>
            <a:ext cx="20855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CC"/>
                </a:solidFill>
                <a:latin typeface="DM Sans" pitchFamily="34" charset="0"/>
                <a:ea typeface="DM Sans" pitchFamily="34" charset="-122"/>
                <a:cs typeface="DM Sans" pitchFamily="34" charset="-120"/>
              </a:rPr>
              <a:t>5</a:t>
            </a:r>
            <a:endParaRPr lang="en-US" sz="2000" dirty="0"/>
          </a:p>
        </p:txBody>
      </p:sp>
      <p:sp>
        <p:nvSpPr>
          <p:cNvPr id="25" name="Text 23"/>
          <p:cNvSpPr/>
          <p:nvPr/>
        </p:nvSpPr>
        <p:spPr>
          <a:xfrm>
            <a:off x="7070659" y="3601576"/>
            <a:ext cx="528174" cy="289520"/>
          </a:xfrm>
          <a:custGeom>
            <a:avLst/>
            <a:gdLst/>
            <a:ahLst/>
            <a:cxnLst/>
            <a:rect l="l" t="t" r="r" b="b"/>
            <a:pathLst>
              <a:path w="528174" h="289520">
                <a:moveTo>
                  <a:pt x="144760" y="0"/>
                </a:moveTo>
                <a:lnTo>
                  <a:pt x="383414" y="0"/>
                </a:lnTo>
                <a:arcTo hR="144760" wR="144760" stAng="16200000" swAng="5400000"/>
                <a:lnTo>
                  <a:pt x="5281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F5FCC"/>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DM Sans" pitchFamily="34" charset="0"/>
                <a:ea typeface="DM Sans" pitchFamily="34" charset="-122"/>
                <a:cs typeface="DM Sans" pitchFamily="34" charset="-120"/>
              </a:rPr>
              <a:t>New</a:t>
            </a:r>
            <a:endParaRPr lang="en-US" sz="1200" dirty="0"/>
          </a:p>
        </p:txBody>
      </p:sp>
      <p:sp>
        <p:nvSpPr>
          <p:cNvPr id="26" name="Text 24"/>
          <p:cNvSpPr/>
          <p:nvPr/>
        </p:nvSpPr>
        <p:spPr>
          <a:xfrm>
            <a:off x="4593167" y="3987670"/>
            <a:ext cx="30958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Polish</a:t>
            </a:r>
            <a:endParaRPr lang="en-US" sz="2000" dirty="0"/>
          </a:p>
        </p:txBody>
      </p:sp>
      <p:sp>
        <p:nvSpPr>
          <p:cNvPr id="27" name="Text 25"/>
          <p:cNvSpPr/>
          <p:nvPr/>
        </p:nvSpPr>
        <p:spPr>
          <a:xfrm>
            <a:off x="4593167" y="4355970"/>
            <a:ext cx="30958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LPs clean up the end point. Never costlier.</a:t>
            </a:r>
            <a:endParaRPr lang="en-US" sz="1600" dirty="0"/>
          </a:p>
        </p:txBody>
      </p:sp>
      <p:sp>
        <p:nvSpPr>
          <p:cNvPr id="28" name="Shape 26"/>
          <p:cNvSpPr/>
          <p:nvPr/>
        </p:nvSpPr>
        <p:spPr>
          <a:xfrm>
            <a:off x="7961842" y="3364309"/>
            <a:ext cx="3414183" cy="1764771"/>
          </a:xfrm>
          <a:prstGeom prst="roundRect">
            <a:avLst>
              <a:gd name="adj" fmla="val 7016"/>
            </a:avLst>
          </a:prstGeom>
          <a:solidFill>
            <a:srgbClr val="FDFDFB"/>
          </a:solidFill>
          <a:ln w="6350">
            <a:solidFill>
              <a:srgbClr val="DDE2EA"/>
            </a:solidFill>
            <a:prstDash val="solid"/>
          </a:ln>
        </p:spPr>
      </p:sp>
      <p:sp>
        <p:nvSpPr>
          <p:cNvPr id="29" name="Text 27"/>
          <p:cNvSpPr/>
          <p:nvPr/>
        </p:nvSpPr>
        <p:spPr>
          <a:xfrm>
            <a:off x="8166100" y="3568570"/>
            <a:ext cx="21186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CC"/>
                </a:solidFill>
                <a:latin typeface="DM Sans" pitchFamily="34" charset="0"/>
                <a:ea typeface="DM Sans" pitchFamily="34" charset="-122"/>
                <a:cs typeface="DM Sans" pitchFamily="34" charset="-120"/>
              </a:rPr>
              <a:t>6</a:t>
            </a:r>
            <a:endParaRPr lang="en-US" sz="2000" dirty="0"/>
          </a:p>
        </p:txBody>
      </p:sp>
      <p:sp>
        <p:nvSpPr>
          <p:cNvPr id="30" name="Text 28"/>
          <p:cNvSpPr/>
          <p:nvPr/>
        </p:nvSpPr>
        <p:spPr>
          <a:xfrm>
            <a:off x="10643592" y="3601576"/>
            <a:ext cx="528174" cy="289520"/>
          </a:xfrm>
          <a:custGeom>
            <a:avLst/>
            <a:gdLst/>
            <a:ahLst/>
            <a:cxnLst/>
            <a:rect l="l" t="t" r="r" b="b"/>
            <a:pathLst>
              <a:path w="528174" h="289520">
                <a:moveTo>
                  <a:pt x="144760" y="0"/>
                </a:moveTo>
                <a:lnTo>
                  <a:pt x="383414" y="0"/>
                </a:lnTo>
                <a:arcTo hR="144760" wR="144760" stAng="16200000" swAng="5400000"/>
                <a:lnTo>
                  <a:pt x="5281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F5FCC"/>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DM Sans" pitchFamily="34" charset="0"/>
                <a:ea typeface="DM Sans" pitchFamily="34" charset="-122"/>
                <a:cs typeface="DM Sans" pitchFamily="34" charset="-120"/>
              </a:rPr>
              <a:t>New</a:t>
            </a:r>
            <a:endParaRPr lang="en-US" sz="1200" dirty="0"/>
          </a:p>
        </p:txBody>
      </p:sp>
      <p:sp>
        <p:nvSpPr>
          <p:cNvPr id="31" name="Text 29"/>
          <p:cNvSpPr/>
          <p:nvPr/>
        </p:nvSpPr>
        <p:spPr>
          <a:xfrm>
            <a:off x="8166100" y="3987670"/>
            <a:ext cx="30958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Learn from the best</a:t>
            </a:r>
            <a:endParaRPr lang="en-US" sz="2000" dirty="0"/>
          </a:p>
        </p:txBody>
      </p:sp>
      <p:sp>
        <p:nvSpPr>
          <p:cNvPr id="32" name="Text 30"/>
          <p:cNvSpPr/>
          <p:nvPr/>
        </p:nvSpPr>
        <p:spPr>
          <a:xfrm>
            <a:off x="8166100" y="4355970"/>
            <a:ext cx="30958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Nudge a bin, test 4 options, keep the best.</a:t>
            </a:r>
            <a:endParaRPr lang="en-US" sz="1600" dirty="0"/>
          </a:p>
        </p:txBody>
      </p:sp>
      <p:sp>
        <p:nvSpPr>
          <p:cNvPr id="33" name="Text 31"/>
          <p:cNvSpPr/>
          <p:nvPr/>
        </p:nvSpPr>
        <p:spPr>
          <a:xfrm>
            <a:off x="812800" y="5310057"/>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The first 3 runs, and any run after 6 without improvement, restart with a fresh smart start. One pass = one run; 20 runs per instance.</a:t>
            </a:r>
            <a:endParaRPr lang="en-US" sz="1300" dirty="0"/>
          </a:p>
        </p:txBody>
      </p:sp>
      <p:sp>
        <p:nvSpPr>
          <p:cNvPr id="34" name="Text 32"/>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35" name="Text 33"/>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6 / 13</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EF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The smart move: learn from regret</a:t>
            </a:r>
            <a:endParaRPr lang="en-US" sz="3200" dirty="0"/>
          </a:p>
        </p:txBody>
      </p:sp>
      <p:sp>
        <p:nvSpPr>
          <p:cNvPr id="3" name="Shape 1"/>
          <p:cNvSpPr/>
          <p:nvPr/>
        </p:nvSpPr>
        <p:spPr>
          <a:xfrm>
            <a:off x="815975" y="1466190"/>
            <a:ext cx="5851128" cy="875771"/>
          </a:xfrm>
          <a:prstGeom prst="roundRect">
            <a:avLst>
              <a:gd name="adj" fmla="val 14139"/>
            </a:avLst>
          </a:prstGeom>
          <a:solidFill>
            <a:srgbClr val="FDFDFB"/>
          </a:solidFill>
          <a:ln w="6350">
            <a:solidFill>
              <a:srgbClr val="DDE2EA"/>
            </a:solidFill>
            <a:prstDash val="solid"/>
          </a:ln>
        </p:spPr>
      </p:sp>
      <p:sp>
        <p:nvSpPr>
          <p:cNvPr id="4" name="Text 2"/>
          <p:cNvSpPr/>
          <p:nvPr/>
        </p:nvSpPr>
        <p:spPr>
          <a:xfrm>
            <a:off x="994833" y="172627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1</a:t>
            </a:r>
            <a:endParaRPr lang="en-US" sz="1600" dirty="0"/>
          </a:p>
        </p:txBody>
      </p:sp>
      <p:sp>
        <p:nvSpPr>
          <p:cNvPr id="5" name="Text 3"/>
          <p:cNvSpPr/>
          <p:nvPr/>
        </p:nvSpPr>
        <p:spPr>
          <a:xfrm>
            <a:off x="1477433" y="1619647"/>
            <a:ext cx="516113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Pick a product with high regret. It pays the most for sharing.</a:t>
            </a:r>
            <a:endParaRPr lang="en-US" sz="1600" dirty="0"/>
          </a:p>
        </p:txBody>
      </p:sp>
      <p:sp>
        <p:nvSpPr>
          <p:cNvPr id="6" name="Shape 4"/>
          <p:cNvSpPr/>
          <p:nvPr/>
        </p:nvSpPr>
        <p:spPr>
          <a:xfrm>
            <a:off x="815975" y="2475309"/>
            <a:ext cx="5851128" cy="875771"/>
          </a:xfrm>
          <a:prstGeom prst="roundRect">
            <a:avLst>
              <a:gd name="adj" fmla="val 14139"/>
            </a:avLst>
          </a:prstGeom>
          <a:solidFill>
            <a:srgbClr val="FDFDFB"/>
          </a:solidFill>
          <a:ln w="6350">
            <a:solidFill>
              <a:srgbClr val="DDE2EA"/>
            </a:solidFill>
            <a:prstDash val="solid"/>
          </a:ln>
        </p:spPr>
      </p:sp>
      <p:sp>
        <p:nvSpPr>
          <p:cNvPr id="7" name="Text 5"/>
          <p:cNvSpPr/>
          <p:nvPr/>
        </p:nvSpPr>
        <p:spPr>
          <a:xfrm>
            <a:off x="994833" y="273539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2</a:t>
            </a:r>
            <a:endParaRPr lang="en-US" sz="1600" dirty="0"/>
          </a:p>
        </p:txBody>
      </p:sp>
      <p:sp>
        <p:nvSpPr>
          <p:cNvPr id="8" name="Text 6"/>
          <p:cNvSpPr/>
          <p:nvPr/>
        </p:nvSpPr>
        <p:spPr>
          <a:xfrm>
            <a:off x="1477433" y="2628770"/>
            <a:ext cx="516113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Pick a bin and blend its recipe toward that product’s ideal recipe.</a:t>
            </a:r>
            <a:endParaRPr lang="en-US" sz="1600" dirty="0"/>
          </a:p>
        </p:txBody>
      </p:sp>
      <p:sp>
        <p:nvSpPr>
          <p:cNvPr id="9" name="Shape 7"/>
          <p:cNvSpPr/>
          <p:nvPr/>
        </p:nvSpPr>
        <p:spPr>
          <a:xfrm>
            <a:off x="815975" y="3484432"/>
            <a:ext cx="5851128" cy="875771"/>
          </a:xfrm>
          <a:prstGeom prst="roundRect">
            <a:avLst>
              <a:gd name="adj" fmla="val 14139"/>
            </a:avLst>
          </a:prstGeom>
          <a:solidFill>
            <a:srgbClr val="FDFDFB"/>
          </a:solidFill>
          <a:ln w="6350">
            <a:solidFill>
              <a:srgbClr val="DDE2EA"/>
            </a:solidFill>
            <a:prstDash val="solid"/>
          </a:ln>
        </p:spPr>
      </p:sp>
      <p:sp>
        <p:nvSpPr>
          <p:cNvPr id="10" name="Text 8"/>
          <p:cNvSpPr/>
          <p:nvPr/>
        </p:nvSpPr>
        <p:spPr>
          <a:xfrm>
            <a:off x="994833" y="374451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3</a:t>
            </a:r>
            <a:endParaRPr lang="en-US" sz="1600" dirty="0"/>
          </a:p>
        </p:txBody>
      </p:sp>
      <p:sp>
        <p:nvSpPr>
          <p:cNvPr id="11" name="Text 9"/>
          <p:cNvSpPr/>
          <p:nvPr/>
        </p:nvSpPr>
        <p:spPr>
          <a:xfrm>
            <a:off x="1477433" y="3637890"/>
            <a:ext cx="516113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Build 4 such candidates, repair each, and test each with a short 10-iteration SLP.</a:t>
            </a:r>
            <a:endParaRPr lang="en-US" sz="1600" dirty="0"/>
          </a:p>
        </p:txBody>
      </p:sp>
      <p:sp>
        <p:nvSpPr>
          <p:cNvPr id="12" name="Shape 10"/>
          <p:cNvSpPr/>
          <p:nvPr/>
        </p:nvSpPr>
        <p:spPr>
          <a:xfrm>
            <a:off x="815975" y="4493552"/>
            <a:ext cx="5851128" cy="662517"/>
          </a:xfrm>
          <a:prstGeom prst="roundRect">
            <a:avLst>
              <a:gd name="adj" fmla="val 18690"/>
            </a:avLst>
          </a:prstGeom>
          <a:solidFill>
            <a:srgbClr val="FDFDFB"/>
          </a:solidFill>
          <a:ln w="6350">
            <a:solidFill>
              <a:srgbClr val="DDE2EA"/>
            </a:solidFill>
            <a:prstDash val="solid"/>
          </a:ln>
        </p:spPr>
      </p:sp>
      <p:sp>
        <p:nvSpPr>
          <p:cNvPr id="13" name="Text 11"/>
          <p:cNvSpPr/>
          <p:nvPr/>
        </p:nvSpPr>
        <p:spPr>
          <a:xfrm>
            <a:off x="994833" y="4647009"/>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F5FCC"/>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DM Sans" pitchFamily="34" charset="0"/>
                <a:ea typeface="DM Sans" pitchFamily="34" charset="-122"/>
                <a:cs typeface="DM Sans" pitchFamily="34" charset="-120"/>
              </a:rPr>
              <a:t>4</a:t>
            </a:r>
            <a:endParaRPr lang="en-US" sz="1600" dirty="0"/>
          </a:p>
        </p:txBody>
      </p:sp>
      <p:sp>
        <p:nvSpPr>
          <p:cNvPr id="14" name="Text 12"/>
          <p:cNvSpPr/>
          <p:nvPr/>
        </p:nvSpPr>
        <p:spPr>
          <a:xfrm>
            <a:off x="1477433" y="4682598"/>
            <a:ext cx="518649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Continue the full SLP from the best candidate.</a:t>
            </a:r>
            <a:endParaRPr lang="en-US" sz="1600" dirty="0"/>
          </a:p>
        </p:txBody>
      </p:sp>
      <p:sp>
        <p:nvSpPr>
          <p:cNvPr id="15" name="Shape 13"/>
          <p:cNvSpPr/>
          <p:nvPr/>
        </p:nvSpPr>
        <p:spPr>
          <a:xfrm>
            <a:off x="6876653" y="1466190"/>
            <a:ext cx="4499372" cy="1619912"/>
          </a:xfrm>
          <a:prstGeom prst="roundRect">
            <a:avLst>
              <a:gd name="adj" fmla="val 7644"/>
            </a:avLst>
          </a:prstGeom>
          <a:solidFill>
            <a:srgbClr val="FDFDFB"/>
          </a:solidFill>
          <a:ln w="6350">
            <a:solidFill>
              <a:srgbClr val="DDE2EA"/>
            </a:solidFill>
            <a:prstDash val="solid"/>
          </a:ln>
        </p:spPr>
      </p:sp>
      <p:sp>
        <p:nvSpPr>
          <p:cNvPr id="16" name="Text 14"/>
          <p:cNvSpPr/>
          <p:nvPr/>
        </p:nvSpPr>
        <p:spPr>
          <a:xfrm>
            <a:off x="7106312" y="1695847"/>
            <a:ext cx="4161257"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5FCC"/>
                </a:solidFill>
                <a:latin typeface="DM Sans" pitchFamily="34" charset="0"/>
                <a:ea typeface="DM Sans" pitchFamily="34" charset="-122"/>
                <a:cs typeface="DM Sans" pitchFamily="34" charset="-120"/>
              </a:rPr>
              <a:t>WHAT IS REGRET?</a:t>
            </a:r>
            <a:endParaRPr lang="en-US" sz="1300" dirty="0"/>
          </a:p>
        </p:txBody>
      </p:sp>
      <p:sp>
        <p:nvSpPr>
          <p:cNvPr id="17" name="Text 15"/>
          <p:cNvSpPr/>
          <p:nvPr/>
        </p:nvSpPr>
        <p:spPr>
          <a:xfrm>
            <a:off x="7106312" y="2003161"/>
            <a:ext cx="4161257"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How much extra a product pays because it must share bins, compared with its own ideal recipe.</a:t>
            </a:r>
            <a:endParaRPr lang="en-US" sz="1600" dirty="0"/>
          </a:p>
        </p:txBody>
      </p:sp>
      <p:sp>
        <p:nvSpPr>
          <p:cNvPr id="18" name="Shape 16"/>
          <p:cNvSpPr/>
          <p:nvPr/>
        </p:nvSpPr>
        <p:spPr>
          <a:xfrm>
            <a:off x="6873478" y="3241675"/>
            <a:ext cx="4505722" cy="2316361"/>
          </a:xfrm>
          <a:prstGeom prst="roundRect">
            <a:avLst>
              <a:gd name="adj" fmla="val 5483"/>
            </a:avLst>
          </a:prstGeom>
          <a:solidFill>
            <a:srgbClr val="14213D"/>
          </a:solidFill>
          <a:ln/>
        </p:spPr>
      </p:sp>
      <p:sp>
        <p:nvSpPr>
          <p:cNvPr id="19" name="Text 17"/>
          <p:cNvSpPr/>
          <p:nvPr/>
        </p:nvSpPr>
        <p:spPr>
          <a:xfrm>
            <a:off x="7102078" y="3470275"/>
            <a:ext cx="4169978"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267"/>
                </a:solidFill>
                <a:latin typeface="DM Sans" pitchFamily="34" charset="0"/>
                <a:ea typeface="DM Sans" pitchFamily="34" charset="-122"/>
                <a:cs typeface="DM Sans" pitchFamily="34" charset="-120"/>
              </a:rPr>
              <a:t>WHY TEST FIRST?</a:t>
            </a:r>
            <a:endParaRPr lang="en-US" sz="1300" dirty="0"/>
          </a:p>
        </p:txBody>
      </p:sp>
      <p:sp>
        <p:nvSpPr>
          <p:cNvPr id="20" name="Text 18"/>
          <p:cNvSpPr/>
          <p:nvPr/>
        </p:nvSpPr>
        <p:spPr>
          <a:xfrm>
            <a:off x="7102078" y="3777590"/>
            <a:ext cx="4169978"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F7F6F2"/>
                </a:solidFill>
                <a:latin typeface="DM Sans" pitchFamily="34" charset="0"/>
                <a:ea typeface="DM Sans" pitchFamily="34" charset="-122"/>
                <a:cs typeface="DM Sans" pitchFamily="34" charset="-120"/>
              </a:rPr>
              <a:t>3 of 56</a:t>
            </a:r>
            <a:endParaRPr lang="en-US" sz="5600" dirty="0"/>
          </a:p>
        </p:txBody>
      </p:sp>
      <p:sp>
        <p:nvSpPr>
          <p:cNvPr id="21" name="Text 19"/>
          <p:cNvSpPr/>
          <p:nvPr/>
        </p:nvSpPr>
        <p:spPr>
          <a:xfrm>
            <a:off x="7102078" y="4636095"/>
            <a:ext cx="4169978"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On af-3, only 3 of 56 possible moves escaped a stuck solution. A short SLP test ranked one of them first.</a:t>
            </a:r>
            <a:endParaRPr lang="en-US" sz="1300" dirty="0"/>
          </a:p>
        </p:txBody>
      </p:sp>
      <p:sp>
        <p:nvSpPr>
          <p:cNvPr id="22" name="Text 20"/>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23" name="Text 21"/>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7 / 13</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How we tested</a:t>
            </a:r>
            <a:endParaRPr lang="en-US" sz="3200" dirty="0"/>
          </a:p>
        </p:txBody>
      </p:sp>
      <p:sp>
        <p:nvSpPr>
          <p:cNvPr id="3" name="Shape 1"/>
          <p:cNvSpPr/>
          <p:nvPr/>
        </p:nvSpPr>
        <p:spPr>
          <a:xfrm>
            <a:off x="815975" y="1466190"/>
            <a:ext cx="3380317" cy="1421937"/>
          </a:xfrm>
          <a:prstGeom prst="roundRect">
            <a:avLst>
              <a:gd name="adj" fmla="val 8708"/>
            </a:avLst>
          </a:prstGeom>
          <a:solidFill>
            <a:srgbClr val="FDFDFB"/>
          </a:solidFill>
          <a:ln w="6350">
            <a:solidFill>
              <a:srgbClr val="DDE2EA"/>
            </a:solidFill>
            <a:prstDash val="solid"/>
          </a:ln>
        </p:spPr>
      </p:sp>
      <p:sp>
        <p:nvSpPr>
          <p:cNvPr id="4" name="Text 2"/>
          <p:cNvSpPr/>
          <p:nvPr/>
        </p:nvSpPr>
        <p:spPr>
          <a:xfrm>
            <a:off x="1045633" y="1645047"/>
            <a:ext cx="3008630"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1F5FCC"/>
                </a:solidFill>
                <a:latin typeface="DM Sans" pitchFamily="34" charset="0"/>
                <a:ea typeface="DM Sans" pitchFamily="34" charset="-122"/>
                <a:cs typeface="DM Sans" pitchFamily="34" charset="-120"/>
              </a:rPr>
              <a:t>11</a:t>
            </a:r>
            <a:endParaRPr lang="en-US" sz="5600" dirty="0"/>
          </a:p>
        </p:txBody>
      </p:sp>
      <p:sp>
        <p:nvSpPr>
          <p:cNvPr id="5" name="Text 3"/>
          <p:cNvSpPr/>
          <p:nvPr/>
        </p:nvSpPr>
        <p:spPr>
          <a:xfrm>
            <a:off x="1045633" y="2478156"/>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feed-mill instances (af-series)</a:t>
            </a:r>
            <a:endParaRPr lang="en-US" sz="1300" dirty="0"/>
          </a:p>
        </p:txBody>
      </p:sp>
      <p:sp>
        <p:nvSpPr>
          <p:cNvPr id="6" name="Shape 4"/>
          <p:cNvSpPr/>
          <p:nvPr/>
        </p:nvSpPr>
        <p:spPr>
          <a:xfrm>
            <a:off x="4405842" y="1466190"/>
            <a:ext cx="3380317" cy="1421937"/>
          </a:xfrm>
          <a:prstGeom prst="roundRect">
            <a:avLst>
              <a:gd name="adj" fmla="val 8708"/>
            </a:avLst>
          </a:prstGeom>
          <a:solidFill>
            <a:srgbClr val="FDFDFB"/>
          </a:solidFill>
          <a:ln w="6350">
            <a:solidFill>
              <a:srgbClr val="DDE2EA"/>
            </a:solidFill>
            <a:prstDash val="solid"/>
          </a:ln>
        </p:spPr>
      </p:sp>
      <p:sp>
        <p:nvSpPr>
          <p:cNvPr id="7" name="Text 5"/>
          <p:cNvSpPr/>
          <p:nvPr/>
        </p:nvSpPr>
        <p:spPr>
          <a:xfrm>
            <a:off x="4635500" y="1645047"/>
            <a:ext cx="3008630"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1F5FCC"/>
                </a:solidFill>
                <a:latin typeface="DM Sans" pitchFamily="34" charset="0"/>
                <a:ea typeface="DM Sans" pitchFamily="34" charset="-122"/>
                <a:cs typeface="DM Sans" pitchFamily="34" charset="-120"/>
              </a:rPr>
              <a:t>3 × 20</a:t>
            </a:r>
            <a:endParaRPr lang="en-US" sz="5600" dirty="0"/>
          </a:p>
        </p:txBody>
      </p:sp>
      <p:sp>
        <p:nvSpPr>
          <p:cNvPr id="8" name="Text 6"/>
          <p:cNvSpPr/>
          <p:nvPr/>
        </p:nvSpPr>
        <p:spPr>
          <a:xfrm>
            <a:off x="4635500" y="2478156"/>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seeds × runs per instance</a:t>
            </a:r>
            <a:endParaRPr lang="en-US" sz="1300" dirty="0"/>
          </a:p>
        </p:txBody>
      </p:sp>
      <p:sp>
        <p:nvSpPr>
          <p:cNvPr id="9" name="Shape 7"/>
          <p:cNvSpPr/>
          <p:nvPr/>
        </p:nvSpPr>
        <p:spPr>
          <a:xfrm>
            <a:off x="7995709" y="1466190"/>
            <a:ext cx="3380317" cy="1421937"/>
          </a:xfrm>
          <a:prstGeom prst="roundRect">
            <a:avLst>
              <a:gd name="adj" fmla="val 8708"/>
            </a:avLst>
          </a:prstGeom>
          <a:solidFill>
            <a:srgbClr val="FDFDFB"/>
          </a:solidFill>
          <a:ln w="6350">
            <a:solidFill>
              <a:srgbClr val="DDE2EA"/>
            </a:solidFill>
            <a:prstDash val="solid"/>
          </a:ln>
        </p:spPr>
      </p:sp>
      <p:sp>
        <p:nvSpPr>
          <p:cNvPr id="10" name="Text 8"/>
          <p:cNvSpPr/>
          <p:nvPr/>
        </p:nvSpPr>
        <p:spPr>
          <a:xfrm>
            <a:off x="8225367" y="1645047"/>
            <a:ext cx="3008630"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1F5FCC"/>
                </a:solidFill>
                <a:latin typeface="DM Sans" pitchFamily="34" charset="0"/>
                <a:ea typeface="DM Sans" pitchFamily="34" charset="-122"/>
                <a:cs typeface="DM Sans" pitchFamily="34" charset="-120"/>
              </a:rPr>
              <a:t>1,320</a:t>
            </a:r>
            <a:endParaRPr lang="en-US" sz="5600" dirty="0"/>
          </a:p>
        </p:txBody>
      </p:sp>
      <p:sp>
        <p:nvSpPr>
          <p:cNvPr id="11" name="Text 9"/>
          <p:cNvSpPr/>
          <p:nvPr/>
        </p:nvSpPr>
        <p:spPr>
          <a:xfrm>
            <a:off x="8225367" y="2478156"/>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runs in total (+440 ablation)</a:t>
            </a:r>
            <a:endParaRPr lang="en-US" sz="1300" dirty="0"/>
          </a:p>
        </p:txBody>
      </p:sp>
      <p:sp>
        <p:nvSpPr>
          <p:cNvPr id="12" name="Shape 10"/>
          <p:cNvSpPr/>
          <p:nvPr/>
        </p:nvSpPr>
        <p:spPr>
          <a:xfrm>
            <a:off x="815975" y="3097678"/>
            <a:ext cx="10560050" cy="1625865"/>
          </a:xfrm>
          <a:prstGeom prst="roundRect">
            <a:avLst>
              <a:gd name="adj" fmla="val 7616"/>
            </a:avLst>
          </a:prstGeom>
          <a:solidFill>
            <a:srgbClr val="FDFDFB"/>
          </a:solidFill>
          <a:ln w="6350">
            <a:solidFill>
              <a:srgbClr val="DDE2EA"/>
            </a:solidFill>
            <a:prstDash val="solid"/>
          </a:ln>
        </p:spPr>
      </p:sp>
      <p:sp>
        <p:nvSpPr>
          <p:cNvPr id="13" name="Shape 11"/>
          <p:cNvSpPr/>
          <p:nvPr/>
        </p:nvSpPr>
        <p:spPr>
          <a:xfrm>
            <a:off x="1071033" y="3663620"/>
            <a:ext cx="10049934" cy="0"/>
          </a:xfrm>
          <a:prstGeom prst="line">
            <a:avLst/>
          </a:prstGeom>
          <a:noFill/>
          <a:ln w="6350">
            <a:solidFill>
              <a:srgbClr val="DDE2EA"/>
            </a:solidFill>
            <a:prstDash val="solid"/>
          </a:ln>
        </p:spPr>
      </p:sp>
      <p:sp>
        <p:nvSpPr>
          <p:cNvPr id="14" name="Text 12"/>
          <p:cNvSpPr/>
          <p:nvPr/>
        </p:nvSpPr>
        <p:spPr>
          <a:xfrm>
            <a:off x="1071033" y="3276535"/>
            <a:ext cx="1447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CC"/>
                </a:solidFill>
                <a:latin typeface="DM Sans" pitchFamily="34" charset="0"/>
                <a:ea typeface="DM Sans" pitchFamily="34" charset="-122"/>
                <a:cs typeface="DM Sans" pitchFamily="34" charset="-120"/>
              </a:rPr>
              <a:t>Feasible</a:t>
            </a:r>
            <a:endParaRPr lang="en-US" sz="1600" dirty="0"/>
          </a:p>
        </p:txBody>
      </p:sp>
      <p:sp>
        <p:nvSpPr>
          <p:cNvPr id="15" name="Text 13"/>
          <p:cNvSpPr/>
          <p:nvPr/>
        </p:nvSpPr>
        <p:spPr>
          <a:xfrm>
            <a:off x="2671233" y="3276535"/>
            <a:ext cx="4492546"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The run ends without breaking any limit.</a:t>
            </a:r>
            <a:endParaRPr lang="en-US" sz="1600" dirty="0"/>
          </a:p>
        </p:txBody>
      </p:sp>
      <p:sp>
        <p:nvSpPr>
          <p:cNvPr id="16" name="Shape 14"/>
          <p:cNvSpPr/>
          <p:nvPr/>
        </p:nvSpPr>
        <p:spPr>
          <a:xfrm>
            <a:off x="1071033" y="4155482"/>
            <a:ext cx="10049934" cy="0"/>
          </a:xfrm>
          <a:prstGeom prst="line">
            <a:avLst/>
          </a:prstGeom>
          <a:noFill/>
          <a:ln w="6350">
            <a:solidFill>
              <a:srgbClr val="DDE2EA"/>
            </a:solidFill>
            <a:prstDash val="solid"/>
          </a:ln>
        </p:spPr>
      </p:sp>
      <p:sp>
        <p:nvSpPr>
          <p:cNvPr id="17" name="Text 15"/>
          <p:cNvSpPr/>
          <p:nvPr/>
        </p:nvSpPr>
        <p:spPr>
          <a:xfrm>
            <a:off x="1071033" y="3768396"/>
            <a:ext cx="1447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CC"/>
                </a:solidFill>
                <a:latin typeface="DM Sans" pitchFamily="34" charset="0"/>
                <a:ea typeface="DM Sans" pitchFamily="34" charset="-122"/>
                <a:cs typeface="DM Sans" pitchFamily="34" charset="-120"/>
              </a:rPr>
              <a:t>Good</a:t>
            </a:r>
            <a:endParaRPr lang="en-US" sz="1600" dirty="0"/>
          </a:p>
        </p:txBody>
      </p:sp>
      <p:sp>
        <p:nvSpPr>
          <p:cNvPr id="18" name="Text 16"/>
          <p:cNvSpPr/>
          <p:nvPr/>
        </p:nvSpPr>
        <p:spPr>
          <a:xfrm>
            <a:off x="2671233" y="3768396"/>
            <a:ext cx="550743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Feasible, and within 0.2% of the best known cost.</a:t>
            </a:r>
            <a:endParaRPr lang="en-US" sz="1600" dirty="0"/>
          </a:p>
        </p:txBody>
      </p:sp>
      <p:sp>
        <p:nvSpPr>
          <p:cNvPr id="19" name="Text 17"/>
          <p:cNvSpPr/>
          <p:nvPr/>
        </p:nvSpPr>
        <p:spPr>
          <a:xfrm>
            <a:off x="1071033" y="4260255"/>
            <a:ext cx="1447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CC"/>
                </a:solidFill>
                <a:latin typeface="DM Sans" pitchFamily="34" charset="0"/>
                <a:ea typeface="DM Sans" pitchFamily="34" charset="-122"/>
                <a:cs typeface="DM Sans" pitchFamily="34" charset="-120"/>
              </a:rPr>
              <a:t>ETiGood</a:t>
            </a:r>
            <a:endParaRPr lang="en-US" sz="1600" dirty="0"/>
          </a:p>
        </p:txBody>
      </p:sp>
      <p:sp>
        <p:nvSpPr>
          <p:cNvPr id="20" name="Text 18"/>
          <p:cNvSpPr/>
          <p:nvPr/>
        </p:nvSpPr>
        <p:spPr>
          <a:xfrm>
            <a:off x="2671233" y="4260255"/>
            <a:ext cx="838668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Expected time to get one good solution: time per run ÷ share of good runs.</a:t>
            </a:r>
            <a:endParaRPr lang="en-US" sz="1600" dirty="0"/>
          </a:p>
        </p:txBody>
      </p:sp>
      <p:sp>
        <p:nvSpPr>
          <p:cNvPr id="21" name="Text 19"/>
          <p:cNvSpPr/>
          <p:nvPr/>
        </p:nvSpPr>
        <p:spPr>
          <a:xfrm>
            <a:off x="812800" y="4929919"/>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Same code, machine and seeds for both methods. Significance: Fisher and Mann–Whitney tests.</a:t>
            </a:r>
            <a:endParaRPr lang="en-US" sz="1300" dirty="0"/>
          </a:p>
        </p:txBody>
      </p:sp>
      <p:sp>
        <p:nvSpPr>
          <p:cNvPr id="22" name="Text 20"/>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23" name="Text 21"/>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8 / 13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DM Sans" pitchFamily="34" charset="0"/>
                <a:ea typeface="DM Sans" pitchFamily="34" charset="-122"/>
                <a:cs typeface="DM Sans" pitchFamily="34" charset="-120"/>
              </a:rPr>
              <a:t>Results: more good answers, faster</a:t>
            </a:r>
            <a:endParaRPr lang="en-US" sz="3200" dirty="0"/>
          </a:p>
        </p:txBody>
      </p:sp>
      <p:sp>
        <p:nvSpPr>
          <p:cNvPr id="3" name="Shape 1"/>
          <p:cNvSpPr/>
          <p:nvPr/>
        </p:nvSpPr>
        <p:spPr>
          <a:xfrm>
            <a:off x="812800" y="1513818"/>
            <a:ext cx="3386667" cy="2422988"/>
          </a:xfrm>
          <a:prstGeom prst="roundRect">
            <a:avLst>
              <a:gd name="adj" fmla="val 5241"/>
            </a:avLst>
          </a:prstGeom>
          <a:solidFill>
            <a:srgbClr val="1E3158"/>
          </a:solidFill>
          <a:ln/>
        </p:spPr>
      </p:sp>
      <p:sp>
        <p:nvSpPr>
          <p:cNvPr id="4" name="Text 2"/>
          <p:cNvSpPr/>
          <p:nvPr/>
        </p:nvSpPr>
        <p:spPr>
          <a:xfrm>
            <a:off x="1041400" y="1742418"/>
            <a:ext cx="3017351"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8DB2F5"/>
                </a:solidFill>
                <a:latin typeface="DM Sans" pitchFamily="34" charset="0"/>
                <a:ea typeface="DM Sans" pitchFamily="34" charset="-122"/>
                <a:cs typeface="DM Sans" pitchFamily="34" charset="-120"/>
              </a:rPr>
              <a:t>96%</a:t>
            </a:r>
            <a:endParaRPr lang="en-US" sz="5600" dirty="0"/>
          </a:p>
        </p:txBody>
      </p:sp>
      <p:sp>
        <p:nvSpPr>
          <p:cNvPr id="5" name="Text 3"/>
          <p:cNvSpPr/>
          <p:nvPr/>
        </p:nvSpPr>
        <p:spPr>
          <a:xfrm>
            <a:off x="1041400" y="2600920"/>
            <a:ext cx="301735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DM Sans" pitchFamily="34" charset="0"/>
                <a:ea typeface="DM Sans" pitchFamily="34" charset="-122"/>
                <a:cs typeface="DM Sans" pitchFamily="34" charset="-120"/>
              </a:rPr>
              <a:t>of runs end feasible</a:t>
            </a:r>
            <a:endParaRPr lang="en-US" sz="1600" dirty="0"/>
          </a:p>
        </p:txBody>
      </p:sp>
      <p:sp>
        <p:nvSpPr>
          <p:cNvPr id="6" name="Text 4"/>
          <p:cNvSpPr/>
          <p:nvPr/>
        </p:nvSpPr>
        <p:spPr>
          <a:xfrm>
            <a:off x="1041400" y="2961549"/>
            <a:ext cx="30173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Up from 88% with random starts (mean of 11 instances).</a:t>
            </a:r>
            <a:endParaRPr lang="en-US" sz="1300" dirty="0"/>
          </a:p>
        </p:txBody>
      </p:sp>
      <p:sp>
        <p:nvSpPr>
          <p:cNvPr id="7" name="Shape 5"/>
          <p:cNvSpPr/>
          <p:nvPr/>
        </p:nvSpPr>
        <p:spPr>
          <a:xfrm>
            <a:off x="4402667" y="1513818"/>
            <a:ext cx="3386667" cy="2422988"/>
          </a:xfrm>
          <a:prstGeom prst="roundRect">
            <a:avLst>
              <a:gd name="adj" fmla="val 5241"/>
            </a:avLst>
          </a:prstGeom>
          <a:solidFill>
            <a:srgbClr val="1E3158"/>
          </a:solidFill>
          <a:ln/>
        </p:spPr>
      </p:sp>
      <p:sp>
        <p:nvSpPr>
          <p:cNvPr id="8" name="Text 6"/>
          <p:cNvSpPr/>
          <p:nvPr/>
        </p:nvSpPr>
        <p:spPr>
          <a:xfrm>
            <a:off x="4631267" y="1742418"/>
            <a:ext cx="3017351"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8DB2F5"/>
                </a:solidFill>
                <a:latin typeface="DM Sans" pitchFamily="34" charset="0"/>
                <a:ea typeface="DM Sans" pitchFamily="34" charset="-122"/>
                <a:cs typeface="DM Sans" pitchFamily="34" charset="-120"/>
              </a:rPr>
              <a:t>33.9%</a:t>
            </a:r>
            <a:endParaRPr lang="en-US" sz="5600" dirty="0"/>
          </a:p>
        </p:txBody>
      </p:sp>
      <p:sp>
        <p:nvSpPr>
          <p:cNvPr id="9" name="Text 7"/>
          <p:cNvSpPr/>
          <p:nvPr/>
        </p:nvSpPr>
        <p:spPr>
          <a:xfrm>
            <a:off x="4631267" y="2600920"/>
            <a:ext cx="301735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DM Sans" pitchFamily="34" charset="0"/>
                <a:ea typeface="DM Sans" pitchFamily="34" charset="-122"/>
                <a:cs typeface="DM Sans" pitchFamily="34" charset="-120"/>
              </a:rPr>
              <a:t>good runs on the 6 hard instances</a:t>
            </a:r>
            <a:endParaRPr lang="en-US" sz="1600" dirty="0"/>
          </a:p>
        </p:txBody>
      </p:sp>
      <p:sp>
        <p:nvSpPr>
          <p:cNvPr id="10" name="Text 8"/>
          <p:cNvSpPr/>
          <p:nvPr/>
        </p:nvSpPr>
        <p:spPr>
          <a:xfrm>
            <a:off x="4631267" y="3245979"/>
            <a:ext cx="30173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Up from 6.4%. The paper reports 14.8%.</a:t>
            </a:r>
            <a:endParaRPr lang="en-US" sz="1300" dirty="0"/>
          </a:p>
        </p:txBody>
      </p:sp>
      <p:sp>
        <p:nvSpPr>
          <p:cNvPr id="11" name="Shape 9"/>
          <p:cNvSpPr/>
          <p:nvPr/>
        </p:nvSpPr>
        <p:spPr>
          <a:xfrm>
            <a:off x="7992534" y="1513818"/>
            <a:ext cx="3386667" cy="2422988"/>
          </a:xfrm>
          <a:prstGeom prst="roundRect">
            <a:avLst>
              <a:gd name="adj" fmla="val 5241"/>
            </a:avLst>
          </a:prstGeom>
          <a:solidFill>
            <a:srgbClr val="1E3158"/>
          </a:solidFill>
          <a:ln/>
        </p:spPr>
      </p:sp>
      <p:sp>
        <p:nvSpPr>
          <p:cNvPr id="12" name="Text 10"/>
          <p:cNvSpPr/>
          <p:nvPr/>
        </p:nvSpPr>
        <p:spPr>
          <a:xfrm>
            <a:off x="8221134" y="1742418"/>
            <a:ext cx="3017351"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8DB2F5"/>
                </a:solidFill>
                <a:latin typeface="DM Sans" pitchFamily="34" charset="0"/>
                <a:ea typeface="DM Sans" pitchFamily="34" charset="-122"/>
                <a:cs typeface="DM Sans" pitchFamily="34" charset="-120"/>
              </a:rPr>
              <a:t>5.0×</a:t>
            </a:r>
            <a:endParaRPr lang="en-US" sz="5600" dirty="0"/>
          </a:p>
        </p:txBody>
      </p:sp>
      <p:sp>
        <p:nvSpPr>
          <p:cNvPr id="13" name="Text 11"/>
          <p:cNvSpPr/>
          <p:nvPr/>
        </p:nvSpPr>
        <p:spPr>
          <a:xfrm>
            <a:off x="8221134" y="2600920"/>
            <a:ext cx="301735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DM Sans" pitchFamily="34" charset="0"/>
                <a:ea typeface="DM Sans" pitchFamily="34" charset="-122"/>
                <a:cs typeface="DM Sans" pitchFamily="34" charset="-120"/>
              </a:rPr>
              <a:t>shorter time to a good solution</a:t>
            </a:r>
            <a:endParaRPr lang="en-US" sz="1600" dirty="0"/>
          </a:p>
        </p:txBody>
      </p:sp>
      <p:sp>
        <p:nvSpPr>
          <p:cNvPr id="14" name="Text 12"/>
          <p:cNvSpPr/>
          <p:nvPr/>
        </p:nvSpPr>
        <p:spPr>
          <a:xfrm>
            <a:off x="8221134" y="3245979"/>
            <a:ext cx="30173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Over 5 of the 6 hard instances. Over all instances with good runs: 2.0×.</a:t>
            </a:r>
            <a:endParaRPr lang="en-US" sz="1300" dirty="0"/>
          </a:p>
        </p:txBody>
      </p:sp>
      <p:sp>
        <p:nvSpPr>
          <p:cNvPr id="15" name="Text 13"/>
          <p:cNvSpPr/>
          <p:nvPr/>
        </p:nvSpPr>
        <p:spPr>
          <a:xfrm>
            <a:off x="812800" y="4190802"/>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CFE0"/>
                </a:solidFill>
                <a:latin typeface="DM Sans" pitchFamily="34" charset="0"/>
                <a:ea typeface="DM Sans" pitchFamily="34" charset="-122"/>
                <a:cs typeface="DM Sans" pitchFamily="34" charset="-120"/>
              </a:rPr>
              <a:t>Mean over all 11 instances: good runs rise from 43.6% to 62.0%.</a:t>
            </a:r>
            <a:endParaRPr lang="en-US" sz="1600" dirty="0"/>
          </a:p>
        </p:txBody>
      </p:sp>
      <p:sp>
        <p:nvSpPr>
          <p:cNvPr id="16" name="Text 14"/>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0CC"/>
                </a:solidFill>
                <a:latin typeface="DM Sans" pitchFamily="34" charset="0"/>
                <a:ea typeface="DM Sans" pitchFamily="34" charset="-122"/>
                <a:cs typeface="DM Sans" pitchFamily="34" charset="-120"/>
              </a:rPr>
              <a:t>Group OPT-09 · IA-2</a:t>
            </a:r>
            <a:endParaRPr lang="en-US" sz="1300" dirty="0"/>
          </a:p>
        </p:txBody>
      </p:sp>
      <p:sp>
        <p:nvSpPr>
          <p:cNvPr id="17" name="Text 15"/>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9FB0CC"/>
                </a:solidFill>
                <a:latin typeface="DM Sans" pitchFamily="34" charset="0"/>
                <a:ea typeface="DM Sans" pitchFamily="34" charset="-122"/>
                <a:cs typeface="DM Sans" pitchFamily="34" charset="-120"/>
              </a:rPr>
              <a:t>9 / 13</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Good answers on the hard instances</a:t>
            </a:r>
            <a:endParaRPr lang="en-US" sz="3200" dirty="0"/>
          </a:p>
        </p:txBody>
      </p:sp>
      <p:sp>
        <p:nvSpPr>
          <p:cNvPr id="3" name="Shape 1"/>
          <p:cNvSpPr/>
          <p:nvPr/>
        </p:nvSpPr>
        <p:spPr>
          <a:xfrm>
            <a:off x="812800" y="1490929"/>
            <a:ext cx="177800" cy="177800"/>
          </a:xfrm>
          <a:prstGeom prst="roundRect">
            <a:avLst>
              <a:gd name="adj" fmla="val 21429"/>
            </a:avLst>
          </a:prstGeom>
          <a:solidFill>
            <a:srgbClr val="D4672A"/>
          </a:solidFill>
          <a:ln/>
        </p:spPr>
      </p:sp>
      <p:sp>
        <p:nvSpPr>
          <p:cNvPr id="4" name="Text 2"/>
          <p:cNvSpPr/>
          <p:nvPr/>
        </p:nvSpPr>
        <p:spPr>
          <a:xfrm>
            <a:off x="1066800" y="1437618"/>
            <a:ext cx="221555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IA-1: random restarts</a:t>
            </a:r>
            <a:endParaRPr lang="en-US" sz="1600" dirty="0"/>
          </a:p>
        </p:txBody>
      </p:sp>
      <p:sp>
        <p:nvSpPr>
          <p:cNvPr id="5" name="Shape 3"/>
          <p:cNvSpPr/>
          <p:nvPr/>
        </p:nvSpPr>
        <p:spPr>
          <a:xfrm>
            <a:off x="3282355" y="1490929"/>
            <a:ext cx="177800" cy="177800"/>
          </a:xfrm>
          <a:prstGeom prst="roundRect">
            <a:avLst>
              <a:gd name="adj" fmla="val 21429"/>
            </a:avLst>
          </a:prstGeom>
          <a:solidFill>
            <a:srgbClr val="1F5FCC"/>
          </a:solidFill>
          <a:ln/>
        </p:spPr>
      </p:sp>
      <p:sp>
        <p:nvSpPr>
          <p:cNvPr id="6" name="Text 4"/>
          <p:cNvSpPr/>
          <p:nvPr/>
        </p:nvSpPr>
        <p:spPr>
          <a:xfrm>
            <a:off x="3536355" y="1437618"/>
            <a:ext cx="18560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IA-2: our method</a:t>
            </a:r>
            <a:endParaRPr lang="en-US" sz="1600" dirty="0"/>
          </a:p>
        </p:txBody>
      </p:sp>
      <p:sp>
        <p:nvSpPr>
          <p:cNvPr id="7" name="Text 5"/>
          <p:cNvSpPr/>
          <p:nvPr/>
        </p:nvSpPr>
        <p:spPr>
          <a:xfrm>
            <a:off x="5392407" y="1464270"/>
            <a:ext cx="213399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 of runs that are good</a:t>
            </a:r>
            <a:endParaRPr lang="en-US" sz="1300" dirty="0"/>
          </a:p>
        </p:txBody>
      </p:sp>
      <p:sp>
        <p:nvSpPr>
          <p:cNvPr id="8" name="Text 6"/>
          <p:cNvSpPr/>
          <p:nvPr/>
        </p:nvSpPr>
        <p:spPr>
          <a:xfrm>
            <a:off x="812800" y="2007791"/>
            <a:ext cx="1066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af-2</a:t>
            </a:r>
            <a:endParaRPr lang="en-US" sz="1600" dirty="0"/>
          </a:p>
        </p:txBody>
      </p:sp>
      <p:sp>
        <p:nvSpPr>
          <p:cNvPr id="9" name="Shape 7"/>
          <p:cNvSpPr/>
          <p:nvPr/>
        </p:nvSpPr>
        <p:spPr>
          <a:xfrm>
            <a:off x="1981200" y="1926499"/>
            <a:ext cx="127000" cy="177800"/>
          </a:xfrm>
          <a:prstGeom prst="roundRect">
            <a:avLst>
              <a:gd name="adj" fmla="val 30000"/>
            </a:avLst>
          </a:prstGeom>
          <a:solidFill>
            <a:srgbClr val="D4672A"/>
          </a:solidFill>
          <a:ln/>
        </p:spPr>
      </p:sp>
      <p:sp>
        <p:nvSpPr>
          <p:cNvPr id="10" name="Text 8"/>
          <p:cNvSpPr/>
          <p:nvPr/>
        </p:nvSpPr>
        <p:spPr>
          <a:xfrm>
            <a:off x="2197100" y="1899841"/>
            <a:ext cx="40100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34D14"/>
                </a:solidFill>
                <a:latin typeface="DM Sans" pitchFamily="34" charset="0"/>
                <a:ea typeface="DM Sans" pitchFamily="34" charset="-122"/>
                <a:cs typeface="DM Sans" pitchFamily="34" charset="-120"/>
              </a:rPr>
              <a:t>1.7%</a:t>
            </a:r>
            <a:endParaRPr lang="en-US" sz="1300" dirty="0"/>
          </a:p>
        </p:txBody>
      </p:sp>
      <p:sp>
        <p:nvSpPr>
          <p:cNvPr id="11" name="Shape 9"/>
          <p:cNvSpPr/>
          <p:nvPr/>
        </p:nvSpPr>
        <p:spPr>
          <a:xfrm>
            <a:off x="1981200" y="2195711"/>
            <a:ext cx="5207000" cy="177800"/>
          </a:xfrm>
          <a:prstGeom prst="roundRect">
            <a:avLst>
              <a:gd name="adj" fmla="val 21429"/>
            </a:avLst>
          </a:prstGeom>
          <a:solidFill>
            <a:srgbClr val="1F5FCC"/>
          </a:solidFill>
          <a:ln/>
        </p:spPr>
      </p:sp>
      <p:sp>
        <p:nvSpPr>
          <p:cNvPr id="12" name="Text 10"/>
          <p:cNvSpPr/>
          <p:nvPr/>
        </p:nvSpPr>
        <p:spPr>
          <a:xfrm>
            <a:off x="7277100" y="2169058"/>
            <a:ext cx="59753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FCC"/>
                </a:solidFill>
                <a:latin typeface="DM Sans" pitchFamily="34" charset="0"/>
                <a:ea typeface="DM Sans" pitchFamily="34" charset="-122"/>
                <a:cs typeface="DM Sans" pitchFamily="34" charset="-120"/>
              </a:rPr>
              <a:t>68.3%</a:t>
            </a:r>
            <a:endParaRPr lang="en-US" sz="1300" dirty="0"/>
          </a:p>
        </p:txBody>
      </p:sp>
      <p:sp>
        <p:nvSpPr>
          <p:cNvPr id="13" name="Text 11"/>
          <p:cNvSpPr/>
          <p:nvPr/>
        </p:nvSpPr>
        <p:spPr>
          <a:xfrm>
            <a:off x="812800" y="2609720"/>
            <a:ext cx="1066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af-3</a:t>
            </a:r>
            <a:endParaRPr lang="en-US" sz="1600" dirty="0"/>
          </a:p>
        </p:txBody>
      </p:sp>
      <p:sp>
        <p:nvSpPr>
          <p:cNvPr id="14" name="Shape 12"/>
          <p:cNvSpPr/>
          <p:nvPr/>
        </p:nvSpPr>
        <p:spPr>
          <a:xfrm>
            <a:off x="1981200" y="2528429"/>
            <a:ext cx="127000" cy="177800"/>
          </a:xfrm>
          <a:prstGeom prst="roundRect">
            <a:avLst>
              <a:gd name="adj" fmla="val 30000"/>
            </a:avLst>
          </a:prstGeom>
          <a:solidFill>
            <a:srgbClr val="D4672A"/>
          </a:solidFill>
          <a:ln/>
        </p:spPr>
      </p:sp>
      <p:sp>
        <p:nvSpPr>
          <p:cNvPr id="15" name="Text 13"/>
          <p:cNvSpPr/>
          <p:nvPr/>
        </p:nvSpPr>
        <p:spPr>
          <a:xfrm>
            <a:off x="2197100" y="2501770"/>
            <a:ext cx="40100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34D14"/>
                </a:solidFill>
                <a:latin typeface="DM Sans" pitchFamily="34" charset="0"/>
                <a:ea typeface="DM Sans" pitchFamily="34" charset="-122"/>
                <a:cs typeface="DM Sans" pitchFamily="34" charset="-120"/>
              </a:rPr>
              <a:t>1.7%</a:t>
            </a:r>
            <a:endParaRPr lang="en-US" sz="1300" dirty="0"/>
          </a:p>
        </p:txBody>
      </p:sp>
      <p:sp>
        <p:nvSpPr>
          <p:cNvPr id="16" name="Shape 14"/>
          <p:cNvSpPr/>
          <p:nvPr/>
        </p:nvSpPr>
        <p:spPr>
          <a:xfrm>
            <a:off x="1981200" y="2797640"/>
            <a:ext cx="2413000" cy="177800"/>
          </a:xfrm>
          <a:prstGeom prst="roundRect">
            <a:avLst>
              <a:gd name="adj" fmla="val 21429"/>
            </a:avLst>
          </a:prstGeom>
          <a:solidFill>
            <a:srgbClr val="1F5FCC"/>
          </a:solidFill>
          <a:ln/>
        </p:spPr>
      </p:sp>
      <p:sp>
        <p:nvSpPr>
          <p:cNvPr id="17" name="Text 15"/>
          <p:cNvSpPr/>
          <p:nvPr/>
        </p:nvSpPr>
        <p:spPr>
          <a:xfrm>
            <a:off x="4483100" y="2770981"/>
            <a:ext cx="51911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FCC"/>
                </a:solidFill>
                <a:latin typeface="DM Sans" pitchFamily="34" charset="0"/>
                <a:ea typeface="DM Sans" pitchFamily="34" charset="-122"/>
                <a:cs typeface="DM Sans" pitchFamily="34" charset="-120"/>
              </a:rPr>
              <a:t>31.7%</a:t>
            </a:r>
            <a:endParaRPr lang="en-US" sz="1300" dirty="0"/>
          </a:p>
        </p:txBody>
      </p:sp>
      <p:sp>
        <p:nvSpPr>
          <p:cNvPr id="18" name="Text 16"/>
          <p:cNvSpPr/>
          <p:nvPr/>
        </p:nvSpPr>
        <p:spPr>
          <a:xfrm>
            <a:off x="812800" y="3211649"/>
            <a:ext cx="1066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af-4</a:t>
            </a:r>
            <a:endParaRPr lang="en-US" sz="1600" dirty="0"/>
          </a:p>
        </p:txBody>
      </p:sp>
      <p:sp>
        <p:nvSpPr>
          <p:cNvPr id="19" name="Shape 17"/>
          <p:cNvSpPr/>
          <p:nvPr/>
        </p:nvSpPr>
        <p:spPr>
          <a:xfrm>
            <a:off x="1981200" y="3130352"/>
            <a:ext cx="1524000" cy="177800"/>
          </a:xfrm>
          <a:prstGeom prst="roundRect">
            <a:avLst>
              <a:gd name="adj" fmla="val 21429"/>
            </a:avLst>
          </a:prstGeom>
          <a:solidFill>
            <a:srgbClr val="D4672A"/>
          </a:solidFill>
          <a:ln/>
        </p:spPr>
      </p:sp>
      <p:sp>
        <p:nvSpPr>
          <p:cNvPr id="20" name="Text 18"/>
          <p:cNvSpPr/>
          <p:nvPr/>
        </p:nvSpPr>
        <p:spPr>
          <a:xfrm>
            <a:off x="3594100" y="3103699"/>
            <a:ext cx="60523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34D14"/>
                </a:solidFill>
                <a:latin typeface="DM Sans" pitchFamily="34" charset="0"/>
                <a:ea typeface="DM Sans" pitchFamily="34" charset="-122"/>
                <a:cs typeface="DM Sans" pitchFamily="34" charset="-120"/>
              </a:rPr>
              <a:t>20.0%</a:t>
            </a:r>
            <a:endParaRPr lang="en-US" sz="1300" dirty="0"/>
          </a:p>
        </p:txBody>
      </p:sp>
      <p:sp>
        <p:nvSpPr>
          <p:cNvPr id="21" name="Shape 19"/>
          <p:cNvSpPr/>
          <p:nvPr/>
        </p:nvSpPr>
        <p:spPr>
          <a:xfrm>
            <a:off x="1981200" y="3399569"/>
            <a:ext cx="4445000" cy="177800"/>
          </a:xfrm>
          <a:prstGeom prst="roundRect">
            <a:avLst>
              <a:gd name="adj" fmla="val 21429"/>
            </a:avLst>
          </a:prstGeom>
          <a:solidFill>
            <a:srgbClr val="1F5FCC"/>
          </a:solidFill>
          <a:ln/>
        </p:spPr>
      </p:sp>
      <p:sp>
        <p:nvSpPr>
          <p:cNvPr id="22" name="Text 20"/>
          <p:cNvSpPr/>
          <p:nvPr/>
        </p:nvSpPr>
        <p:spPr>
          <a:xfrm>
            <a:off x="6515100" y="3372910"/>
            <a:ext cx="59499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FCC"/>
                </a:solidFill>
                <a:latin typeface="DM Sans" pitchFamily="34" charset="0"/>
                <a:ea typeface="DM Sans" pitchFamily="34" charset="-122"/>
                <a:cs typeface="DM Sans" pitchFamily="34" charset="-120"/>
              </a:rPr>
              <a:t>58.3%</a:t>
            </a:r>
            <a:endParaRPr lang="en-US" sz="1300" dirty="0"/>
          </a:p>
        </p:txBody>
      </p:sp>
      <p:sp>
        <p:nvSpPr>
          <p:cNvPr id="23" name="Text 21"/>
          <p:cNvSpPr/>
          <p:nvPr/>
        </p:nvSpPr>
        <p:spPr>
          <a:xfrm>
            <a:off x="812800" y="3813572"/>
            <a:ext cx="1066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af-6-fs</a:t>
            </a:r>
            <a:endParaRPr lang="en-US" sz="1600" dirty="0"/>
          </a:p>
        </p:txBody>
      </p:sp>
      <p:sp>
        <p:nvSpPr>
          <p:cNvPr id="24" name="Shape 22"/>
          <p:cNvSpPr/>
          <p:nvPr/>
        </p:nvSpPr>
        <p:spPr>
          <a:xfrm>
            <a:off x="1981200" y="3732281"/>
            <a:ext cx="254000" cy="177800"/>
          </a:xfrm>
          <a:prstGeom prst="roundRect">
            <a:avLst>
              <a:gd name="adj" fmla="val 21429"/>
            </a:avLst>
          </a:prstGeom>
          <a:solidFill>
            <a:srgbClr val="D4672A"/>
          </a:solidFill>
          <a:ln/>
        </p:spPr>
      </p:sp>
      <p:sp>
        <p:nvSpPr>
          <p:cNvPr id="25" name="Text 23"/>
          <p:cNvSpPr/>
          <p:nvPr/>
        </p:nvSpPr>
        <p:spPr>
          <a:xfrm>
            <a:off x="2324100" y="3705622"/>
            <a:ext cx="46616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34D14"/>
                </a:solidFill>
                <a:latin typeface="DM Sans" pitchFamily="34" charset="0"/>
                <a:ea typeface="DM Sans" pitchFamily="34" charset="-122"/>
                <a:cs typeface="DM Sans" pitchFamily="34" charset="-120"/>
              </a:rPr>
              <a:t>3.3%</a:t>
            </a:r>
            <a:endParaRPr lang="en-US" sz="1300" dirty="0"/>
          </a:p>
        </p:txBody>
      </p:sp>
      <p:sp>
        <p:nvSpPr>
          <p:cNvPr id="26" name="Shape 24"/>
          <p:cNvSpPr/>
          <p:nvPr/>
        </p:nvSpPr>
        <p:spPr>
          <a:xfrm>
            <a:off x="1981200" y="4001492"/>
            <a:ext cx="2032000" cy="177800"/>
          </a:xfrm>
          <a:prstGeom prst="roundRect">
            <a:avLst>
              <a:gd name="adj" fmla="val 21429"/>
            </a:avLst>
          </a:prstGeom>
          <a:solidFill>
            <a:srgbClr val="1F5FCC"/>
          </a:solidFill>
          <a:ln/>
        </p:spPr>
      </p:sp>
      <p:sp>
        <p:nvSpPr>
          <p:cNvPr id="27" name="Text 25"/>
          <p:cNvSpPr/>
          <p:nvPr/>
        </p:nvSpPr>
        <p:spPr>
          <a:xfrm>
            <a:off x="4102100" y="3974840"/>
            <a:ext cx="56213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FCC"/>
                </a:solidFill>
                <a:latin typeface="DM Sans" pitchFamily="34" charset="0"/>
                <a:ea typeface="DM Sans" pitchFamily="34" charset="-122"/>
                <a:cs typeface="DM Sans" pitchFamily="34" charset="-120"/>
              </a:rPr>
              <a:t>26.7%</a:t>
            </a:r>
            <a:endParaRPr lang="en-US" sz="1300" dirty="0"/>
          </a:p>
        </p:txBody>
      </p:sp>
      <p:sp>
        <p:nvSpPr>
          <p:cNvPr id="28" name="Text 26"/>
          <p:cNvSpPr/>
          <p:nvPr/>
        </p:nvSpPr>
        <p:spPr>
          <a:xfrm>
            <a:off x="812800" y="4415501"/>
            <a:ext cx="1066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af-7</a:t>
            </a:r>
            <a:endParaRPr lang="en-US" sz="1600" dirty="0"/>
          </a:p>
        </p:txBody>
      </p:sp>
      <p:sp>
        <p:nvSpPr>
          <p:cNvPr id="29" name="Shape 27"/>
          <p:cNvSpPr/>
          <p:nvPr/>
        </p:nvSpPr>
        <p:spPr>
          <a:xfrm>
            <a:off x="1981200" y="4334210"/>
            <a:ext cx="762000" cy="177800"/>
          </a:xfrm>
          <a:prstGeom prst="roundRect">
            <a:avLst>
              <a:gd name="adj" fmla="val 21429"/>
            </a:avLst>
          </a:prstGeom>
          <a:solidFill>
            <a:srgbClr val="D4672A"/>
          </a:solidFill>
          <a:ln/>
        </p:spPr>
      </p:sp>
      <p:sp>
        <p:nvSpPr>
          <p:cNvPr id="30" name="Text 28"/>
          <p:cNvSpPr/>
          <p:nvPr/>
        </p:nvSpPr>
        <p:spPr>
          <a:xfrm>
            <a:off x="2832100" y="4307551"/>
            <a:ext cx="56388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34D14"/>
                </a:solidFill>
                <a:latin typeface="DM Sans" pitchFamily="34" charset="0"/>
                <a:ea typeface="DM Sans" pitchFamily="34" charset="-122"/>
                <a:cs typeface="DM Sans" pitchFamily="34" charset="-120"/>
              </a:rPr>
              <a:t>10.0%</a:t>
            </a:r>
            <a:endParaRPr lang="en-US" sz="1300" dirty="0"/>
          </a:p>
        </p:txBody>
      </p:sp>
      <p:sp>
        <p:nvSpPr>
          <p:cNvPr id="31" name="Shape 29"/>
          <p:cNvSpPr/>
          <p:nvPr/>
        </p:nvSpPr>
        <p:spPr>
          <a:xfrm>
            <a:off x="1981200" y="4603421"/>
            <a:ext cx="1397000" cy="177800"/>
          </a:xfrm>
          <a:prstGeom prst="roundRect">
            <a:avLst>
              <a:gd name="adj" fmla="val 21429"/>
            </a:avLst>
          </a:prstGeom>
          <a:solidFill>
            <a:srgbClr val="1F5FCC"/>
          </a:solidFill>
          <a:ln/>
        </p:spPr>
      </p:sp>
      <p:sp>
        <p:nvSpPr>
          <p:cNvPr id="32" name="Text 30"/>
          <p:cNvSpPr/>
          <p:nvPr/>
        </p:nvSpPr>
        <p:spPr>
          <a:xfrm>
            <a:off x="3467100" y="4576763"/>
            <a:ext cx="54403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FCC"/>
                </a:solidFill>
                <a:latin typeface="DM Sans" pitchFamily="34" charset="0"/>
                <a:ea typeface="DM Sans" pitchFamily="34" charset="-122"/>
                <a:cs typeface="DM Sans" pitchFamily="34" charset="-120"/>
              </a:rPr>
              <a:t>18.3%</a:t>
            </a:r>
            <a:endParaRPr lang="en-US" sz="1300" dirty="0"/>
          </a:p>
        </p:txBody>
      </p:sp>
      <p:sp>
        <p:nvSpPr>
          <p:cNvPr id="33" name="Text 31"/>
          <p:cNvSpPr/>
          <p:nvPr/>
        </p:nvSpPr>
        <p:spPr>
          <a:xfrm>
            <a:off x="812800" y="5017430"/>
            <a:ext cx="1066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af-6-f</a:t>
            </a:r>
            <a:endParaRPr lang="en-US" sz="1600" dirty="0"/>
          </a:p>
        </p:txBody>
      </p:sp>
      <p:sp>
        <p:nvSpPr>
          <p:cNvPr id="34" name="Shape 32"/>
          <p:cNvSpPr/>
          <p:nvPr/>
        </p:nvSpPr>
        <p:spPr>
          <a:xfrm>
            <a:off x="1981200" y="4936133"/>
            <a:ext cx="127000" cy="177800"/>
          </a:xfrm>
          <a:prstGeom prst="roundRect">
            <a:avLst>
              <a:gd name="adj" fmla="val 30000"/>
            </a:avLst>
          </a:prstGeom>
          <a:solidFill>
            <a:srgbClr val="D4672A"/>
          </a:solidFill>
          <a:ln/>
        </p:spPr>
      </p:sp>
      <p:sp>
        <p:nvSpPr>
          <p:cNvPr id="35" name="Text 33"/>
          <p:cNvSpPr/>
          <p:nvPr/>
        </p:nvSpPr>
        <p:spPr>
          <a:xfrm>
            <a:off x="2197100" y="4909480"/>
            <a:ext cx="40100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34D14"/>
                </a:solidFill>
                <a:latin typeface="DM Sans" pitchFamily="34" charset="0"/>
                <a:ea typeface="DM Sans" pitchFamily="34" charset="-122"/>
                <a:cs typeface="DM Sans" pitchFamily="34" charset="-120"/>
              </a:rPr>
              <a:t>1.7%</a:t>
            </a:r>
            <a:endParaRPr lang="en-US" sz="1300" dirty="0"/>
          </a:p>
        </p:txBody>
      </p:sp>
      <p:sp>
        <p:nvSpPr>
          <p:cNvPr id="36" name="Shape 34"/>
          <p:cNvSpPr/>
          <p:nvPr/>
        </p:nvSpPr>
        <p:spPr>
          <a:xfrm>
            <a:off x="1981200" y="5205350"/>
            <a:ext cx="25400" cy="177800"/>
          </a:xfrm>
          <a:prstGeom prst="roundRect">
            <a:avLst>
              <a:gd name="adj" fmla="val 50000"/>
            </a:avLst>
          </a:prstGeom>
          <a:solidFill>
            <a:srgbClr val="1F5FCC"/>
          </a:solidFill>
          <a:ln/>
        </p:spPr>
      </p:sp>
      <p:sp>
        <p:nvSpPr>
          <p:cNvPr id="37" name="Text 35"/>
          <p:cNvSpPr/>
          <p:nvPr/>
        </p:nvSpPr>
        <p:spPr>
          <a:xfrm>
            <a:off x="2095500" y="5178692"/>
            <a:ext cx="170616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FCC"/>
                </a:solidFill>
                <a:latin typeface="DM Sans" pitchFamily="34" charset="0"/>
                <a:ea typeface="DM Sans" pitchFamily="34" charset="-122"/>
                <a:cs typeface="DM Sans" pitchFamily="34" charset="-120"/>
              </a:rPr>
              <a:t>0.0% (not solved)</a:t>
            </a:r>
            <a:endParaRPr lang="en-US" sz="1300" dirty="0"/>
          </a:p>
        </p:txBody>
      </p:sp>
      <p:sp>
        <p:nvSpPr>
          <p:cNvPr id="38" name="Text 36"/>
          <p:cNvSpPr/>
          <p:nvPr/>
        </p:nvSpPr>
        <p:spPr>
          <a:xfrm>
            <a:off x="812800" y="5587603"/>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Paper (SLP-CPLEX): af-2 19.4% · af-3 20.0% · af-4 19.8% · af-6-fs 5.2% · af-7 20.4% · af-6-f 4.0%</a:t>
            </a:r>
            <a:endParaRPr lang="en-US" sz="1300" dirty="0"/>
          </a:p>
        </p:txBody>
      </p:sp>
      <p:sp>
        <p:nvSpPr>
          <p:cNvPr id="39" name="Text 37"/>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40" name="Text 38"/>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10 / 13</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F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Every part of the method helps</a:t>
            </a:r>
            <a:endParaRPr lang="en-US" sz="3200" dirty="0"/>
          </a:p>
        </p:txBody>
      </p:sp>
      <p:sp>
        <p:nvSpPr>
          <p:cNvPr id="3" name="Shape 1"/>
          <p:cNvSpPr/>
          <p:nvPr/>
        </p:nvSpPr>
        <p:spPr>
          <a:xfrm>
            <a:off x="812800" y="1463018"/>
            <a:ext cx="3953603" cy="3482181"/>
          </a:xfrm>
          <a:prstGeom prst="roundRect">
            <a:avLst>
              <a:gd name="adj" fmla="val 3647"/>
            </a:avLst>
          </a:prstGeom>
          <a:solidFill>
            <a:srgbClr val="14213D"/>
          </a:solidFill>
          <a:ln/>
        </p:spPr>
      </p:sp>
      <p:sp>
        <p:nvSpPr>
          <p:cNvPr id="4" name="Text 2"/>
          <p:cNvSpPr/>
          <p:nvPr/>
        </p:nvSpPr>
        <p:spPr>
          <a:xfrm>
            <a:off x="1041400" y="1691618"/>
            <a:ext cx="3601295"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267"/>
                </a:solidFill>
                <a:latin typeface="DM Sans" pitchFamily="34" charset="0"/>
                <a:ea typeface="DM Sans" pitchFamily="34" charset="-122"/>
                <a:cs typeface="DM Sans" pitchFamily="34" charset="-120"/>
              </a:rPr>
              <a:t>NOT JUST LUCK</a:t>
            </a:r>
            <a:endParaRPr lang="en-US" sz="1300" dirty="0"/>
          </a:p>
        </p:txBody>
      </p:sp>
      <p:sp>
        <p:nvSpPr>
          <p:cNvPr id="5" name="Text 3"/>
          <p:cNvSpPr/>
          <p:nvPr/>
        </p:nvSpPr>
        <p:spPr>
          <a:xfrm>
            <a:off x="1041400" y="1998929"/>
            <a:ext cx="3601295"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F7F6F2"/>
                </a:solidFill>
                <a:latin typeface="DM Sans" pitchFamily="34" charset="0"/>
                <a:ea typeface="DM Sans" pitchFamily="34" charset="-122"/>
                <a:cs typeface="DM Sans" pitchFamily="34" charset="-120"/>
              </a:rPr>
              <a:t>5 of 11</a:t>
            </a:r>
            <a:endParaRPr lang="en-US" sz="5600" dirty="0"/>
          </a:p>
        </p:txBody>
      </p:sp>
      <p:sp>
        <p:nvSpPr>
          <p:cNvPr id="6" name="Text 4"/>
          <p:cNvSpPr/>
          <p:nvPr/>
        </p:nvSpPr>
        <p:spPr>
          <a:xfrm>
            <a:off x="1041400" y="2857438"/>
            <a:ext cx="3601295"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instances with significantly more good runs (Fisher, p &lt; 0.01)</a:t>
            </a:r>
            <a:endParaRPr lang="en-US" sz="1300" dirty="0"/>
          </a:p>
        </p:txBody>
      </p:sp>
      <p:sp>
        <p:nvSpPr>
          <p:cNvPr id="7" name="Text 5"/>
          <p:cNvSpPr/>
          <p:nvPr/>
        </p:nvSpPr>
        <p:spPr>
          <a:xfrm>
            <a:off x="1041400" y="3395861"/>
            <a:ext cx="3601295" cy="807707"/>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F7F6F2"/>
                </a:solidFill>
                <a:latin typeface="DM Sans" pitchFamily="34" charset="0"/>
                <a:ea typeface="DM Sans" pitchFamily="34" charset="-122"/>
                <a:cs typeface="DM Sans" pitchFamily="34" charset="-120"/>
              </a:rPr>
              <a:t>9 of 11</a:t>
            </a:r>
            <a:endParaRPr lang="en-US" sz="5600" dirty="0"/>
          </a:p>
        </p:txBody>
      </p:sp>
      <p:sp>
        <p:nvSpPr>
          <p:cNvPr id="8" name="Text 6"/>
          <p:cNvSpPr/>
          <p:nvPr/>
        </p:nvSpPr>
        <p:spPr>
          <a:xfrm>
            <a:off x="1041400" y="4254370"/>
            <a:ext cx="3601295"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instances with significantly lower final cost gaps (Mann–Whitney, p &lt; 0.01)</a:t>
            </a:r>
            <a:endParaRPr lang="en-US" sz="1300" dirty="0"/>
          </a:p>
        </p:txBody>
      </p:sp>
      <p:sp>
        <p:nvSpPr>
          <p:cNvPr id="9" name="Shape 7"/>
          <p:cNvSpPr/>
          <p:nvPr/>
        </p:nvSpPr>
        <p:spPr>
          <a:xfrm>
            <a:off x="4972778" y="1466193"/>
            <a:ext cx="6403248" cy="3475831"/>
          </a:xfrm>
          <a:prstGeom prst="roundRect">
            <a:avLst>
              <a:gd name="adj" fmla="val 3562"/>
            </a:avLst>
          </a:prstGeom>
          <a:solidFill>
            <a:srgbClr val="FDFDFB"/>
          </a:solidFill>
          <a:ln w="6350">
            <a:solidFill>
              <a:srgbClr val="DDE2EA"/>
            </a:solidFill>
            <a:prstDash val="solid"/>
          </a:ln>
        </p:spPr>
      </p:sp>
      <p:sp>
        <p:nvSpPr>
          <p:cNvPr id="10" name="Text 8"/>
          <p:cNvSpPr/>
          <p:nvPr/>
        </p:nvSpPr>
        <p:spPr>
          <a:xfrm>
            <a:off x="5202436" y="1695847"/>
            <a:ext cx="6122249"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5FCC"/>
                </a:solidFill>
                <a:latin typeface="DM Sans" pitchFamily="34" charset="0"/>
                <a:ea typeface="DM Sans" pitchFamily="34" charset="-122"/>
                <a:cs typeface="DM Sans" pitchFamily="34" charset="-120"/>
              </a:rPr>
              <a:t>GOOD RUNS (%), SEED 12345, 20 RUNS EACH</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215136" y="2041265"/>
          <a:ext cx="5931231" cy="1792751"/>
        </p:xfrm>
        <a:graphic>
          <a:graphicData uri="http://schemas.openxmlformats.org/drawingml/2006/table">
            <a:tbl>
              <a:tblPr/>
              <a:tblGrid>
                <a:gridCol w="1067622"/>
                <a:gridCol w="1126934"/>
                <a:gridCol w="1126934"/>
                <a:gridCol w="1542120"/>
                <a:gridCol w="1067622"/>
              </a:tblGrid>
              <a:tr h="634868">
                <a:tc>
                  <a:txBody>
                    <a:bodyPr/>
                    <a:lstStyle/>
                    <a:p>
                      <a:pPr indent="0" marL="0">
                        <a:lnSpc>
                          <a:spcPts val="1960"/>
                        </a:lnSpc>
                        <a:buNone/>
                      </a:pPr>
                      <a:r>
                        <a:rPr lang="en-US" sz="1400" b="1" dirty="0">
                          <a:solidFill>
                            <a:srgbClr val="14213D"/>
                          </a:solidFill>
                          <a:latin typeface="DM Sans" pitchFamily="34" charset="0"/>
                          <a:ea typeface="DM Sans" pitchFamily="34" charset="-122"/>
                          <a:cs typeface="DM Sans" pitchFamily="34" charset="-120"/>
                        </a:rPr>
                        <a:t>Instance</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IA-1 baseline</a:t>
                      </a:r>
                      <a:endParaRPr lang="en-US" sz="1400" dirty="0">
                        <a:latin typeface="DM Sans" charset="0"/>
                        <a:ea typeface="DM Sans" charset="0"/>
                        <a:cs typeface="DM Sans" charset="0"/>
                      </a:endParaRPr>
                    </a:p>
                  </a:txBody>
                  <a:tcPr marL="62230" marR="62230" marT="62230" marB="6223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Polish only</a:t>
                      </a:r>
                      <a:endParaRPr lang="en-US" sz="1400" dirty="0">
                        <a:latin typeface="DM Sans" charset="0"/>
                        <a:ea typeface="DM Sans" charset="0"/>
                        <a:cs typeface="DM Sans" charset="0"/>
                      </a:endParaRPr>
                    </a:p>
                  </a:txBody>
                  <a:tcPr marL="62230" marR="62230" marT="62230" marB="6223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Smart start + polish</a:t>
                      </a:r>
                      <a:endParaRPr lang="en-US" sz="1400" dirty="0">
                        <a:latin typeface="DM Sans" charset="0"/>
                        <a:ea typeface="DM Sans" charset="0"/>
                        <a:cs typeface="DM Sans" charset="0"/>
                      </a:endParaRPr>
                    </a:p>
                  </a:txBody>
                  <a:tcPr marL="62230" marR="62230" marT="62230" marB="6223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Full method</a:t>
                      </a:r>
                      <a:endParaRPr lang="en-US" sz="1400" dirty="0">
                        <a:latin typeface="DM Sans" charset="0"/>
                        <a:ea typeface="DM Sans" charset="0"/>
                        <a:cs typeface="DM Sans" charset="0"/>
                      </a:endParaRPr>
                    </a:p>
                  </a:txBody>
                  <a:tcPr marL="62230" marR="62230" marT="62230" marB="6223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af-2</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0%</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0%</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20%</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F5FCC"/>
                          </a:solidFill>
                          <a:latin typeface="DM Sans" pitchFamily="34" charset="0"/>
                          <a:ea typeface="DM Sans" pitchFamily="34" charset="-122"/>
                          <a:cs typeface="DM Sans" pitchFamily="34" charset="-120"/>
                        </a:rPr>
                        <a:t>65%</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af-3</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0%</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0%</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5%</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F5FCC"/>
                          </a:solidFill>
                          <a:latin typeface="DM Sans" pitchFamily="34" charset="0"/>
                          <a:ea typeface="DM Sans" pitchFamily="34" charset="-122"/>
                          <a:cs typeface="DM Sans" pitchFamily="34" charset="-120"/>
                        </a:rPr>
                        <a:t>15%</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af-4</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25%</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25%</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DM Sans" pitchFamily="34" charset="0"/>
                          <a:ea typeface="DM Sans" pitchFamily="34" charset="-122"/>
                          <a:cs typeface="DM Sans" pitchFamily="34" charset="-120"/>
                        </a:rPr>
                        <a:t>25%</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ctr" indent="0" marL="0">
                        <a:lnSpc>
                          <a:spcPts val="1960"/>
                        </a:lnSpc>
                        <a:buNone/>
                      </a:pPr>
                      <a:r>
                        <a:rPr lang="en-US" sz="1400" dirty="0">
                          <a:solidFill>
                            <a:srgbClr val="1F5FCC"/>
                          </a:solidFill>
                          <a:latin typeface="DM Sans" pitchFamily="34" charset="0"/>
                          <a:ea typeface="DM Sans" pitchFamily="34" charset="-122"/>
                          <a:cs typeface="DM Sans" pitchFamily="34" charset="-120"/>
                        </a:rPr>
                        <a:t>60%</a:t>
                      </a:r>
                      <a:endParaRPr lang="en-US" sz="1400" dirty="0">
                        <a:latin typeface="DM Sans" charset="0"/>
                        <a:ea typeface="DM Sans" charset="0"/>
                        <a:cs typeface="DM Sans" charset="0"/>
                      </a:endParaRPr>
                    </a:p>
                  </a:txBody>
                  <a:tcPr marL="62230" marR="62230" marT="62230" marB="6223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bl>
          </a:graphicData>
        </a:graphic>
      </p:graphicFrame>
      <p:sp>
        <p:nvSpPr>
          <p:cNvPr id="12" name="Text 9"/>
          <p:cNvSpPr/>
          <p:nvPr/>
        </p:nvSpPr>
        <p:spPr>
          <a:xfrm>
            <a:off x="5202436" y="3935611"/>
            <a:ext cx="6122249"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Polish mainly fixes feasibility. Smart starts add variety. The learning search adds the big gains.</a:t>
            </a:r>
            <a:endParaRPr lang="en-US" sz="1600" dirty="0"/>
          </a:p>
        </p:txBody>
      </p:sp>
      <p:sp>
        <p:nvSpPr>
          <p:cNvPr id="13" name="Text 10"/>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14" name="Text 11"/>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11 / 13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Honest limits</a:t>
            </a:r>
            <a:endParaRPr lang="en-US" sz="3200" dirty="0"/>
          </a:p>
        </p:txBody>
      </p:sp>
      <p:sp>
        <p:nvSpPr>
          <p:cNvPr id="3" name="Shape 1"/>
          <p:cNvSpPr/>
          <p:nvPr/>
        </p:nvSpPr>
        <p:spPr>
          <a:xfrm>
            <a:off x="812800" y="1463018"/>
            <a:ext cx="5207000" cy="1356254"/>
          </a:xfrm>
          <a:prstGeom prst="roundRect">
            <a:avLst>
              <a:gd name="adj" fmla="val 5618"/>
            </a:avLst>
          </a:prstGeom>
          <a:solidFill>
            <a:srgbClr val="FDFDFB"/>
          </a:solidFill>
          <a:ln/>
        </p:spPr>
      </p:sp>
      <p:sp>
        <p:nvSpPr>
          <p:cNvPr id="4" name="Shape 2"/>
          <p:cNvSpPr/>
          <p:nvPr/>
        </p:nvSpPr>
        <p:spPr>
          <a:xfrm>
            <a:off x="812800" y="1463018"/>
            <a:ext cx="5207000" cy="1356254"/>
          </a:xfrm>
          <a:custGeom>
            <a:avLst/>
            <a:gdLst/>
            <a:ahLst/>
            <a:cxnLst/>
            <a:rect l="l" t="t" r="r" b="b"/>
            <a:pathLst>
              <a:path w="5207000" h="1356254">
                <a:moveTo>
                  <a:pt x="76200" y="1356254"/>
                </a:moveTo>
                <a:lnTo>
                  <a:pt x="76200" y="1356254"/>
                </a:lnTo>
                <a:arcTo hR="76200" wR="76200" stAng="5400000" swAng="5400000"/>
                <a:lnTo>
                  <a:pt x="0" y="76200"/>
                </a:lnTo>
                <a:arcTo hR="76200" wR="76200" stAng="10800000" swAng="5400000"/>
                <a:lnTo>
                  <a:pt x="76200" y="0"/>
                </a:lnTo>
                <a:arcTo hR="76200" wR="25400" stAng="16200000" swAng="-5400000"/>
                <a:lnTo>
                  <a:pt x="50800" y="1280054"/>
                </a:lnTo>
                <a:arcTo hR="76200" wR="25400" stAng="10800000" swAng="-5400000"/>
                <a:close/>
              </a:path>
            </a:pathLst>
          </a:custGeom>
          <a:solidFill>
            <a:srgbClr val="D4672A"/>
          </a:solidFill>
          <a:ln/>
        </p:spPr>
      </p:sp>
      <p:sp>
        <p:nvSpPr>
          <p:cNvPr id="5" name="Text 3"/>
          <p:cNvSpPr/>
          <p:nvPr/>
        </p:nvSpPr>
        <p:spPr>
          <a:xfrm>
            <a:off x="1092200" y="1666218"/>
            <a:ext cx="48399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af-6-f is not solved</a:t>
            </a:r>
            <a:endParaRPr lang="en-US" sz="2000" dirty="0"/>
          </a:p>
        </p:txBody>
      </p:sp>
      <p:sp>
        <p:nvSpPr>
          <p:cNvPr id="6" name="Text 4"/>
          <p:cNvSpPr/>
          <p:nvPr/>
        </p:nvSpPr>
        <p:spPr>
          <a:xfrm>
            <a:off x="1092200" y="2047218"/>
            <a:ext cx="483997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Neither method reaches the good zone: IA-2 0%, IA-1 1.7%, paper 4.0%.</a:t>
            </a:r>
            <a:endParaRPr lang="en-US" sz="1600" dirty="0"/>
          </a:p>
        </p:txBody>
      </p:sp>
      <p:sp>
        <p:nvSpPr>
          <p:cNvPr id="7" name="Shape 5"/>
          <p:cNvSpPr/>
          <p:nvPr/>
        </p:nvSpPr>
        <p:spPr>
          <a:xfrm>
            <a:off x="6172200" y="1463018"/>
            <a:ext cx="5207000" cy="1356254"/>
          </a:xfrm>
          <a:prstGeom prst="roundRect">
            <a:avLst>
              <a:gd name="adj" fmla="val 5618"/>
            </a:avLst>
          </a:prstGeom>
          <a:solidFill>
            <a:srgbClr val="FDFDFB"/>
          </a:solidFill>
          <a:ln/>
        </p:spPr>
      </p:sp>
      <p:sp>
        <p:nvSpPr>
          <p:cNvPr id="8" name="Shape 6"/>
          <p:cNvSpPr/>
          <p:nvPr/>
        </p:nvSpPr>
        <p:spPr>
          <a:xfrm>
            <a:off x="6172200" y="1463018"/>
            <a:ext cx="5207000" cy="1356254"/>
          </a:xfrm>
          <a:custGeom>
            <a:avLst/>
            <a:gdLst/>
            <a:ahLst/>
            <a:cxnLst/>
            <a:rect l="l" t="t" r="r" b="b"/>
            <a:pathLst>
              <a:path w="5207000" h="1356254">
                <a:moveTo>
                  <a:pt x="76200" y="1356254"/>
                </a:moveTo>
                <a:lnTo>
                  <a:pt x="76200" y="1356254"/>
                </a:lnTo>
                <a:arcTo hR="76200" wR="76200" stAng="5400000" swAng="5400000"/>
                <a:lnTo>
                  <a:pt x="0" y="76200"/>
                </a:lnTo>
                <a:arcTo hR="76200" wR="76200" stAng="10800000" swAng="5400000"/>
                <a:lnTo>
                  <a:pt x="76200" y="0"/>
                </a:lnTo>
                <a:arcTo hR="76200" wR="25400" stAng="16200000" swAng="-5400000"/>
                <a:lnTo>
                  <a:pt x="50800" y="1280054"/>
                </a:lnTo>
                <a:arcTo hR="76200" wR="25400" stAng="10800000" swAng="-5400000"/>
                <a:close/>
              </a:path>
            </a:pathLst>
          </a:custGeom>
          <a:solidFill>
            <a:srgbClr val="D4672A"/>
          </a:solidFill>
          <a:ln/>
        </p:spPr>
      </p:sp>
      <p:sp>
        <p:nvSpPr>
          <p:cNvPr id="9" name="Text 7"/>
          <p:cNvSpPr/>
          <p:nvPr/>
        </p:nvSpPr>
        <p:spPr>
          <a:xfrm>
            <a:off x="6451600" y="1666218"/>
            <a:ext cx="48399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Easy instances get slower</a:t>
            </a:r>
            <a:endParaRPr lang="en-US" sz="2000" dirty="0"/>
          </a:p>
        </p:txBody>
      </p:sp>
      <p:sp>
        <p:nvSpPr>
          <p:cNvPr id="10" name="Text 8"/>
          <p:cNvSpPr/>
          <p:nvPr/>
        </p:nvSpPr>
        <p:spPr>
          <a:xfrm>
            <a:off x="6451600" y="2047218"/>
            <a:ext cx="483997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The extra LPs make the time to a good solution up to about 2× worse.</a:t>
            </a:r>
            <a:endParaRPr lang="en-US" sz="1600" dirty="0"/>
          </a:p>
        </p:txBody>
      </p:sp>
      <p:sp>
        <p:nvSpPr>
          <p:cNvPr id="11" name="Shape 9"/>
          <p:cNvSpPr/>
          <p:nvPr/>
        </p:nvSpPr>
        <p:spPr>
          <a:xfrm>
            <a:off x="812800" y="2971670"/>
            <a:ext cx="5207000" cy="1356254"/>
          </a:xfrm>
          <a:prstGeom prst="roundRect">
            <a:avLst>
              <a:gd name="adj" fmla="val 5618"/>
            </a:avLst>
          </a:prstGeom>
          <a:solidFill>
            <a:srgbClr val="FDFDFB"/>
          </a:solidFill>
          <a:ln/>
        </p:spPr>
      </p:sp>
      <p:sp>
        <p:nvSpPr>
          <p:cNvPr id="12" name="Shape 10"/>
          <p:cNvSpPr/>
          <p:nvPr/>
        </p:nvSpPr>
        <p:spPr>
          <a:xfrm>
            <a:off x="812800" y="2971670"/>
            <a:ext cx="5207000" cy="1356254"/>
          </a:xfrm>
          <a:custGeom>
            <a:avLst/>
            <a:gdLst/>
            <a:ahLst/>
            <a:cxnLst/>
            <a:rect l="l" t="t" r="r" b="b"/>
            <a:pathLst>
              <a:path w="5207000" h="1356254">
                <a:moveTo>
                  <a:pt x="76200" y="1356254"/>
                </a:moveTo>
                <a:lnTo>
                  <a:pt x="76200" y="1356254"/>
                </a:lnTo>
                <a:arcTo hR="76200" wR="76200" stAng="5400000" swAng="5400000"/>
                <a:lnTo>
                  <a:pt x="0" y="76200"/>
                </a:lnTo>
                <a:arcTo hR="76200" wR="76200" stAng="10800000" swAng="5400000"/>
                <a:lnTo>
                  <a:pt x="76200" y="0"/>
                </a:lnTo>
                <a:arcTo hR="76200" wR="25400" stAng="16200000" swAng="-5400000"/>
                <a:lnTo>
                  <a:pt x="50800" y="1280054"/>
                </a:lnTo>
                <a:arcTo hR="76200" wR="25400" stAng="10800000" swAng="-5400000"/>
                <a:close/>
              </a:path>
            </a:pathLst>
          </a:custGeom>
          <a:solidFill>
            <a:srgbClr val="D4672A"/>
          </a:solidFill>
          <a:ln/>
        </p:spPr>
      </p:sp>
      <p:sp>
        <p:nvSpPr>
          <p:cNvPr id="13" name="Text 11"/>
          <p:cNvSpPr/>
          <p:nvPr/>
        </p:nvSpPr>
        <p:spPr>
          <a:xfrm>
            <a:off x="1092200" y="3174870"/>
            <a:ext cx="48399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af-7 stays just below the paper</a:t>
            </a:r>
            <a:endParaRPr lang="en-US" sz="2000" dirty="0"/>
          </a:p>
        </p:txBody>
      </p:sp>
      <p:sp>
        <p:nvSpPr>
          <p:cNvPr id="14" name="Text 12"/>
          <p:cNvSpPr/>
          <p:nvPr/>
        </p:nvSpPr>
        <p:spPr>
          <a:xfrm>
            <a:off x="1092200" y="3555870"/>
            <a:ext cx="483997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18.3% good runs, against 20.4% in the paper.</a:t>
            </a:r>
            <a:endParaRPr lang="en-US" sz="1600" dirty="0"/>
          </a:p>
        </p:txBody>
      </p:sp>
      <p:sp>
        <p:nvSpPr>
          <p:cNvPr id="15" name="Shape 13"/>
          <p:cNvSpPr/>
          <p:nvPr/>
        </p:nvSpPr>
        <p:spPr>
          <a:xfrm>
            <a:off x="6172200" y="2971670"/>
            <a:ext cx="5207000" cy="1356254"/>
          </a:xfrm>
          <a:prstGeom prst="roundRect">
            <a:avLst>
              <a:gd name="adj" fmla="val 5618"/>
            </a:avLst>
          </a:prstGeom>
          <a:solidFill>
            <a:srgbClr val="FDFDFB"/>
          </a:solidFill>
          <a:ln/>
        </p:spPr>
      </p:sp>
      <p:sp>
        <p:nvSpPr>
          <p:cNvPr id="16" name="Shape 14"/>
          <p:cNvSpPr/>
          <p:nvPr/>
        </p:nvSpPr>
        <p:spPr>
          <a:xfrm>
            <a:off x="6172200" y="2971670"/>
            <a:ext cx="5207000" cy="1356254"/>
          </a:xfrm>
          <a:custGeom>
            <a:avLst/>
            <a:gdLst/>
            <a:ahLst/>
            <a:cxnLst/>
            <a:rect l="l" t="t" r="r" b="b"/>
            <a:pathLst>
              <a:path w="5207000" h="1356254">
                <a:moveTo>
                  <a:pt x="76200" y="1356254"/>
                </a:moveTo>
                <a:lnTo>
                  <a:pt x="76200" y="1356254"/>
                </a:lnTo>
                <a:arcTo hR="76200" wR="76200" stAng="5400000" swAng="5400000"/>
                <a:lnTo>
                  <a:pt x="0" y="76200"/>
                </a:lnTo>
                <a:arcTo hR="76200" wR="76200" stAng="10800000" swAng="5400000"/>
                <a:lnTo>
                  <a:pt x="76200" y="0"/>
                </a:lnTo>
                <a:arcTo hR="76200" wR="25400" stAng="16200000" swAng="-5400000"/>
                <a:lnTo>
                  <a:pt x="50800" y="1280054"/>
                </a:lnTo>
                <a:arcTo hR="76200" wR="25400" stAng="10800000" swAng="-5400000"/>
                <a:close/>
              </a:path>
            </a:pathLst>
          </a:custGeom>
          <a:solidFill>
            <a:srgbClr val="D4672A"/>
          </a:solidFill>
          <a:ln/>
        </p:spPr>
      </p:sp>
      <p:sp>
        <p:nvSpPr>
          <p:cNvPr id="17" name="Text 15"/>
          <p:cNvSpPr/>
          <p:nvPr/>
        </p:nvSpPr>
        <p:spPr>
          <a:xfrm>
            <a:off x="6451600" y="3174870"/>
            <a:ext cx="48399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More reliable, not always best</a:t>
            </a:r>
            <a:endParaRPr lang="en-US" sz="2000" dirty="0"/>
          </a:p>
        </p:txBody>
      </p:sp>
      <p:sp>
        <p:nvSpPr>
          <p:cNvPr id="18" name="Text 16"/>
          <p:cNvSpPr/>
          <p:nvPr/>
        </p:nvSpPr>
        <p:spPr>
          <a:xfrm>
            <a:off x="6451600" y="3555870"/>
            <a:ext cx="483997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DM Sans" pitchFamily="34" charset="0"/>
                <a:ea typeface="DM Sans" pitchFamily="34" charset="-122"/>
                <a:cs typeface="DM Sans" pitchFamily="34" charset="-120"/>
              </a:rPr>
              <a:t>On af-4 one IA-1 run found the exact best known cost; our best run is 0.19% above it.</a:t>
            </a:r>
            <a:endParaRPr lang="en-US" sz="1600" dirty="0"/>
          </a:p>
        </p:txBody>
      </p:sp>
      <p:sp>
        <p:nvSpPr>
          <p:cNvPr id="19" name="Text 17"/>
          <p:cNvSpPr/>
          <p:nvPr/>
        </p:nvSpPr>
        <p:spPr>
          <a:xfrm>
            <a:off x="812800" y="4531122"/>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C"/>
                </a:solidFill>
                <a:latin typeface="DM Sans" pitchFamily="34" charset="0"/>
                <a:ea typeface="DM Sans" pitchFamily="34" charset="-122"/>
                <a:cs typeface="DM Sans" pitchFamily="34" charset="-120"/>
              </a:rPr>
              <a:t>Also: 3 × 20 runs against 500 in the paper, a different LP solver (HiGHS instead of CPLEX), and the diet bound is tight only on af-1.</a:t>
            </a:r>
            <a:endParaRPr lang="en-US" sz="1300" dirty="0"/>
          </a:p>
        </p:txBody>
      </p:sp>
      <p:sp>
        <p:nvSpPr>
          <p:cNvPr id="20" name="Text 18"/>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270"/>
                </a:solidFill>
                <a:latin typeface="DM Sans" pitchFamily="34" charset="0"/>
                <a:ea typeface="DM Sans" pitchFamily="34" charset="-122"/>
                <a:cs typeface="DM Sans" pitchFamily="34" charset="-120"/>
              </a:rPr>
              <a:t>Group OPT-09 · IA-2</a:t>
            </a:r>
            <a:endParaRPr lang="en-US" sz="1300" dirty="0"/>
          </a:p>
        </p:txBody>
      </p:sp>
      <p:sp>
        <p:nvSpPr>
          <p:cNvPr id="21" name="Text 19"/>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270"/>
                </a:solidFill>
                <a:latin typeface="DM Sans" pitchFamily="34" charset="0"/>
                <a:ea typeface="DM Sans" pitchFamily="34" charset="-122"/>
                <a:cs typeface="DM Sans" pitchFamily="34" charset="-120"/>
              </a:rPr>
              <a:t>12 / 13</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2A267"/>
                </a:solidFill>
                <a:latin typeface="DM Sans" pitchFamily="34" charset="0"/>
                <a:ea typeface="DM Sans" pitchFamily="34" charset="-122"/>
                <a:cs typeface="DM Sans" pitchFamily="34" charset="-120"/>
              </a:rPr>
              <a:t>CONCLUSION</a:t>
            </a:r>
            <a:endParaRPr lang="en-US" sz="1300" dirty="0"/>
          </a:p>
        </p:txBody>
      </p:sp>
      <p:sp>
        <p:nvSpPr>
          <p:cNvPr id="3" name="Text 1"/>
          <p:cNvSpPr/>
          <p:nvPr>
            <p:ph type="title"/>
          </p:nvPr>
        </p:nvSpPr>
        <p:spPr>
          <a:xfrm>
            <a:off x="812800" y="1449784"/>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6F2"/>
                </a:solidFill>
                <a:latin typeface="DM Sans" pitchFamily="34" charset="0"/>
                <a:ea typeface="DM Sans" pitchFamily="34" charset="-122"/>
                <a:cs typeface="DM Sans" pitchFamily="34" charset="-120"/>
              </a:rPr>
              <a:t>Structure-aware restarts make SLP reliable on hard feed-mill problems.</a:t>
            </a:r>
            <a:endParaRPr lang="en-US" sz="3200" dirty="0"/>
          </a:p>
        </p:txBody>
      </p:sp>
      <p:sp>
        <p:nvSpPr>
          <p:cNvPr id="4" name="Shape 2"/>
          <p:cNvSpPr/>
          <p:nvPr/>
        </p:nvSpPr>
        <p:spPr>
          <a:xfrm>
            <a:off x="812800" y="2790230"/>
            <a:ext cx="3386667" cy="1315641"/>
          </a:xfrm>
          <a:prstGeom prst="roundRect">
            <a:avLst>
              <a:gd name="adj" fmla="val 9653"/>
            </a:avLst>
          </a:prstGeom>
          <a:solidFill>
            <a:srgbClr val="1E3158"/>
          </a:solidFill>
          <a:ln/>
        </p:spPr>
      </p:sp>
      <p:sp>
        <p:nvSpPr>
          <p:cNvPr id="5" name="Text 3"/>
          <p:cNvSpPr/>
          <p:nvPr/>
        </p:nvSpPr>
        <p:spPr>
          <a:xfrm>
            <a:off x="1041400" y="2968030"/>
            <a:ext cx="3017351"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DB2F5"/>
                </a:solidFill>
                <a:latin typeface="DM Sans" pitchFamily="34" charset="0"/>
                <a:ea typeface="DM Sans" pitchFamily="34" charset="-122"/>
                <a:cs typeface="DM Sans" pitchFamily="34" charset="-120"/>
              </a:rPr>
              <a:t>96%</a:t>
            </a:r>
            <a:endParaRPr lang="en-US" sz="3200" dirty="0"/>
          </a:p>
        </p:txBody>
      </p:sp>
      <p:sp>
        <p:nvSpPr>
          <p:cNvPr id="6" name="Text 4"/>
          <p:cNvSpPr/>
          <p:nvPr/>
        </p:nvSpPr>
        <p:spPr>
          <a:xfrm>
            <a:off x="1041400" y="3465847"/>
            <a:ext cx="301735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of runs feasible (was 88%)</a:t>
            </a:r>
            <a:endParaRPr lang="en-US" sz="1300" dirty="0"/>
          </a:p>
        </p:txBody>
      </p:sp>
      <p:sp>
        <p:nvSpPr>
          <p:cNvPr id="7" name="Shape 5"/>
          <p:cNvSpPr/>
          <p:nvPr/>
        </p:nvSpPr>
        <p:spPr>
          <a:xfrm>
            <a:off x="4402667" y="2790230"/>
            <a:ext cx="3386667" cy="1315641"/>
          </a:xfrm>
          <a:prstGeom prst="roundRect">
            <a:avLst>
              <a:gd name="adj" fmla="val 9653"/>
            </a:avLst>
          </a:prstGeom>
          <a:solidFill>
            <a:srgbClr val="1E3158"/>
          </a:solidFill>
          <a:ln/>
        </p:spPr>
      </p:sp>
      <p:sp>
        <p:nvSpPr>
          <p:cNvPr id="8" name="Text 6"/>
          <p:cNvSpPr/>
          <p:nvPr/>
        </p:nvSpPr>
        <p:spPr>
          <a:xfrm>
            <a:off x="4631267" y="2968030"/>
            <a:ext cx="3017351"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DB2F5"/>
                </a:solidFill>
                <a:latin typeface="DM Sans" pitchFamily="34" charset="0"/>
                <a:ea typeface="DM Sans" pitchFamily="34" charset="-122"/>
                <a:cs typeface="DM Sans" pitchFamily="34" charset="-120"/>
              </a:rPr>
              <a:t>33.9%</a:t>
            </a:r>
            <a:endParaRPr lang="en-US" sz="3200" dirty="0"/>
          </a:p>
        </p:txBody>
      </p:sp>
      <p:sp>
        <p:nvSpPr>
          <p:cNvPr id="9" name="Text 7"/>
          <p:cNvSpPr/>
          <p:nvPr/>
        </p:nvSpPr>
        <p:spPr>
          <a:xfrm>
            <a:off x="4631267" y="3465847"/>
            <a:ext cx="30173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good runs on hard instances (was 6.4%)</a:t>
            </a:r>
            <a:endParaRPr lang="en-US" sz="1300" dirty="0"/>
          </a:p>
        </p:txBody>
      </p:sp>
      <p:sp>
        <p:nvSpPr>
          <p:cNvPr id="10" name="Shape 8"/>
          <p:cNvSpPr/>
          <p:nvPr/>
        </p:nvSpPr>
        <p:spPr>
          <a:xfrm>
            <a:off x="7992534" y="2790230"/>
            <a:ext cx="3386667" cy="1315641"/>
          </a:xfrm>
          <a:prstGeom prst="roundRect">
            <a:avLst>
              <a:gd name="adj" fmla="val 9653"/>
            </a:avLst>
          </a:prstGeom>
          <a:solidFill>
            <a:srgbClr val="1E3158"/>
          </a:solidFill>
          <a:ln/>
        </p:spPr>
      </p:sp>
      <p:sp>
        <p:nvSpPr>
          <p:cNvPr id="11" name="Text 9"/>
          <p:cNvSpPr/>
          <p:nvPr/>
        </p:nvSpPr>
        <p:spPr>
          <a:xfrm>
            <a:off x="8221134" y="2968030"/>
            <a:ext cx="3017351"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DB2F5"/>
                </a:solidFill>
                <a:latin typeface="DM Sans" pitchFamily="34" charset="0"/>
                <a:ea typeface="DM Sans" pitchFamily="34" charset="-122"/>
                <a:cs typeface="DM Sans" pitchFamily="34" charset="-120"/>
              </a:rPr>
              <a:t>5.0×</a:t>
            </a:r>
            <a:endParaRPr lang="en-US" sz="3200" dirty="0"/>
          </a:p>
        </p:txBody>
      </p:sp>
      <p:sp>
        <p:nvSpPr>
          <p:cNvPr id="12" name="Text 10"/>
          <p:cNvSpPr/>
          <p:nvPr/>
        </p:nvSpPr>
        <p:spPr>
          <a:xfrm>
            <a:off x="8221134" y="3465847"/>
            <a:ext cx="301735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E0"/>
                </a:solidFill>
                <a:latin typeface="DM Sans" pitchFamily="34" charset="0"/>
                <a:ea typeface="DM Sans" pitchFamily="34" charset="-122"/>
                <a:cs typeface="DM Sans" pitchFamily="34" charset="-120"/>
              </a:rPr>
              <a:t>shorter time to a good solution</a:t>
            </a:r>
            <a:endParaRPr lang="en-US" sz="1300" dirty="0"/>
          </a:p>
        </p:txBody>
      </p:sp>
      <p:sp>
        <p:nvSpPr>
          <p:cNvPr id="13" name="Text 11"/>
          <p:cNvSpPr/>
          <p:nvPr/>
        </p:nvSpPr>
        <p:spPr>
          <a:xfrm>
            <a:off x="812800" y="4511743"/>
            <a:ext cx="1088339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5CFE0"/>
                </a:solidFill>
                <a:latin typeface="DM Sans" pitchFamily="34" charset="0"/>
                <a:ea typeface="DM Sans" pitchFamily="34" charset="-122"/>
                <a:cs typeface="DM Sans" pitchFamily="34" charset="-120"/>
              </a:rPr>
              <a:t>Next:</a:t>
            </a:r>
            <a:r>
              <a:rPr lang="en-US" sz="1600" dirty="0">
                <a:solidFill>
                  <a:srgbClr val="C5CFE0"/>
                </a:solidFill>
                <a:latin typeface="DM Sans" pitchFamily="34" charset="0"/>
                <a:ea typeface="DM Sans" pitchFamily="34" charset="-122"/>
                <a:cs typeface="DM Sans" pitchFamily="34" charset="-120"/>
              </a:rPr>
              <a:t> more seeds or 500 runs, adaptive choice between smart starts and learning moves, parallel tests, stronger lower bounds, bin capacities.</a:t>
            </a:r>
            <a:endParaRPr lang="en-US" sz="1600" dirty="0"/>
          </a:p>
        </p:txBody>
      </p:sp>
      <p:sp>
        <p:nvSpPr>
          <p:cNvPr id="14" name="Text 12"/>
          <p:cNvSpPr/>
          <p:nvPr/>
        </p:nvSpPr>
        <p:spPr>
          <a:xfrm>
            <a:off x="812800" y="54864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A267"/>
                </a:solidFill>
                <a:latin typeface="DM Sans" pitchFamily="34" charset="0"/>
                <a:ea typeface="DM Sans" pitchFamily="34" charset="-122"/>
                <a:cs typeface="DM Sans" pitchFamily="34" charset="-120"/>
              </a:rPr>
              <a:t>Thank you. Questions?</a:t>
            </a:r>
            <a:endParaRPr lang="en-US" sz="2000" dirty="0"/>
          </a:p>
        </p:txBody>
      </p:sp>
      <p:sp>
        <p:nvSpPr>
          <p:cNvPr id="15" name="Text 13"/>
          <p:cNvSpPr/>
          <p:nvPr/>
        </p:nvSpPr>
        <p:spPr>
          <a:xfrm>
            <a:off x="812800" y="6220489"/>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0CC"/>
                </a:solidFill>
                <a:latin typeface="DM Sans" pitchFamily="34" charset="0"/>
                <a:ea typeface="DM Sans" pitchFamily="34" charset="-122"/>
                <a:cs typeface="DM Sans" pitchFamily="34" charset="-120"/>
              </a:rPr>
              <a:t>Group OPT-09 · IA-2</a:t>
            </a:r>
            <a:endParaRPr lang="en-US" sz="1300" dirty="0"/>
          </a:p>
        </p:txBody>
      </p:sp>
      <p:sp>
        <p:nvSpPr>
          <p:cNvPr id="16" name="Text 14"/>
          <p:cNvSpPr/>
          <p:nvPr/>
        </p:nvSpPr>
        <p:spPr>
          <a:xfrm>
            <a:off x="10058400" y="62204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9FB0CC"/>
                </a:solidFill>
                <a:latin typeface="DM Sans" pitchFamily="34" charset="0"/>
                <a:ea typeface="DM Sans" pitchFamily="34" charset="-122"/>
                <a:cs typeface="DM Sans" pitchFamily="34" charset="-120"/>
              </a:rPr>
              <a:t>13 / 13</a:t>
            </a:r>
            <a:endParaRPr lang="en-US" sz="1300" dirty="0"/>
          </a:p>
        </p:txBody>
      </p:sp>
    </p:spTree>
  </p:cSld>
  <p:clrMapOvr>
    <a:masterClrMapping/>
  </p:clrMapOvr>
</p:sld>
</file>

<file path=ppt/theme/theme1.xml><?xml version="1.0" encoding="utf-8"?>
<a:theme xmlns:a="http://schemas.openxmlformats.org/drawingml/2006/main" name="Smarter Restarts for Feed Blending">
  <a:themeElements>
    <a:clrScheme name="Smarter Restarts for Feed Blending">
      <a:dk1>
        <a:srgbClr val="14213D"/>
      </a:dk1>
      <a:lt1>
        <a:srgbClr val="F7F6F2"/>
      </a:lt1>
      <a:dk2>
        <a:srgbClr val="4D566A"/>
      </a:dk2>
      <a:lt2>
        <a:srgbClr val="E0E1E0"/>
      </a:lt2>
      <a:accent1>
        <a:srgbClr val="1F5FCC"/>
      </a:accent1>
      <a:accent2>
        <a:srgbClr val="8DB2F5"/>
      </a:accent2>
      <a:accent3>
        <a:srgbClr val="F2A267"/>
      </a:accent3>
      <a:accent4>
        <a:srgbClr val="D4672A"/>
      </a:accent4>
      <a:accent5>
        <a:srgbClr val="B34D14"/>
      </a:accent5>
      <a:accent6>
        <a:srgbClr val="1E3158"/>
      </a:accent6>
      <a:hlink>
        <a:srgbClr val="0563C1"/>
      </a:hlink>
      <a:folHlink>
        <a:srgbClr val="954F72"/>
      </a:folHlink>
    </a:clrScheme>
    <a:fontScheme name="Smarter Restarts for Feed Blend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Restarts for Feed Blending</dc:title>
  <dc:subject/>
  <dc:creator/>
  <cp:lastModifiedBy/>
  <cp:revision>1</cp:revision>
  <dcterms:created xsi:type="dcterms:W3CDTF">2026-10-16T10:47:16Z</dcterms:created>
  <dcterms:modified xsi:type="dcterms:W3CDTF">2026-10-16T10:47:16Z</dcterms:modified>
</cp:coreProperties>
</file>