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8edd34f-e930-8f3a-d8e6-de70d9e50cb3}">
          <p14:sldIdLst>
            <p14:sldId id="256"/>
          </p14:sldIdLst>
        </p14:section>
        <p14:section name="The problem" id="{1fdeb04e-f22a-c8cb-03ac-fb8e3a73f1cc}">
          <p14:sldIdLst>
            <p14:sldId id="257"/>
            <p14:sldId id="258"/>
          </p14:sldIdLst>
        </p14:section>
        <p14:section name="IA-1 and the gap" id="{47b5b5af-d386-3558-339f-98d0a3a0b8e5}">
          <p14:sldIdLst>
            <p14:sldId id="259"/>
            <p14:sldId id="260"/>
          </p14:sldIdLst>
        </p14:section>
        <p14:section name="Our idea (IA-2)" id="{44c8e06a-380f-d6f8-af2c-10a742434478}">
          <p14:sldIdLst>
            <p14:sldId id="261"/>
            <p14:sldId id="262"/>
            <p14:sldId id="263"/>
          </p14:sldIdLst>
        </p14:section>
        <p14:section name="Results" id="{577fa082-8c14-cdb2-f3fd-f6c5c746d9ac}">
          <p14:sldIdLst>
            <p14:sldId id="264"/>
            <p14:sldId id="265"/>
            <p14:sldId id="266"/>
            <p14:sldId id="267"/>
            <p14:sldId id="268"/>
          </p14:sldIdLst>
        </p14:section>
        <p14:section name="Conclusion" id="{8d049100-8f68-e619-0a20-ab2a623d770f}">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52514E"/>
                </a:solidFill>
                <a:latin typeface="Arial"/>
              </a:defRPr>
            </a:pPr>
            <a:r>
              <a:rPr sz="1400" b="0" i="0" u="none" strike="noStrike">
                <a:solidFill>
                  <a:srgbClr val="52514E"/>
                </a:solidFill>
                <a:latin typeface="Arial"/>
              </a:rPr>
              <a:t>cost of all possible recipes (simplified)</a:t>
            </a:r>
          </a:p>
        </c:rich>
      </c:tx>
      <c:layout/>
      <c:overlay val="0"/>
    </c:title>
    <c:autoTitleDeleted val="0"/>
    <c:plotArea>
      <c:layout/>
      <c:lineChart>
        <c:varyColors val="0"/>
        <c:ser>
          <c:idx val="0"/>
          <c:order val="0"/>
          <c:tx>
            <c:strRef>
              <c:f>Sheet1!$B$1</c:f>
              <c:strCache>
                <c:ptCount val="1"/>
                <c:pt idx="0">
                  <c:v>total cost</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Sheet1!$A$2:$A$62</c:f>
              <c:multiLvlStrCache>
                <c:ptCount val="6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lvl>
              </c:multiLvlStrCache>
            </c:multiLvlStrRef>
          </c:cat>
          <c:val>
            <c:numRef>
              <c:f>Sheet1!$B$2:$B$62</c:f>
              <c:numCache>
                <c:formatCode>General</c:formatCode>
                <c:ptCount val="61"/>
                <c:pt idx="0">
                  <c:v>8.175618083288686</c:v>
                </c:pt>
                <c:pt idx="1">
                  <c:v>8.56908567384896</c:v>
                </c:pt>
                <c:pt idx="2">
                  <c:v>8.663197478559411</c:v>
                </c:pt>
                <c:pt idx="3">
                  <c:v>8.472375338308222</c:v>
                </c:pt>
                <c:pt idx="4">
                  <c:v>8.079599706700343</c:v>
                </c:pt>
                <c:pt idx="5">
                  <c:v>7.611776103736298</c:v>
                </c:pt>
                <c:pt idx="6">
                  <c:v>7.204088274496658</c:v>
                </c:pt>
                <c:pt idx="7">
                  <c:v>6.962761672560326</c:v>
                </c:pt>
                <c:pt idx="8">
                  <c:v>6.936049165944642</c:v>
                </c:pt>
                <c:pt idx="9">
                  <c:v>7.10107340531208</c:v>
                </c:pt>
                <c:pt idx="10">
                  <c:v>7.369986992946395</c:v>
                </c:pt>
                <c:pt idx="11">
                  <c:v>7.613833503010161</c:v>
                </c:pt>
                <c:pt idx="12">
                  <c:v>7.697836845148411</c:v>
                </c:pt>
                <c:pt idx="13">
                  <c:v>7.5188304266492985</c:v>
                </c:pt>
                <c:pt idx="14">
                  <c:v>7.03494993884261</c:v>
                </c:pt>
                <c:pt idx="15">
                  <c:v>6.279709133881438</c:v>
                </c:pt>
                <c:pt idx="16">
                  <c:v>5.356636842526043</c:v>
                </c:pt>
                <c:pt idx="17">
                  <c:v>4.4157169497994735</c:v>
                </c:pt>
                <c:pt idx="18">
                  <c:v>3.617619754565701</c:v>
                </c:pt>
                <c:pt idx="19">
                  <c:v>3.0949040983336746</c:v>
                </c:pt>
                <c:pt idx="20">
                  <c:v>2.920171652694192</c:v>
                </c:pt>
                <c:pt idx="21">
                  <c:v>3.0893579099792046</c:v>
                </c:pt>
                <c:pt idx="22">
                  <c:v>3.5244169647631343</c:v>
                </c:pt>
                <c:pt idx="23">
                  <c:v>4.094623274229954</c:v>
                </c:pt>
                <c:pt idx="24">
                  <c:v>4.650886029795448</c:v>
                </c:pt>
                <c:pt idx="25">
                  <c:v>5.06410931337066</c:v>
                </c:pt>
                <c:pt idx="26">
                  <c:v>5.257610030843669</c:v>
                </c:pt>
                <c:pt idx="27">
                  <c:v>5.225190663982311</c:v>
                </c:pt>
                <c:pt idx="28">
                  <c:v>5.030239789640633</c:v>
                </c:pt>
                <c:pt idx="29">
                  <c:v>4.786212899824394</c:v>
                </c:pt>
                <c:pt idx="30">
                  <c:v>4.62372810433447</c:v>
                </c:pt>
                <c:pt idx="31">
                  <c:v>4.653020316018213</c:v>
                </c:pt>
                <c:pt idx="32">
                  <c:v>4.931716759019499</c:v>
                </c:pt>
                <c:pt idx="33">
                  <c:v>5.446507457272044</c:v>
                </c:pt>
                <c:pt idx="34">
                  <c:v>6.113649412492285</c:v>
                </c:pt>
                <c:pt idx="35">
                  <c:v>6.798311755754489</c:v>
                </c:pt>
                <c:pt idx="36">
                  <c:v>7.3478293346743175</c:v>
                </c:pt>
                <c:pt idx="37">
                  <c:v>7.630274555398673</c:v>
                </c:pt>
                <c:pt idx="38">
                  <c:v>7.568337944322199</c:v>
                </c:pt>
                <c:pt idx="39">
                  <c:v>7.159698812117425</c:v>
                </c:pt>
                <c:pt idx="40">
                  <c:v>6.478559272481182</c:v>
                </c:pt>
                <c:pt idx="41">
                  <c:v>5.6578977437549955</c:v>
                </c:pt>
                <c:pt idx="42">
                  <c:v>4.856998843526092</c:v>
                </c:pt>
                <c:pt idx="43">
                  <c:v>4.222631299361874</c:v>
                </c:pt>
                <c:pt idx="44">
                  <c:v>3.8538796354393496</c:v>
                </c:pt>
                <c:pt idx="45">
                  <c:v>3.779663476478315</c:v>
                </c:pt>
                <c:pt idx="46">
                  <c:v>3.954654909758024</c:v>
                </c:pt>
                <c:pt idx="47">
                  <c:v>4.274497589038266</c:v>
                </c:pt>
                <c:pt idx="48">
                  <c:v>4.606196173794997</c:v>
                </c:pt>
                <c:pt idx="49">
                  <c:v>4.825595550137657</c:v>
                </c:pt>
                <c:pt idx="50">
                  <c:v>4.852036511702834</c:v>
                </c:pt>
                <c:pt idx="51">
                  <c:v>4.671035804356094</c:v>
                </c:pt>
                <c:pt idx="52">
                  <c:v>4.338993805414795</c:v>
                </c:pt>
                <c:pt idx="53">
                  <c:v>3.9686575230694454</c:v>
                </c:pt>
                <c:pt idx="54">
                  <c:v>3.699125191757818</c:v>
                </c:pt>
                <c:pt idx="55">
                  <c:v>3.658249297370797</c:v>
                </c:pt>
                <c:pt idx="56">
                  <c:v>3.9273131005675133</c:v>
                </c:pt>
                <c:pt idx="57">
                  <c:v>4.517293179897767</c:v>
                </c:pt>
                <c:pt idx="58">
                  <c:v>5.363022598389455</c:v>
                </c:pt>
                <c:pt idx="59">
                  <c:v>6.336917391340281</c:v>
                </c:pt>
                <c:pt idx="60">
                  <c:v>7.2788366082884846</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52514E"/>
                </a:solidFill>
                <a:latin typeface="Arial"/>
              </a:defRPr>
            </a:pPr>
            <a:r>
              <a:rPr sz="1500" b="0" i="0" u="none" strike="noStrike">
                <a:solidFill>
                  <a:srgbClr val="52514E"/>
                </a:solidFill>
                <a:latin typeface="Arial"/>
              </a:rPr>
              <a:t>% of runs that reach a Good solution, 6 hard instances</a:t>
            </a:r>
          </a:p>
        </c:rich>
      </c:tx>
      <c:layout/>
      <c:overlay val="0"/>
    </c:title>
    <c:autoTitleDeleted val="0"/>
    <c:plotArea>
      <c:layout/>
      <c:barChart>
        <c:barDir val="col"/>
        <c:grouping val="clustered"/>
        <c:varyColors val="0"/>
        <c:ser>
          <c:idx val="0"/>
          <c:order val="0"/>
          <c:tx>
            <c:strRef>
              <c:f>Sheet1!$B$1</c:f>
              <c:strCache>
                <c:ptCount val="1"/>
                <c:pt idx="0">
                  <c:v>%Good</c:v>
                </c:pt>
              </c:strCache>
            </c:strRef>
          </c:tx>
          <c:spPr>
            <a:solidFill>
              <a:srgbClr val="EB6834"/>
            </a:solidFill>
            <a:effectLst/>
          </c:spPr>
          <c:invertIfNegative val="0"/>
          <c:dLbls>
            <c:numFmt formatCode="0&quot;%&quot;" sourceLinked="0"/>
            <c:txPr>
              <a:bodyPr/>
              <a:lstStyle/>
              <a:p>
                <a:pPr>
                  <a:defRPr b="0" i="0" strike="noStrike" sz="2000" u="none">
                    <a:solidFill>
                      <a:srgbClr val="1B2433"/>
                    </a:solidFill>
                    <a:latin typeface="Arial"/>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1BAF7A"/>
              </a:solidFill>
              <a:effectLst/>
            </c:spPr>
          </c:dPt>
          <c:dPt>
            <c:idx val="2"/>
            <c:invertIfNegative val="0"/>
            <c:bubble3D val="0"/>
            <c:spPr>
              <a:solidFill>
                <a:srgbClr val="2A78D6"/>
              </a:solidFill>
              <a:effectLst/>
            </c:spPr>
          </c:dPt>
          <c:cat>
            <c:multiLvlStrRef>
              <c:f>Sheet1!$A$2:$A$4</c:f>
              <c:multiLvlStrCache>
                <c:ptCount val="3"/>
                <c:lvl>
                  <c:pt idx="0">
                    <c:v>IA-1 (our IA-1 code)</c:v>
                  </c:pt>
                  <c:pt idx="1">
                    <c:v>Paper (CPLEX, 500 runs)</c:v>
                  </c:pt>
                  <c:pt idx="2">
                    <c:v>IA-2 (our new method)</c:v>
                  </c:pt>
                </c:lvl>
              </c:multiLvlStrCache>
            </c:multiLvlStrRef>
          </c:cat>
          <c:val>
            <c:numRef>
              <c:f>Sheet1!$B$2:$B$4</c:f>
              <c:numCache>
                <c:formatCode>General</c:formatCode>
                <c:ptCount val="3"/>
                <c:pt idx="0">
                  <c:v>6.4</c:v>
                </c:pt>
                <c:pt idx="1">
                  <c:v>14.8</c:v>
                </c:pt>
                <c:pt idx="2">
                  <c:v>33.9</c:v>
                </c:pt>
              </c:numCache>
            </c:numRef>
          </c:val>
        </c:ser>
        <c:dLbls>
          <c:numFmt formatCode="0&quot;%&quot;" sourceLinked="0"/>
          <c:txPr>
            <a:bodyPr/>
            <a:lstStyle/>
            <a:p>
              <a:pPr>
                <a:defRPr b="0" i="0" strike="noStrike" sz="2000" u="none">
                  <a:solidFill>
                    <a:srgbClr val="1B2433"/>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6350" cap="flat">
              <a:solidFill>
                <a:srgbClr val="E5E4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IA-1 (baseline)</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af-1</c:v>
                  </c:pt>
                  <c:pt idx="1">
                    <c:v>af-2</c:v>
                  </c:pt>
                  <c:pt idx="2">
                    <c:v>af-3</c:v>
                  </c:pt>
                  <c:pt idx="3">
                    <c:v>af-4</c:v>
                  </c:pt>
                  <c:pt idx="4">
                    <c:v>af-5</c:v>
                  </c:pt>
                  <c:pt idx="5">
                    <c:v>af-5-fs</c:v>
                  </c:pt>
                  <c:pt idx="6">
                    <c:v>af-6-f</c:v>
                  </c:pt>
                  <c:pt idx="7">
                    <c:v>af-6-fs</c:v>
                  </c:pt>
                  <c:pt idx="8">
                    <c:v>af-7</c:v>
                  </c:pt>
                  <c:pt idx="9">
                    <c:v>af-7b</c:v>
                  </c:pt>
                  <c:pt idx="10">
                    <c:v>af-7b-fs</c:v>
                  </c:pt>
                </c:lvl>
              </c:multiLvlStrCache>
            </c:multiLvlStrRef>
          </c:cat>
          <c:val>
            <c:numRef>
              <c:f>Sheet1!$B$2:$B$12</c:f>
              <c:numCache>
                <c:formatCode>General</c:formatCode>
                <c:ptCount val="11"/>
                <c:pt idx="0">
                  <c:v>100</c:v>
                </c:pt>
                <c:pt idx="1">
                  <c:v>1.6666666666666667</c:v>
                </c:pt>
                <c:pt idx="2">
                  <c:v>1.6666666666666667</c:v>
                </c:pt>
                <c:pt idx="3">
                  <c:v>20</c:v>
                </c:pt>
                <c:pt idx="4">
                  <c:v>98.33333333333333</c:v>
                </c:pt>
                <c:pt idx="5">
                  <c:v>80</c:v>
                </c:pt>
                <c:pt idx="6">
                  <c:v>1.6666666666666667</c:v>
                </c:pt>
                <c:pt idx="7">
                  <c:v>3.3333333333333335</c:v>
                </c:pt>
                <c:pt idx="8">
                  <c:v>10</c:v>
                </c:pt>
                <c:pt idx="9">
                  <c:v>68.33333333333333</c:v>
                </c:pt>
                <c:pt idx="10">
                  <c:v>95</c:v>
                </c:pt>
              </c:numCache>
            </c:numRef>
          </c:val>
        </c:ser>
        <c:ser>
          <c:idx val="1"/>
          <c:order val="1"/>
          <c:tx>
            <c:strRef>
              <c:f>Sheet1!$C$1</c:f>
              <c:strCache>
                <c:ptCount val="1"/>
                <c:pt idx="0">
                  <c:v>IA-2 (new method)</c:v>
                </c:pt>
              </c:strCache>
            </c:strRef>
          </c:tx>
          <c:spPr>
            <a:solidFill>
              <a:srgbClr val="2A78D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af-1</c:v>
                  </c:pt>
                  <c:pt idx="1">
                    <c:v>af-2</c:v>
                  </c:pt>
                  <c:pt idx="2">
                    <c:v>af-3</c:v>
                  </c:pt>
                  <c:pt idx="3">
                    <c:v>af-4</c:v>
                  </c:pt>
                  <c:pt idx="4">
                    <c:v>af-5</c:v>
                  </c:pt>
                  <c:pt idx="5">
                    <c:v>af-5-fs</c:v>
                  </c:pt>
                  <c:pt idx="6">
                    <c:v>af-6-f</c:v>
                  </c:pt>
                  <c:pt idx="7">
                    <c:v>af-6-fs</c:v>
                  </c:pt>
                  <c:pt idx="8">
                    <c:v>af-7</c:v>
                  </c:pt>
                  <c:pt idx="9">
                    <c:v>af-7b</c:v>
                  </c:pt>
                  <c:pt idx="10">
                    <c:v>af-7b-fs</c:v>
                  </c:pt>
                </c:lvl>
              </c:multiLvlStrCache>
            </c:multiLvlStrRef>
          </c:cat>
          <c:val>
            <c:numRef>
              <c:f>Sheet1!$C$2:$C$12</c:f>
              <c:numCache>
                <c:formatCode>General</c:formatCode>
                <c:ptCount val="11"/>
                <c:pt idx="0">
                  <c:v>100</c:v>
                </c:pt>
                <c:pt idx="1">
                  <c:v>68.33333333333333</c:v>
                </c:pt>
                <c:pt idx="2">
                  <c:v>31.666666666666664</c:v>
                </c:pt>
                <c:pt idx="3">
                  <c:v>58.333333333333336</c:v>
                </c:pt>
                <c:pt idx="4">
                  <c:v>98.33333333333333</c:v>
                </c:pt>
                <c:pt idx="5">
                  <c:v>98.33333333333333</c:v>
                </c:pt>
                <c:pt idx="6">
                  <c:v>0</c:v>
                </c:pt>
                <c:pt idx="7">
                  <c:v>26.666666666666668</c:v>
                </c:pt>
                <c:pt idx="8">
                  <c:v>18.333333333333332</c:v>
                </c:pt>
                <c:pt idx="9">
                  <c:v>81.66666666666667</c:v>
                </c:pt>
                <c:pt idx="10">
                  <c:v>100</c:v>
                </c:pt>
              </c:numCache>
            </c:numRef>
          </c:val>
        </c:ser>
        <c:ser>
          <c:idx val="2"/>
          <c:order val="2"/>
          <c:tx>
            <c:strRef>
              <c:f>Sheet1!$D$1</c:f>
              <c:strCache>
                <c:ptCount val="1"/>
                <c:pt idx="0">
                  <c:v>Paper</c:v>
                </c:pt>
              </c:strCache>
            </c:strRef>
          </c:tx>
          <c:spPr>
            <a:solidFill>
              <a:srgbClr val="B9C9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af-1</c:v>
                  </c:pt>
                  <c:pt idx="1">
                    <c:v>af-2</c:v>
                  </c:pt>
                  <c:pt idx="2">
                    <c:v>af-3</c:v>
                  </c:pt>
                  <c:pt idx="3">
                    <c:v>af-4</c:v>
                  </c:pt>
                  <c:pt idx="4">
                    <c:v>af-5</c:v>
                  </c:pt>
                  <c:pt idx="5">
                    <c:v>af-5-fs</c:v>
                  </c:pt>
                  <c:pt idx="6">
                    <c:v>af-6-f</c:v>
                  </c:pt>
                  <c:pt idx="7">
                    <c:v>af-6-fs</c:v>
                  </c:pt>
                  <c:pt idx="8">
                    <c:v>af-7</c:v>
                  </c:pt>
                  <c:pt idx="9">
                    <c:v>af-7b</c:v>
                  </c:pt>
                  <c:pt idx="10">
                    <c:v>af-7b-fs</c:v>
                  </c:pt>
                </c:lvl>
              </c:multiLvlStrCache>
            </c:multiLvlStrRef>
          </c:cat>
          <c:val>
            <c:numRef>
              <c:f>Sheet1!$D$2:$D$12</c:f>
              <c:numCache>
                <c:formatCode>General</c:formatCode>
                <c:ptCount val="11"/>
                <c:pt idx="0">
                  <c:v>79</c:v>
                </c:pt>
                <c:pt idx="1">
                  <c:v>19.4</c:v>
                </c:pt>
                <c:pt idx="2">
                  <c:v>20</c:v>
                </c:pt>
                <c:pt idx="3">
                  <c:v>19.8</c:v>
                </c:pt>
                <c:pt idx="4">
                  <c:v>100</c:v>
                </c:pt>
                <c:pt idx="5">
                  <c:v>99.6</c:v>
                </c:pt>
                <c:pt idx="6">
                  <c:v>4</c:v>
                </c:pt>
                <c:pt idx="7">
                  <c:v>5.2</c:v>
                </c:pt>
                <c:pt idx="8">
                  <c:v>20.4</c:v>
                </c:pt>
                <c:pt idx="9">
                  <c:v>71.8</c:v>
                </c:pt>
                <c:pt idx="10">
                  <c:v>52.6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scaling>
        <c:delete val="0"/>
        <c:axPos val="l"/>
        <c:majorGridlines>
          <c:spPr>
            <a:ln w="6350" cap="flat">
              <a:solidFill>
                <a:srgbClr val="E5E4DF"/>
              </a:solidFill>
              <a:prstDash val="solid"/>
              <a:round/>
            </a:ln>
          </c:spPr>
        </c:majorGridlines>
        <c:title>
          <c:tx>
            <c:rich>
              <a:bodyPr/>
              <a:lstStyle/>
              <a:p>
                <a:pPr>
                  <a:defRPr sz="1300" b="0" i="0" u="none" strike="noStrike">
                    <a:solidFill>
                      <a:srgbClr val="000000"/>
                    </a:solidFill>
                    <a:latin typeface="Arial"/>
                  </a:defRPr>
                </a:pPr>
                <a:r>
                  <a:rPr sz="1300" b="0" i="0" u="none" strike="noStrike">
                    <a:solidFill>
                      <a:srgbClr val="000000"/>
                    </a:solidFill>
                    <a:latin typeface="Arial"/>
                  </a:rPr>
                  <a:t>% Good runs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One sentence: we took the SLP method from the paper (IA-1) and made its restarts smarter (IA-2).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with the picture: raw materials go into a few shared bins; each product is mixed from bins (and some direct raw materials). Each product must meet nutrient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bin that suits Feed A may be wrong for Feed B. Mathematically: feed quality = (share of bin) x (bin content), a product of two unknowns, so the problem is nonconvex with many local optima. A local method ends in the valley where it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IA-1 we re-implemented Grothey &amp; McKinnon (2023). SLP: approximate the curved problem by a straight-line (linear) one near the current point, solve that LP, move, repeat. To escape bad valleys they restart from many random points and keep the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IA-1 code on all 11 instances: on the 6 hard instances only about 6% of runs end within 0.2% of the best known cost; about 1 in 8 runs ends infeasible; and every restart is random, it learns nothing from earlier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all built on simple LPs. The model and the SLP solver of IA-1 are not changed; only where each run starts and what happens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loop: ideal recipes once; smart start; the same SLP as IA-1; polish with the LPs; keep the best; change one bin using the 'regret' (how much a feed pays for sharing bins); try 4 such changes quickly and continue with the most promising.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 share x content. Fix the content of the bins: only shares remain, linear, an LP, solved exactly and fast. Fix the shares: only bin contents remain, again an LP. Alternating can only lower the cost. Relaxing the bins altogether gives each feed's ideal recipe and a lower bound on the best possible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test: same 11 instances, same computer, same random seeds, same number of runs. Explain the three measures in plain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af-1 is the instance from our IA-1 report. Both methods solve it in every run, so it shows that IA-2 keeps everything IA-1 got right. IA-2 adds a proof of quality: its lower bound (295.93) equals the bound of the global solver BARON, so the cost 296.446 is at most 0.17% above the true optimum.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6 hard instances (where the paper itself is Good in at most about 20% of runs): IA-1 6%, paper 15%, IA-2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Easy instances (af-1, af-5, af-5-fs, af-7b-fs): both methods are near 100%. Hard ones: IA-2 is far ahead except af-6-f, which neither method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Averages over all 11 instances and 60 runs per method. The difference is statistically significant (Fisher test, p &lt; 0.01) on 5 instances.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af-6-f remains unsolved; on easy instances the extra LPs make IA-2 slower (up to about 2x); af-7 is slightly below the paper (18% vs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in one sentence and invite questions. Demo: Colab notebook from the GitHub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324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01168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731520" y="3794760"/>
            <a:ext cx="10698480" cy="23774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lstStyle>
            <a:lvl1pPr indent="0" marL="0">
              <a:buNone/>
              <a:defRPr lang="en-US" sz="3000" b="1" dirty="0">
                <a:solidFill>
                  <a:schemeClr val="tx2"/>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46520"/>
            <a:ext cx="7315200" cy="274320"/>
          </a:xfrm>
          <a:prstGeom prst="rect">
            <a:avLst/>
          </a:prstGeom>
          <a:noFill/>
          <a:ln/>
        </p:spPr>
        <p:txBody>
          <a:bodyPr wrap="square" rtlCol="0" anchor="ctr"/>
          <a:lstStyle/>
          <a:p>
            <a:pPr indent="0" marL="0">
              <a:buNone/>
            </a:pPr>
            <a:r>
              <a:rPr lang="en-US" sz="1000" dirty="0">
                <a:solidFill>
                  <a:srgbClr val="8A8984"/>
                </a:solidFill>
              </a:rPr>
              <a:t>IA-2 | Introduction to Optimization Techniques | Group OPT-09</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01168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Smarter Restarts for Feed-Blending Optimization</a:t>
            </a:r>
            <a:endParaRPr lang="en-US" sz="4000" dirty="0"/>
          </a:p>
        </p:txBody>
      </p:sp>
      <p:sp>
        <p:nvSpPr>
          <p:cNvPr id="4" name="Text 0"/>
          <p:cNvSpPr/>
          <p:nvPr>
            <p:ph idx="101" type="body" hasCustomPrompt="1"/>
          </p:nvPr>
        </p:nvSpPr>
        <p:spPr>
          <a:xfrm>
            <a:off x="731520" y="3794760"/>
            <a:ext cx="10698480" cy="2377440"/>
          </a:xfrm>
          <a:prstGeom prst="rect">
            <a:avLst/>
          </a:prstGeom>
          <a:noFill/>
          <a:ln/>
        </p:spPr>
        <p:txBody>
          <a:bodyPr wrap="square" rtlCol="0" anchor="t"/>
          <a:lstStyle/>
          <a:p>
            <a:pPr indent="0" marL="0">
              <a:buNone/>
            </a:pPr>
            <a:r>
              <a:rPr lang="en-US" sz="2200" b="1" dirty="0">
                <a:solidFill>
                  <a:schemeClr val="bg2"/>
                </a:solidFill>
              </a:rPr>
              <a:t>Improving Sequential Linear Programming (SLP) for the pooling problem</a:t>
            </a:r>
            <a:endParaRPr lang="en-US" sz="1800" dirty="0"/>
          </a:p>
          <a:p>
            <a:pPr indent="0" marL="0">
              <a:buNone/>
            </a:pPr>
            <a:r>
              <a:rPr lang="en-US" sz="1800" dirty="0">
                <a:solidFill>
                  <a:schemeClr val="bg2"/>
                </a:solidFill>
              </a:rPr>
              <a:t>IA-2 · Introduction to Optimization Techniques · Dept. of IT, K. J. Somaiya College of Engineering</a:t>
            </a:r>
            <a:endParaRPr lang="en-US" sz="1800" dirty="0"/>
          </a:p>
          <a:p>
            <a:pPr indent="0" marL="0">
              <a:buNone/>
            </a:pPr>
            <a:r>
              <a:rPr lang="en-US" sz="1800" dirty="0">
                <a:solidFill>
                  <a:schemeClr val="bg2"/>
                </a:solidFill>
              </a:rPr>
              <a:t>Group OPT-09: Razzan Tambe (15) · Saurabh Tripathi (04) · Vivek Sharma (12)</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problem: make animal feed at the lowest cost</a:t>
            </a:r>
            <a:endParaRPr lang="en-US" sz="3000" dirty="0"/>
          </a:p>
        </p:txBody>
      </p:sp>
      <p:sp>
        <p:nvSpPr>
          <p:cNvPr id="4" name="Shape 1"/>
          <p:cNvSpPr/>
          <p:nvPr/>
        </p:nvSpPr>
        <p:spPr>
          <a:xfrm>
            <a:off x="2029968" y="1746504"/>
            <a:ext cx="1627632" cy="781812"/>
          </a:xfrm>
          <a:prstGeom prst="line">
            <a:avLst/>
          </a:prstGeom>
          <a:noFill/>
          <a:ln w="12700">
            <a:solidFill>
              <a:srgbClr val="C9C8C2"/>
            </a:solidFill>
            <a:prstDash val="solid"/>
          </a:ln>
        </p:spPr>
      </p:sp>
      <p:sp>
        <p:nvSpPr>
          <p:cNvPr id="5" name="Shape 2"/>
          <p:cNvSpPr/>
          <p:nvPr/>
        </p:nvSpPr>
        <p:spPr>
          <a:xfrm>
            <a:off x="2029968" y="2615184"/>
            <a:ext cx="1627632" cy="1563624"/>
          </a:xfrm>
          <a:prstGeom prst="line">
            <a:avLst/>
          </a:prstGeom>
          <a:noFill/>
          <a:ln w="12700">
            <a:solidFill>
              <a:srgbClr val="C9C8C2"/>
            </a:solidFill>
            <a:prstDash val="solid"/>
          </a:ln>
        </p:spPr>
      </p:sp>
      <p:sp>
        <p:nvSpPr>
          <p:cNvPr id="6" name="Shape 3"/>
          <p:cNvSpPr/>
          <p:nvPr/>
        </p:nvSpPr>
        <p:spPr>
          <a:xfrm flipV="1">
            <a:off x="2029968" y="2528316"/>
            <a:ext cx="1627632" cy="955548"/>
          </a:xfrm>
          <a:prstGeom prst="line">
            <a:avLst/>
          </a:prstGeom>
          <a:noFill/>
          <a:ln w="12700">
            <a:solidFill>
              <a:srgbClr val="C9C8C2"/>
            </a:solidFill>
            <a:prstDash val="solid"/>
          </a:ln>
        </p:spPr>
      </p:sp>
      <p:sp>
        <p:nvSpPr>
          <p:cNvPr id="7" name="Shape 4"/>
          <p:cNvSpPr/>
          <p:nvPr/>
        </p:nvSpPr>
        <p:spPr>
          <a:xfrm>
            <a:off x="2029968" y="3483864"/>
            <a:ext cx="1627632" cy="694944"/>
          </a:xfrm>
          <a:prstGeom prst="line">
            <a:avLst/>
          </a:prstGeom>
          <a:noFill/>
          <a:ln w="12700">
            <a:solidFill>
              <a:srgbClr val="C9C8C2"/>
            </a:solidFill>
            <a:prstDash val="solid"/>
          </a:ln>
        </p:spPr>
      </p:sp>
      <p:sp>
        <p:nvSpPr>
          <p:cNvPr id="8" name="Shape 5"/>
          <p:cNvSpPr/>
          <p:nvPr/>
        </p:nvSpPr>
        <p:spPr>
          <a:xfrm flipV="1">
            <a:off x="2029968" y="4178808"/>
            <a:ext cx="1627632" cy="173736"/>
          </a:xfrm>
          <a:prstGeom prst="line">
            <a:avLst/>
          </a:prstGeom>
          <a:noFill/>
          <a:ln w="12700">
            <a:solidFill>
              <a:srgbClr val="C9C8C2"/>
            </a:solidFill>
            <a:prstDash val="solid"/>
          </a:ln>
        </p:spPr>
      </p:sp>
      <p:sp>
        <p:nvSpPr>
          <p:cNvPr id="9" name="Shape 6"/>
          <p:cNvSpPr/>
          <p:nvPr/>
        </p:nvSpPr>
        <p:spPr>
          <a:xfrm flipV="1">
            <a:off x="2029968" y="2528316"/>
            <a:ext cx="1627632" cy="2692908"/>
          </a:xfrm>
          <a:prstGeom prst="line">
            <a:avLst/>
          </a:prstGeom>
          <a:noFill/>
          <a:ln w="12700">
            <a:solidFill>
              <a:srgbClr val="C9C8C2"/>
            </a:solidFill>
            <a:prstDash val="solid"/>
          </a:ln>
        </p:spPr>
      </p:sp>
      <p:sp>
        <p:nvSpPr>
          <p:cNvPr id="10" name="Shape 7"/>
          <p:cNvSpPr/>
          <p:nvPr/>
        </p:nvSpPr>
        <p:spPr>
          <a:xfrm flipV="1">
            <a:off x="4224528" y="2093976"/>
            <a:ext cx="1627632" cy="434340"/>
          </a:xfrm>
          <a:prstGeom prst="line">
            <a:avLst/>
          </a:prstGeom>
          <a:noFill/>
          <a:ln w="12700">
            <a:solidFill>
              <a:srgbClr val="C9C8C2"/>
            </a:solidFill>
            <a:prstDash val="solid"/>
          </a:ln>
        </p:spPr>
      </p:sp>
      <p:sp>
        <p:nvSpPr>
          <p:cNvPr id="11" name="Shape 8"/>
          <p:cNvSpPr/>
          <p:nvPr/>
        </p:nvSpPr>
        <p:spPr>
          <a:xfrm>
            <a:off x="4224528" y="2528316"/>
            <a:ext cx="1627632" cy="955548"/>
          </a:xfrm>
          <a:prstGeom prst="line">
            <a:avLst/>
          </a:prstGeom>
          <a:noFill/>
          <a:ln w="12700">
            <a:solidFill>
              <a:srgbClr val="C9C8C2"/>
            </a:solidFill>
            <a:prstDash val="solid"/>
          </a:ln>
        </p:spPr>
      </p:sp>
      <p:sp>
        <p:nvSpPr>
          <p:cNvPr id="12" name="Shape 9"/>
          <p:cNvSpPr/>
          <p:nvPr/>
        </p:nvSpPr>
        <p:spPr>
          <a:xfrm>
            <a:off x="4224528" y="2528316"/>
            <a:ext cx="1627632" cy="2345436"/>
          </a:xfrm>
          <a:prstGeom prst="line">
            <a:avLst/>
          </a:prstGeom>
          <a:noFill/>
          <a:ln w="12700">
            <a:solidFill>
              <a:srgbClr val="C9C8C2"/>
            </a:solidFill>
            <a:prstDash val="solid"/>
          </a:ln>
        </p:spPr>
      </p:sp>
      <p:sp>
        <p:nvSpPr>
          <p:cNvPr id="13" name="Shape 10"/>
          <p:cNvSpPr/>
          <p:nvPr/>
        </p:nvSpPr>
        <p:spPr>
          <a:xfrm flipV="1">
            <a:off x="4224528" y="2093976"/>
            <a:ext cx="1627632" cy="2084832"/>
          </a:xfrm>
          <a:prstGeom prst="line">
            <a:avLst/>
          </a:prstGeom>
          <a:noFill/>
          <a:ln w="12700">
            <a:solidFill>
              <a:srgbClr val="C9C8C2"/>
            </a:solidFill>
            <a:prstDash val="solid"/>
          </a:ln>
        </p:spPr>
      </p:sp>
      <p:sp>
        <p:nvSpPr>
          <p:cNvPr id="14" name="Shape 11"/>
          <p:cNvSpPr/>
          <p:nvPr/>
        </p:nvSpPr>
        <p:spPr>
          <a:xfrm flipV="1">
            <a:off x="4224528" y="3483864"/>
            <a:ext cx="1627632" cy="694944"/>
          </a:xfrm>
          <a:prstGeom prst="line">
            <a:avLst/>
          </a:prstGeom>
          <a:noFill/>
          <a:ln w="12700">
            <a:solidFill>
              <a:srgbClr val="C9C8C2"/>
            </a:solidFill>
            <a:prstDash val="solid"/>
          </a:ln>
        </p:spPr>
      </p:sp>
      <p:sp>
        <p:nvSpPr>
          <p:cNvPr id="15" name="Shape 12"/>
          <p:cNvSpPr/>
          <p:nvPr/>
        </p:nvSpPr>
        <p:spPr>
          <a:xfrm>
            <a:off x="4224528" y="4178808"/>
            <a:ext cx="1627632" cy="694944"/>
          </a:xfrm>
          <a:prstGeom prst="line">
            <a:avLst/>
          </a:prstGeom>
          <a:noFill/>
          <a:ln w="12700">
            <a:solidFill>
              <a:srgbClr val="C9C8C2"/>
            </a:solidFill>
            <a:prstDash val="solid"/>
          </a:ln>
        </p:spPr>
      </p:sp>
      <p:sp>
        <p:nvSpPr>
          <p:cNvPr id="16" name="Shape 13"/>
          <p:cNvSpPr/>
          <p:nvPr/>
        </p:nvSpPr>
        <p:spPr>
          <a:xfrm>
            <a:off x="1463040" y="1463040"/>
            <a:ext cx="566928" cy="566928"/>
          </a:xfrm>
          <a:prstGeom prst="ellipse">
            <a:avLst/>
          </a:prstGeom>
          <a:solidFill>
            <a:srgbClr val="9AA9BC"/>
          </a:solidFill>
          <a:ln w="12700">
            <a:solidFill>
              <a:srgbClr val="9AA9BC"/>
            </a:solidFill>
            <a:prstDash val="solid"/>
          </a:ln>
        </p:spPr>
      </p:sp>
      <p:sp>
        <p:nvSpPr>
          <p:cNvPr id="17" name="Text 14"/>
          <p:cNvSpPr txBox="1"/>
          <p:nvPr/>
        </p:nvSpPr>
        <p:spPr>
          <a:xfrm>
            <a:off x="320040" y="1536192"/>
            <a:ext cx="1097280" cy="411480"/>
          </a:xfrm>
          <a:prstGeom prst="rect">
            <a:avLst/>
          </a:prstGeom>
          <a:noFill/>
          <a:ln/>
        </p:spPr>
        <p:txBody>
          <a:bodyPr wrap="square" lIns="1016" tIns="1016" rIns="1016" bIns="1016" rtlCol="0" anchor="t"/>
          <a:lstStyle/>
          <a:p>
            <a:pPr algn="r" indent="0" marL="0">
              <a:buNone/>
            </a:pPr>
            <a:r>
              <a:rPr lang="en-US" sz="1300" dirty="0">
                <a:solidFill>
                  <a:srgbClr val="52514E"/>
                </a:solidFill>
                <a:latin typeface="Calibri" pitchFamily="34" charset="0"/>
                <a:ea typeface="Calibri" pitchFamily="34" charset="-122"/>
                <a:cs typeface="Calibri" pitchFamily="34" charset="-120"/>
              </a:rPr>
              <a:t>maize</a:t>
            </a:r>
            <a:endParaRPr lang="en-US" sz="1300" dirty="0"/>
          </a:p>
        </p:txBody>
      </p:sp>
      <p:sp>
        <p:nvSpPr>
          <p:cNvPr id="18" name="Shape 15"/>
          <p:cNvSpPr/>
          <p:nvPr/>
        </p:nvSpPr>
        <p:spPr>
          <a:xfrm>
            <a:off x="1463040" y="2331720"/>
            <a:ext cx="566928" cy="566928"/>
          </a:xfrm>
          <a:prstGeom prst="ellipse">
            <a:avLst/>
          </a:prstGeom>
          <a:solidFill>
            <a:srgbClr val="9AA9BC"/>
          </a:solidFill>
          <a:ln w="12700">
            <a:solidFill>
              <a:srgbClr val="9AA9BC"/>
            </a:solidFill>
            <a:prstDash val="solid"/>
          </a:ln>
        </p:spPr>
      </p:sp>
      <p:sp>
        <p:nvSpPr>
          <p:cNvPr id="19" name="Text 16"/>
          <p:cNvSpPr txBox="1"/>
          <p:nvPr/>
        </p:nvSpPr>
        <p:spPr>
          <a:xfrm>
            <a:off x="320040" y="2404872"/>
            <a:ext cx="1097280" cy="411480"/>
          </a:xfrm>
          <a:prstGeom prst="rect">
            <a:avLst/>
          </a:prstGeom>
          <a:noFill/>
          <a:ln/>
        </p:spPr>
        <p:txBody>
          <a:bodyPr wrap="square" lIns="1016" tIns="1016" rIns="1016" bIns="1016" rtlCol="0" anchor="t"/>
          <a:lstStyle/>
          <a:p>
            <a:pPr algn="r" indent="0" marL="0">
              <a:buNone/>
            </a:pPr>
            <a:r>
              <a:rPr lang="en-US" sz="1300" dirty="0">
                <a:solidFill>
                  <a:srgbClr val="52514E"/>
                </a:solidFill>
                <a:latin typeface="Calibri" pitchFamily="34" charset="0"/>
                <a:ea typeface="Calibri" pitchFamily="34" charset="-122"/>
                <a:cs typeface="Calibri" pitchFamily="34" charset="-120"/>
              </a:rPr>
              <a:t>soya</a:t>
            </a:r>
            <a:endParaRPr lang="en-US" sz="1300" dirty="0"/>
          </a:p>
        </p:txBody>
      </p:sp>
      <p:sp>
        <p:nvSpPr>
          <p:cNvPr id="20" name="Shape 17"/>
          <p:cNvSpPr/>
          <p:nvPr/>
        </p:nvSpPr>
        <p:spPr>
          <a:xfrm>
            <a:off x="1463040" y="3200400"/>
            <a:ext cx="566928" cy="566928"/>
          </a:xfrm>
          <a:prstGeom prst="ellipse">
            <a:avLst/>
          </a:prstGeom>
          <a:solidFill>
            <a:srgbClr val="9AA9BC"/>
          </a:solidFill>
          <a:ln w="12700">
            <a:solidFill>
              <a:srgbClr val="9AA9BC"/>
            </a:solidFill>
            <a:prstDash val="solid"/>
          </a:ln>
        </p:spPr>
      </p:sp>
      <p:sp>
        <p:nvSpPr>
          <p:cNvPr id="21" name="Text 18"/>
          <p:cNvSpPr txBox="1"/>
          <p:nvPr/>
        </p:nvSpPr>
        <p:spPr>
          <a:xfrm>
            <a:off x="320040" y="3273552"/>
            <a:ext cx="1097280" cy="411480"/>
          </a:xfrm>
          <a:prstGeom prst="rect">
            <a:avLst/>
          </a:prstGeom>
          <a:noFill/>
          <a:ln/>
        </p:spPr>
        <p:txBody>
          <a:bodyPr wrap="square" lIns="1016" tIns="1016" rIns="1016" bIns="1016" rtlCol="0" anchor="t"/>
          <a:lstStyle/>
          <a:p>
            <a:pPr algn="r" indent="0" marL="0">
              <a:buNone/>
            </a:pPr>
            <a:r>
              <a:rPr lang="en-US" sz="1300" dirty="0">
                <a:solidFill>
                  <a:srgbClr val="52514E"/>
                </a:solidFill>
                <a:latin typeface="Calibri" pitchFamily="34" charset="0"/>
                <a:ea typeface="Calibri" pitchFamily="34" charset="-122"/>
                <a:cs typeface="Calibri" pitchFamily="34" charset="-120"/>
              </a:rPr>
              <a:t>wheat</a:t>
            </a:r>
            <a:endParaRPr lang="en-US" sz="1300" dirty="0"/>
          </a:p>
        </p:txBody>
      </p:sp>
      <p:sp>
        <p:nvSpPr>
          <p:cNvPr id="22" name="Shape 19"/>
          <p:cNvSpPr/>
          <p:nvPr/>
        </p:nvSpPr>
        <p:spPr>
          <a:xfrm>
            <a:off x="1463040" y="4069080"/>
            <a:ext cx="566928" cy="566928"/>
          </a:xfrm>
          <a:prstGeom prst="ellipse">
            <a:avLst/>
          </a:prstGeom>
          <a:solidFill>
            <a:srgbClr val="9AA9BC"/>
          </a:solidFill>
          <a:ln w="12700">
            <a:solidFill>
              <a:srgbClr val="9AA9BC"/>
            </a:solidFill>
            <a:prstDash val="solid"/>
          </a:ln>
        </p:spPr>
      </p:sp>
      <p:sp>
        <p:nvSpPr>
          <p:cNvPr id="23" name="Text 20"/>
          <p:cNvSpPr txBox="1"/>
          <p:nvPr/>
        </p:nvSpPr>
        <p:spPr>
          <a:xfrm>
            <a:off x="320040" y="4142232"/>
            <a:ext cx="1097280" cy="411480"/>
          </a:xfrm>
          <a:prstGeom prst="rect">
            <a:avLst/>
          </a:prstGeom>
          <a:noFill/>
          <a:ln/>
        </p:spPr>
        <p:txBody>
          <a:bodyPr wrap="square" lIns="1016" tIns="1016" rIns="1016" bIns="1016" rtlCol="0" anchor="t"/>
          <a:lstStyle/>
          <a:p>
            <a:pPr algn="r" indent="0" marL="0">
              <a:buNone/>
            </a:pPr>
            <a:r>
              <a:rPr lang="en-US" sz="1300" dirty="0">
                <a:solidFill>
                  <a:srgbClr val="52514E"/>
                </a:solidFill>
                <a:latin typeface="Calibri" pitchFamily="34" charset="0"/>
                <a:ea typeface="Calibri" pitchFamily="34" charset="-122"/>
                <a:cs typeface="Calibri" pitchFamily="34" charset="-120"/>
              </a:rPr>
              <a:t>oil</a:t>
            </a:r>
            <a:endParaRPr lang="en-US" sz="1300" dirty="0"/>
          </a:p>
        </p:txBody>
      </p:sp>
      <p:sp>
        <p:nvSpPr>
          <p:cNvPr id="24" name="Shape 21"/>
          <p:cNvSpPr/>
          <p:nvPr/>
        </p:nvSpPr>
        <p:spPr>
          <a:xfrm>
            <a:off x="1463040" y="4937760"/>
            <a:ext cx="566928" cy="566928"/>
          </a:xfrm>
          <a:prstGeom prst="ellipse">
            <a:avLst/>
          </a:prstGeom>
          <a:solidFill>
            <a:srgbClr val="9AA9BC"/>
          </a:solidFill>
          <a:ln w="12700">
            <a:solidFill>
              <a:srgbClr val="9AA9BC"/>
            </a:solidFill>
            <a:prstDash val="solid"/>
          </a:ln>
        </p:spPr>
      </p:sp>
      <p:sp>
        <p:nvSpPr>
          <p:cNvPr id="25" name="Text 22"/>
          <p:cNvSpPr txBox="1"/>
          <p:nvPr/>
        </p:nvSpPr>
        <p:spPr>
          <a:xfrm>
            <a:off x="320040" y="5010912"/>
            <a:ext cx="1097280" cy="411480"/>
          </a:xfrm>
          <a:prstGeom prst="rect">
            <a:avLst/>
          </a:prstGeom>
          <a:noFill/>
          <a:ln/>
        </p:spPr>
        <p:txBody>
          <a:bodyPr wrap="square" lIns="1016" tIns="1016" rIns="1016" bIns="1016" rtlCol="0" anchor="t"/>
          <a:lstStyle/>
          <a:p>
            <a:pPr algn="r" indent="0" marL="0">
              <a:buNone/>
            </a:pPr>
            <a:r>
              <a:rPr lang="en-US" sz="1300" dirty="0">
                <a:solidFill>
                  <a:srgbClr val="52514E"/>
                </a:solidFill>
                <a:latin typeface="Calibri" pitchFamily="34" charset="0"/>
                <a:ea typeface="Calibri" pitchFamily="34" charset="-122"/>
                <a:cs typeface="Calibri" pitchFamily="34" charset="-120"/>
              </a:rPr>
              <a:t>salt</a:t>
            </a:r>
            <a:endParaRPr lang="en-US" sz="1300" dirty="0"/>
          </a:p>
        </p:txBody>
      </p:sp>
      <p:sp>
        <p:nvSpPr>
          <p:cNvPr id="26" name="Shape 23"/>
          <p:cNvSpPr/>
          <p:nvPr/>
        </p:nvSpPr>
        <p:spPr>
          <a:xfrm>
            <a:off x="3520440" y="2107692"/>
            <a:ext cx="841248" cy="841248"/>
          </a:xfrm>
          <a:prstGeom prst="ellipse">
            <a:avLst/>
          </a:prstGeom>
          <a:solidFill>
            <a:srgbClr val="2A78D6"/>
          </a:solidFill>
          <a:ln w="12700">
            <a:solidFill>
              <a:srgbClr val="2A78D6"/>
            </a:solidFill>
            <a:prstDash val="solid"/>
          </a:ln>
        </p:spPr>
      </p:sp>
      <p:sp>
        <p:nvSpPr>
          <p:cNvPr id="27" name="Text 24"/>
          <p:cNvSpPr txBox="1"/>
          <p:nvPr/>
        </p:nvSpPr>
        <p:spPr>
          <a:xfrm>
            <a:off x="3337560" y="2107692"/>
            <a:ext cx="1207008" cy="8412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Bin 1</a:t>
            </a:r>
            <a:endParaRPr lang="en-US" sz="1200" dirty="0"/>
          </a:p>
        </p:txBody>
      </p:sp>
      <p:sp>
        <p:nvSpPr>
          <p:cNvPr id="28" name="Shape 25"/>
          <p:cNvSpPr/>
          <p:nvPr/>
        </p:nvSpPr>
        <p:spPr>
          <a:xfrm>
            <a:off x="3520440" y="3758184"/>
            <a:ext cx="841248" cy="841248"/>
          </a:xfrm>
          <a:prstGeom prst="ellipse">
            <a:avLst/>
          </a:prstGeom>
          <a:solidFill>
            <a:srgbClr val="2A78D6"/>
          </a:solidFill>
          <a:ln w="12700">
            <a:solidFill>
              <a:srgbClr val="2A78D6"/>
            </a:solidFill>
            <a:prstDash val="solid"/>
          </a:ln>
        </p:spPr>
      </p:sp>
      <p:sp>
        <p:nvSpPr>
          <p:cNvPr id="29" name="Text 26"/>
          <p:cNvSpPr txBox="1"/>
          <p:nvPr/>
        </p:nvSpPr>
        <p:spPr>
          <a:xfrm>
            <a:off x="3337560" y="3758184"/>
            <a:ext cx="1207008" cy="8412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Bin 2</a:t>
            </a:r>
            <a:endParaRPr lang="en-US" sz="1200" dirty="0"/>
          </a:p>
        </p:txBody>
      </p:sp>
      <p:sp>
        <p:nvSpPr>
          <p:cNvPr id="30" name="Shape 27"/>
          <p:cNvSpPr/>
          <p:nvPr/>
        </p:nvSpPr>
        <p:spPr>
          <a:xfrm>
            <a:off x="5852160" y="1810512"/>
            <a:ext cx="566928" cy="566928"/>
          </a:xfrm>
          <a:prstGeom prst="ellipse">
            <a:avLst/>
          </a:prstGeom>
          <a:solidFill>
            <a:srgbClr val="1BAF7A"/>
          </a:solidFill>
          <a:ln w="12700">
            <a:solidFill>
              <a:srgbClr val="1BAF7A"/>
            </a:solidFill>
            <a:prstDash val="solid"/>
          </a:ln>
        </p:spPr>
      </p:sp>
      <p:sp>
        <p:nvSpPr>
          <p:cNvPr id="31" name="Text 28"/>
          <p:cNvSpPr txBox="1"/>
          <p:nvPr/>
        </p:nvSpPr>
        <p:spPr>
          <a:xfrm>
            <a:off x="6464808" y="1883664"/>
            <a:ext cx="1188720" cy="411480"/>
          </a:xfrm>
          <a:prstGeom prst="rect">
            <a:avLst/>
          </a:prstGeom>
          <a:noFill/>
          <a:ln/>
        </p:spPr>
        <p:txBody>
          <a:bodyPr wrap="square" lIns="1016" tIns="1016" rIns="1016" bIns="1016" rtlCol="0" anchor="t"/>
          <a:lstStyle/>
          <a:p>
            <a:pPr indent="0" marL="0">
              <a:buNone/>
            </a:pPr>
            <a:r>
              <a:rPr lang="en-US" sz="1300" dirty="0">
                <a:solidFill>
                  <a:srgbClr val="52514E"/>
                </a:solidFill>
                <a:latin typeface="Calibri" pitchFamily="34" charset="0"/>
                <a:ea typeface="Calibri" pitchFamily="34" charset="-122"/>
                <a:cs typeface="Calibri" pitchFamily="34" charset="-120"/>
              </a:rPr>
              <a:t>Feed A</a:t>
            </a:r>
            <a:endParaRPr lang="en-US" sz="1300" dirty="0"/>
          </a:p>
        </p:txBody>
      </p:sp>
      <p:sp>
        <p:nvSpPr>
          <p:cNvPr id="32" name="Shape 29"/>
          <p:cNvSpPr/>
          <p:nvPr/>
        </p:nvSpPr>
        <p:spPr>
          <a:xfrm>
            <a:off x="5852160" y="3200400"/>
            <a:ext cx="566928" cy="566928"/>
          </a:xfrm>
          <a:prstGeom prst="ellipse">
            <a:avLst/>
          </a:prstGeom>
          <a:solidFill>
            <a:srgbClr val="1BAF7A"/>
          </a:solidFill>
          <a:ln w="12700">
            <a:solidFill>
              <a:srgbClr val="1BAF7A"/>
            </a:solidFill>
            <a:prstDash val="solid"/>
          </a:ln>
        </p:spPr>
      </p:sp>
      <p:sp>
        <p:nvSpPr>
          <p:cNvPr id="33" name="Text 30"/>
          <p:cNvSpPr txBox="1"/>
          <p:nvPr/>
        </p:nvSpPr>
        <p:spPr>
          <a:xfrm>
            <a:off x="6464808" y="3273552"/>
            <a:ext cx="1188720" cy="411480"/>
          </a:xfrm>
          <a:prstGeom prst="rect">
            <a:avLst/>
          </a:prstGeom>
          <a:noFill/>
          <a:ln/>
        </p:spPr>
        <p:txBody>
          <a:bodyPr wrap="square" lIns="1016" tIns="1016" rIns="1016" bIns="1016" rtlCol="0" anchor="t"/>
          <a:lstStyle/>
          <a:p>
            <a:pPr indent="0" marL="0">
              <a:buNone/>
            </a:pPr>
            <a:r>
              <a:rPr lang="en-US" sz="1300" dirty="0">
                <a:solidFill>
                  <a:srgbClr val="52514E"/>
                </a:solidFill>
                <a:latin typeface="Calibri" pitchFamily="34" charset="0"/>
                <a:ea typeface="Calibri" pitchFamily="34" charset="-122"/>
                <a:cs typeface="Calibri" pitchFamily="34" charset="-120"/>
              </a:rPr>
              <a:t>Feed B</a:t>
            </a:r>
            <a:endParaRPr lang="en-US" sz="1300" dirty="0"/>
          </a:p>
        </p:txBody>
      </p:sp>
      <p:sp>
        <p:nvSpPr>
          <p:cNvPr id="34" name="Shape 31"/>
          <p:cNvSpPr/>
          <p:nvPr/>
        </p:nvSpPr>
        <p:spPr>
          <a:xfrm>
            <a:off x="5852160" y="4590288"/>
            <a:ext cx="566928" cy="566928"/>
          </a:xfrm>
          <a:prstGeom prst="ellipse">
            <a:avLst/>
          </a:prstGeom>
          <a:solidFill>
            <a:srgbClr val="1BAF7A"/>
          </a:solidFill>
          <a:ln w="12700">
            <a:solidFill>
              <a:srgbClr val="1BAF7A"/>
            </a:solidFill>
            <a:prstDash val="solid"/>
          </a:ln>
        </p:spPr>
      </p:sp>
      <p:sp>
        <p:nvSpPr>
          <p:cNvPr id="35" name="Text 32"/>
          <p:cNvSpPr txBox="1"/>
          <p:nvPr/>
        </p:nvSpPr>
        <p:spPr>
          <a:xfrm>
            <a:off x="6464808" y="4663440"/>
            <a:ext cx="1188720" cy="411480"/>
          </a:xfrm>
          <a:prstGeom prst="rect">
            <a:avLst/>
          </a:prstGeom>
          <a:noFill/>
          <a:ln/>
        </p:spPr>
        <p:txBody>
          <a:bodyPr wrap="square" lIns="1016" tIns="1016" rIns="1016" bIns="1016" rtlCol="0" anchor="t"/>
          <a:lstStyle/>
          <a:p>
            <a:pPr indent="0" marL="0">
              <a:buNone/>
            </a:pPr>
            <a:r>
              <a:rPr lang="en-US" sz="1300" dirty="0">
                <a:solidFill>
                  <a:srgbClr val="52514E"/>
                </a:solidFill>
                <a:latin typeface="Calibri" pitchFamily="34" charset="0"/>
                <a:ea typeface="Calibri" pitchFamily="34" charset="-122"/>
                <a:cs typeface="Calibri" pitchFamily="34" charset="-120"/>
              </a:rPr>
              <a:t>Feed C</a:t>
            </a:r>
            <a:endParaRPr lang="en-US" sz="1300" dirty="0"/>
          </a:p>
        </p:txBody>
      </p:sp>
      <p:sp>
        <p:nvSpPr>
          <p:cNvPr id="36" name="Text 33"/>
          <p:cNvSpPr txBox="1"/>
          <p:nvPr/>
        </p:nvSpPr>
        <p:spPr>
          <a:xfrm>
            <a:off x="1005840" y="5596128"/>
            <a:ext cx="1645920" cy="365760"/>
          </a:xfrm>
          <a:prstGeom prst="rect">
            <a:avLst/>
          </a:prstGeom>
          <a:noFill/>
          <a:ln/>
        </p:spPr>
        <p:txBody>
          <a:bodyPr wrap="square" lIns="1016" tIns="1016" rIns="1016" bIns="1016" rtlCol="0" anchor="t"/>
          <a:lstStyle/>
          <a:p>
            <a:pPr algn="ctr" indent="0" marL="0">
              <a:buNone/>
            </a:pPr>
            <a:r>
              <a:rPr lang="en-US" sz="1300" b="1" dirty="0">
                <a:solidFill>
                  <a:srgbClr val="52514E"/>
                </a:solidFill>
                <a:latin typeface="Calibri" pitchFamily="34" charset="0"/>
                <a:ea typeface="Calibri" pitchFamily="34" charset="-122"/>
                <a:cs typeface="Calibri" pitchFamily="34" charset="-120"/>
              </a:rPr>
              <a:t>raw materials</a:t>
            </a:r>
            <a:endParaRPr lang="en-US" sz="1300" dirty="0"/>
          </a:p>
        </p:txBody>
      </p:sp>
      <p:sp>
        <p:nvSpPr>
          <p:cNvPr id="37" name="Text 34"/>
          <p:cNvSpPr txBox="1"/>
          <p:nvPr/>
        </p:nvSpPr>
        <p:spPr>
          <a:xfrm>
            <a:off x="3154680" y="5596128"/>
            <a:ext cx="2011680" cy="365760"/>
          </a:xfrm>
          <a:prstGeom prst="rect">
            <a:avLst/>
          </a:prstGeom>
          <a:noFill/>
          <a:ln/>
        </p:spPr>
        <p:txBody>
          <a:bodyPr wrap="square" lIns="1016" tIns="1016" rIns="1016" bIns="1016" rtlCol="0" anchor="t"/>
          <a:lstStyle/>
          <a:p>
            <a:pPr algn="ctr" indent="0" marL="0">
              <a:buNone/>
            </a:pPr>
            <a:r>
              <a:rPr lang="en-US" sz="1300" b="1" dirty="0">
                <a:solidFill>
                  <a:srgbClr val="2A78D6"/>
                </a:solidFill>
                <a:latin typeface="Calibri" pitchFamily="34" charset="0"/>
                <a:ea typeface="Calibri" pitchFamily="34" charset="-122"/>
                <a:cs typeface="Calibri" pitchFamily="34" charset="-120"/>
              </a:rPr>
              <a:t>shared mixing bins</a:t>
            </a:r>
            <a:endParaRPr lang="en-US" sz="1300" dirty="0"/>
          </a:p>
        </p:txBody>
      </p:sp>
      <p:sp>
        <p:nvSpPr>
          <p:cNvPr id="38" name="Text 35"/>
          <p:cNvSpPr txBox="1"/>
          <p:nvPr/>
        </p:nvSpPr>
        <p:spPr>
          <a:xfrm>
            <a:off x="5440680" y="5596128"/>
            <a:ext cx="1463040" cy="365760"/>
          </a:xfrm>
          <a:prstGeom prst="rect">
            <a:avLst/>
          </a:prstGeom>
          <a:noFill/>
          <a:ln/>
        </p:spPr>
        <p:txBody>
          <a:bodyPr wrap="square" lIns="1016" tIns="1016" rIns="1016" bIns="1016" rtlCol="0" anchor="t"/>
          <a:lstStyle/>
          <a:p>
            <a:pPr algn="ctr" indent="0" marL="0">
              <a:buNone/>
            </a:pPr>
            <a:r>
              <a:rPr lang="en-US" sz="1300" b="1" dirty="0">
                <a:solidFill>
                  <a:srgbClr val="1BAF7A"/>
                </a:solidFill>
                <a:latin typeface="Calibri" pitchFamily="34" charset="0"/>
                <a:ea typeface="Calibri" pitchFamily="34" charset="-122"/>
                <a:cs typeface="Calibri" pitchFamily="34" charset="-120"/>
              </a:rPr>
              <a:t>products</a:t>
            </a:r>
            <a:endParaRPr lang="en-US" sz="1300" dirty="0"/>
          </a:p>
        </p:txBody>
      </p:sp>
      <p:sp>
        <p:nvSpPr>
          <p:cNvPr id="39" name="Shape 36"/>
          <p:cNvSpPr/>
          <p:nvPr/>
        </p:nvSpPr>
        <p:spPr>
          <a:xfrm>
            <a:off x="7223760" y="1371600"/>
            <a:ext cx="4389120" cy="4663440"/>
          </a:xfrm>
          <a:prstGeom prst="roundRect">
            <a:avLst>
              <a:gd name="adj" fmla="val 2500"/>
            </a:avLst>
          </a:prstGeom>
          <a:solidFill>
            <a:srgbClr val="EEF3F8"/>
          </a:solidFill>
          <a:ln w="12700">
            <a:solidFill>
              <a:srgbClr val="EEF3F8"/>
            </a:solidFill>
            <a:prstDash val="solid"/>
          </a:ln>
        </p:spPr>
      </p:sp>
      <p:sp>
        <p:nvSpPr>
          <p:cNvPr id="40" name="Text 37"/>
          <p:cNvSpPr txBox="1"/>
          <p:nvPr/>
        </p:nvSpPr>
        <p:spPr>
          <a:xfrm>
            <a:off x="7452360" y="1600200"/>
            <a:ext cx="3931920" cy="4297680"/>
          </a:xfrm>
          <a:prstGeom prst="rect">
            <a:avLst/>
          </a:prstGeom>
          <a:noFill/>
          <a:ln/>
        </p:spPr>
        <p:txBody>
          <a:bodyPr wrap="square" lIns="1016" tIns="1016" rIns="1016" bIns="1016" rtlCol="0" anchor="t"/>
          <a:lstStyle/>
          <a:p>
            <a:pPr marL="342900" indent="-342900">
              <a:spcAft>
                <a:spcPts val="1400"/>
              </a:spcAft>
              <a:buSzPct val="100000"/>
              <a:buChar char="•"/>
            </a:pPr>
            <a:r>
              <a:rPr lang="en-US" sz="1900" dirty="0">
                <a:solidFill>
                  <a:srgbClr val="1B2433"/>
                </a:solidFill>
                <a:latin typeface="Calibri" pitchFamily="34" charset="0"/>
                <a:ea typeface="Calibri" pitchFamily="34" charset="-122"/>
                <a:cs typeface="Calibri" pitchFamily="34" charset="-120"/>
              </a:rPr>
              <a:t>A feed mill must deliver fixed orders of many feeds.</a:t>
            </a:r>
            <a:endParaRPr lang="en-US" sz="1900" dirty="0"/>
          </a:p>
          <a:p>
            <a:pPr marL="342900" indent="-342900">
              <a:spcAft>
                <a:spcPts val="1400"/>
              </a:spcAft>
              <a:buSzPct val="100000"/>
              <a:buChar char="•"/>
            </a:pPr>
            <a:r>
              <a:rPr lang="en-US" sz="1900" dirty="0">
                <a:solidFill>
                  <a:srgbClr val="1B2433"/>
                </a:solidFill>
                <a:latin typeface="Calibri" pitchFamily="34" charset="0"/>
                <a:ea typeface="Calibri" pitchFamily="34" charset="-122"/>
                <a:cs typeface="Calibri" pitchFamily="34" charset="-120"/>
              </a:rPr>
              <a:t>Each feed needs its nutrients (protein, fat, fibre, …) within limits.</a:t>
            </a:r>
            <a:endParaRPr lang="en-US" sz="1900" dirty="0"/>
          </a:p>
          <a:p>
            <a:pPr marL="342900" indent="-342900">
              <a:spcAft>
                <a:spcPts val="1400"/>
              </a:spcAft>
              <a:buSzPct val="100000"/>
              <a:buChar char="•"/>
            </a:pPr>
            <a:r>
              <a:rPr lang="en-US" sz="1900" dirty="0">
                <a:solidFill>
                  <a:srgbClr val="1B2433"/>
                </a:solidFill>
                <a:latin typeface="Calibri" pitchFamily="34" charset="0"/>
                <a:ea typeface="Calibri" pitchFamily="34" charset="-122"/>
                <a:cs typeface="Calibri" pitchFamily="34" charset="-120"/>
              </a:rPr>
              <a:t>Raw materials are first mixed in a few shared bins.</a:t>
            </a:r>
            <a:endParaRPr lang="en-US" sz="1900" dirty="0"/>
          </a:p>
          <a:p>
            <a:pPr marL="342900" indent="-342900">
              <a:spcAft>
                <a:spcPts val="1400"/>
              </a:spcAft>
              <a:buSzPct val="100000"/>
              <a:buChar char="•"/>
            </a:pPr>
            <a:r>
              <a:rPr lang="en-US" sz="1900" b="1" dirty="0">
                <a:solidFill>
                  <a:srgbClr val="1B2433"/>
                </a:solidFill>
                <a:latin typeface="Calibri" pitchFamily="34" charset="0"/>
                <a:ea typeface="Calibri" pitchFamily="34" charset="-122"/>
                <a:cs typeface="Calibri" pitchFamily="34" charset="-120"/>
              </a:rPr>
              <a:t>Goal: choose what goes into each bin and each feed so that the total cost is lowest.</a:t>
            </a:r>
            <a:endParaRPr lang="en-US" sz="1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Why it is hard: shared bins create many 'valleys'</a:t>
            </a:r>
            <a:endParaRPr lang="en-US" sz="3000" dirty="0"/>
          </a:p>
        </p:txBody>
      </p:sp>
      <p:sp>
        <p:nvSpPr>
          <p:cNvPr id="4" name="Shape 1"/>
          <p:cNvSpPr/>
          <p:nvPr/>
        </p:nvSpPr>
        <p:spPr>
          <a:xfrm>
            <a:off x="548640" y="1371600"/>
            <a:ext cx="4937760" cy="4663440"/>
          </a:xfrm>
          <a:prstGeom prst="roundRect">
            <a:avLst>
              <a:gd name="adj" fmla="val 2353"/>
            </a:avLst>
          </a:prstGeom>
          <a:solidFill>
            <a:srgbClr val="EEF3F8"/>
          </a:solidFill>
          <a:ln w="12700">
            <a:solidFill>
              <a:srgbClr val="EEF3F8"/>
            </a:solidFill>
            <a:prstDash val="solid"/>
          </a:ln>
        </p:spPr>
      </p:sp>
      <p:sp>
        <p:nvSpPr>
          <p:cNvPr id="5" name="Text 2"/>
          <p:cNvSpPr txBox="1"/>
          <p:nvPr/>
        </p:nvSpPr>
        <p:spPr>
          <a:xfrm>
            <a:off x="777240" y="1508760"/>
            <a:ext cx="4572000" cy="457200"/>
          </a:xfrm>
          <a:prstGeom prst="rect">
            <a:avLst/>
          </a:prstGeom>
          <a:noFill/>
          <a:ln/>
        </p:spPr>
        <p:txBody>
          <a:bodyPr wrap="square" lIns="1016" tIns="1016" rIns="1016" bIns="1016" rtlCol="0" anchor="t"/>
          <a:lstStyle/>
          <a:p>
            <a:pPr indent="0" marL="0">
              <a:buNone/>
            </a:pPr>
            <a:r>
              <a:rPr lang="en-US" sz="2100" b="1" dirty="0">
                <a:solidFill>
                  <a:srgbClr val="16324F"/>
                </a:solidFill>
                <a:latin typeface="Calibri" pitchFamily="34" charset="0"/>
                <a:ea typeface="Calibri" pitchFamily="34" charset="-122"/>
                <a:cs typeface="Calibri" pitchFamily="34" charset="-120"/>
              </a:rPr>
              <a:t>One bin, two feeds</a:t>
            </a:r>
            <a:endParaRPr lang="en-US" sz="2100" dirty="0"/>
          </a:p>
        </p:txBody>
      </p:sp>
      <p:sp>
        <p:nvSpPr>
          <p:cNvPr id="6" name="Text 3"/>
          <p:cNvSpPr txBox="1"/>
          <p:nvPr/>
        </p:nvSpPr>
        <p:spPr>
          <a:xfrm>
            <a:off x="777240" y="2057400"/>
            <a:ext cx="4572000" cy="3840480"/>
          </a:xfrm>
          <a:prstGeom prst="rect">
            <a:avLst/>
          </a:prstGeom>
          <a:noFill/>
          <a:ln/>
        </p:spPr>
        <p:txBody>
          <a:bodyPr wrap="square" lIns="1016" tIns="1016" rIns="1016" bIns="1016" rtlCol="0" anchor="t"/>
          <a:lstStyle/>
          <a:p>
            <a:pPr marL="342900" indent="-342900">
              <a:spcAft>
                <a:spcPts val="1400"/>
              </a:spcAft>
              <a:buSzPct val="100000"/>
              <a:buChar char="•"/>
            </a:pPr>
            <a:r>
              <a:rPr lang="en-US" sz="1800" dirty="0">
                <a:solidFill>
                  <a:srgbClr val="1B2433"/>
                </a:solidFill>
                <a:latin typeface="Calibri" pitchFamily="34" charset="0"/>
                <a:ea typeface="Calibri" pitchFamily="34" charset="-122"/>
                <a:cs typeface="Calibri" pitchFamily="34" charset="-120"/>
              </a:rPr>
              <a:t>A bin recipe that is good for Feed A can be bad for Feed B.</a:t>
            </a:r>
            <a:endParaRPr lang="en-US" sz="1800" dirty="0"/>
          </a:p>
          <a:p>
            <a:pPr marL="342900" indent="-342900">
              <a:spcAft>
                <a:spcPts val="1400"/>
              </a:spcAft>
              <a:buSzPct val="100000"/>
              <a:buChar char="•"/>
            </a:pPr>
            <a:r>
              <a:rPr lang="en-US" sz="1800" dirty="0">
                <a:solidFill>
                  <a:srgbClr val="1B2433"/>
                </a:solidFill>
                <a:latin typeface="Calibri" pitchFamily="34" charset="0"/>
                <a:ea typeface="Calibri" pitchFamily="34" charset="-122"/>
                <a:cs typeface="Calibri" pitchFamily="34" charset="-120"/>
              </a:rPr>
              <a:t>Feed quality = (share of the bin) × (what is in the bin): two unknowns multiplied.</a:t>
            </a:r>
            <a:endParaRPr lang="en-US" sz="1800" dirty="0"/>
          </a:p>
          <a:p>
            <a:pPr marL="342900" indent="-342900">
              <a:spcAft>
                <a:spcPts val="1400"/>
              </a:spcAft>
              <a:buSzPct val="100000"/>
              <a:buChar char="•"/>
            </a:pPr>
            <a:r>
              <a:rPr lang="en-US" sz="1800" dirty="0">
                <a:solidFill>
                  <a:srgbClr val="1B2433"/>
                </a:solidFill>
                <a:latin typeface="Calibri" pitchFamily="34" charset="0"/>
                <a:ea typeface="Calibri" pitchFamily="34" charset="-122"/>
                <a:cs typeface="Calibri" pitchFamily="34" charset="-120"/>
              </a:rPr>
              <a:t>This makes the problem nonconvex: it has many local best answers.</a:t>
            </a:r>
            <a:endParaRPr lang="en-US" sz="1800" dirty="0"/>
          </a:p>
        </p:txBody>
      </p:sp>
      <p:graphicFrame>
        <p:nvGraphicFramePr>
          <p:cNvPr id="7" name="Chart 0" descr=""/>
          <p:cNvGraphicFramePr/>
          <p:nvPr/>
        </p:nvGraphicFramePr>
        <p:xfrm>
          <a:off x="5760720" y="1371600"/>
          <a:ext cx="5852160" cy="384048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5852160" y="5303520"/>
            <a:ext cx="5760720" cy="822960"/>
          </a:xfrm>
          <a:prstGeom prst="rect">
            <a:avLst/>
          </a:prstGeom>
          <a:noFill/>
          <a:ln/>
        </p:spPr>
        <p:txBody>
          <a:bodyPr wrap="square" lIns="1016" tIns="1016" rIns="1016" bIns="1016" rtlCol="0" anchor="t"/>
          <a:lstStyle/>
          <a:p>
            <a:pPr indent="0" marL="0">
              <a:buNone/>
            </a:pPr>
            <a:r>
              <a:rPr lang="en-US" sz="1600" i="1" dirty="0">
                <a:solidFill>
                  <a:srgbClr val="52514E"/>
                </a:solidFill>
                <a:latin typeface="Calibri" pitchFamily="34" charset="0"/>
                <a:ea typeface="Calibri" pitchFamily="34" charset="-122"/>
                <a:cs typeface="Calibri" pitchFamily="34" charset="-120"/>
              </a:rPr>
              <a:t>Many valleys = many local optima. A local method slides into the valley next to where it starts, and the deepest valley is easy to miss.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IA-1: the paper's method (SLP with random restarts)</a:t>
            </a:r>
            <a:endParaRPr lang="en-US" sz="3000" dirty="0"/>
          </a:p>
        </p:txBody>
      </p:sp>
      <p:sp>
        <p:nvSpPr>
          <p:cNvPr id="4" name="Shape 1"/>
          <p:cNvSpPr/>
          <p:nvPr/>
        </p:nvSpPr>
        <p:spPr>
          <a:xfrm>
            <a:off x="548640" y="1554480"/>
            <a:ext cx="2514600" cy="2011680"/>
          </a:xfrm>
          <a:prstGeom prst="roundRect">
            <a:avLst>
              <a:gd name="adj" fmla="val 5455"/>
            </a:avLst>
          </a:prstGeom>
          <a:solidFill>
            <a:srgbClr val="EEF3F8"/>
          </a:solidFill>
          <a:ln w="12700">
            <a:solidFill>
              <a:srgbClr val="EEF3F8"/>
            </a:solidFill>
            <a:prstDash val="solid"/>
          </a:ln>
        </p:spPr>
      </p:sp>
      <p:sp>
        <p:nvSpPr>
          <p:cNvPr id="5" name="Shape 2"/>
          <p:cNvSpPr/>
          <p:nvPr/>
        </p:nvSpPr>
        <p:spPr>
          <a:xfrm>
            <a:off x="548640" y="1554480"/>
            <a:ext cx="2514600" cy="109728"/>
          </a:xfrm>
          <a:prstGeom prst="rect">
            <a:avLst/>
          </a:prstGeom>
          <a:solidFill>
            <a:srgbClr val="9AA9BC"/>
          </a:solidFill>
          <a:ln w="12700">
            <a:solidFill>
              <a:srgbClr val="9AA9BC"/>
            </a:solidFill>
            <a:prstDash val="solid"/>
          </a:ln>
        </p:spPr>
      </p:sp>
      <p:sp>
        <p:nvSpPr>
          <p:cNvPr id="6" name="Text 3"/>
          <p:cNvSpPr txBox="1"/>
          <p:nvPr/>
        </p:nvSpPr>
        <p:spPr>
          <a:xfrm>
            <a:off x="685800" y="1783080"/>
            <a:ext cx="2240280" cy="502920"/>
          </a:xfrm>
          <a:prstGeom prst="rect">
            <a:avLst/>
          </a:prstGeom>
          <a:noFill/>
          <a:ln/>
        </p:spPr>
        <p:txBody>
          <a:bodyPr wrap="square" lIns="1016" tIns="1016" rIns="1016" bIns="1016" rtlCol="0" anchor="t"/>
          <a:lstStyle/>
          <a:p>
            <a:pPr algn="ctr" indent="0" marL="0">
              <a:buNone/>
            </a:pPr>
            <a:r>
              <a:rPr lang="en-US" sz="2100" b="1" dirty="0">
                <a:solidFill>
                  <a:srgbClr val="16324F"/>
                </a:solidFill>
                <a:latin typeface="Calibri" pitchFamily="34" charset="0"/>
                <a:ea typeface="Calibri" pitchFamily="34" charset="-122"/>
                <a:cs typeface="Calibri" pitchFamily="34" charset="-120"/>
              </a:rPr>
              <a:t>Random start</a:t>
            </a:r>
            <a:endParaRPr lang="en-US" sz="2100" dirty="0"/>
          </a:p>
        </p:txBody>
      </p:sp>
      <p:sp>
        <p:nvSpPr>
          <p:cNvPr id="7" name="Text 4"/>
          <p:cNvSpPr txBox="1"/>
          <p:nvPr/>
        </p:nvSpPr>
        <p:spPr>
          <a:xfrm>
            <a:off x="685800" y="2331720"/>
            <a:ext cx="2240280" cy="1097280"/>
          </a:xfrm>
          <a:prstGeom prst="rect">
            <a:avLst/>
          </a:prstGeom>
          <a:noFill/>
          <a:ln/>
        </p:spPr>
        <p:txBody>
          <a:bodyPr wrap="square" lIns="1016" tIns="1016" rIns="1016" bIns="1016" rtlCol="0" anchor="t"/>
          <a:lstStyle/>
          <a:p>
            <a:pPr algn="ctr" indent="0" marL="0">
              <a:buNone/>
            </a:pPr>
            <a:r>
              <a:rPr lang="en-US" sz="1600" dirty="0">
                <a:solidFill>
                  <a:srgbClr val="52514E"/>
                </a:solidFill>
                <a:latin typeface="Calibri" pitchFamily="34" charset="0"/>
                <a:ea typeface="Calibri" pitchFamily="34" charset="-122"/>
                <a:cs typeface="Calibri" pitchFamily="34" charset="-120"/>
              </a:rPr>
              <a:t>pick any mixture</a:t>
            </a:r>
            <a:endParaRPr lang="en-US" sz="1600" dirty="0"/>
          </a:p>
        </p:txBody>
      </p:sp>
      <p:sp>
        <p:nvSpPr>
          <p:cNvPr id="8" name="Shape 5"/>
          <p:cNvSpPr/>
          <p:nvPr/>
        </p:nvSpPr>
        <p:spPr>
          <a:xfrm>
            <a:off x="3090672" y="2560320"/>
            <a:ext cx="265176" cy="0"/>
          </a:xfrm>
          <a:prstGeom prst="line">
            <a:avLst/>
          </a:prstGeom>
          <a:noFill/>
          <a:ln w="25400">
            <a:solidFill>
              <a:srgbClr val="8A8984"/>
            </a:solidFill>
            <a:prstDash val="solid"/>
            <a:tailEnd type="triangle"/>
          </a:ln>
        </p:spPr>
      </p:sp>
      <p:sp>
        <p:nvSpPr>
          <p:cNvPr id="9" name="Shape 6"/>
          <p:cNvSpPr/>
          <p:nvPr/>
        </p:nvSpPr>
        <p:spPr>
          <a:xfrm>
            <a:off x="3383280" y="1554480"/>
            <a:ext cx="2514600" cy="2011680"/>
          </a:xfrm>
          <a:prstGeom prst="roundRect">
            <a:avLst>
              <a:gd name="adj" fmla="val 5455"/>
            </a:avLst>
          </a:prstGeom>
          <a:solidFill>
            <a:srgbClr val="EEF3F8"/>
          </a:solidFill>
          <a:ln w="12700">
            <a:solidFill>
              <a:srgbClr val="EEF3F8"/>
            </a:solidFill>
            <a:prstDash val="solid"/>
          </a:ln>
        </p:spPr>
      </p:sp>
      <p:sp>
        <p:nvSpPr>
          <p:cNvPr id="10" name="Shape 7"/>
          <p:cNvSpPr/>
          <p:nvPr/>
        </p:nvSpPr>
        <p:spPr>
          <a:xfrm>
            <a:off x="3383280" y="1554480"/>
            <a:ext cx="2514600" cy="109728"/>
          </a:xfrm>
          <a:prstGeom prst="rect">
            <a:avLst/>
          </a:prstGeom>
          <a:solidFill>
            <a:srgbClr val="2A78D6"/>
          </a:solidFill>
          <a:ln w="12700">
            <a:solidFill>
              <a:srgbClr val="2A78D6"/>
            </a:solidFill>
            <a:prstDash val="solid"/>
          </a:ln>
        </p:spPr>
      </p:sp>
      <p:sp>
        <p:nvSpPr>
          <p:cNvPr id="11" name="Text 8"/>
          <p:cNvSpPr txBox="1"/>
          <p:nvPr/>
        </p:nvSpPr>
        <p:spPr>
          <a:xfrm>
            <a:off x="3520440" y="1783080"/>
            <a:ext cx="2240280" cy="502920"/>
          </a:xfrm>
          <a:prstGeom prst="rect">
            <a:avLst/>
          </a:prstGeom>
          <a:noFill/>
          <a:ln/>
        </p:spPr>
        <p:txBody>
          <a:bodyPr wrap="square" lIns="1016" tIns="1016" rIns="1016" bIns="1016" rtlCol="0" anchor="t"/>
          <a:lstStyle/>
          <a:p>
            <a:pPr algn="ctr" indent="0" marL="0">
              <a:buNone/>
            </a:pPr>
            <a:r>
              <a:rPr lang="en-US" sz="2100" b="1" dirty="0">
                <a:solidFill>
                  <a:srgbClr val="16324F"/>
                </a:solidFill>
                <a:latin typeface="Calibri" pitchFamily="34" charset="0"/>
                <a:ea typeface="Calibri" pitchFamily="34" charset="-122"/>
                <a:cs typeface="Calibri" pitchFamily="34" charset="-120"/>
              </a:rPr>
              <a:t>SLP</a:t>
            </a:r>
            <a:endParaRPr lang="en-US" sz="2100" dirty="0"/>
          </a:p>
        </p:txBody>
      </p:sp>
      <p:sp>
        <p:nvSpPr>
          <p:cNvPr id="12" name="Text 9"/>
          <p:cNvSpPr txBox="1"/>
          <p:nvPr/>
        </p:nvSpPr>
        <p:spPr>
          <a:xfrm>
            <a:off x="3520440" y="2331720"/>
            <a:ext cx="2240280" cy="1097280"/>
          </a:xfrm>
          <a:prstGeom prst="rect">
            <a:avLst/>
          </a:prstGeom>
          <a:noFill/>
          <a:ln/>
        </p:spPr>
        <p:txBody>
          <a:bodyPr wrap="square" lIns="1016" tIns="1016" rIns="1016" bIns="1016" rtlCol="0" anchor="t"/>
          <a:lstStyle/>
          <a:p>
            <a:pPr algn="ctr" indent="0" marL="0">
              <a:buNone/>
            </a:pPr>
            <a:r>
              <a:rPr lang="en-US" sz="1600" dirty="0">
                <a:solidFill>
                  <a:srgbClr val="52514E"/>
                </a:solidFill>
                <a:latin typeface="Calibri" pitchFamily="34" charset="0"/>
                <a:ea typeface="Calibri" pitchFamily="34" charset="-122"/>
                <a:cs typeface="Calibri" pitchFamily="34" charset="-120"/>
              </a:rPr>
              <a:t>solve a linear approximation, move, repeat</a:t>
            </a:r>
            <a:endParaRPr lang="en-US" sz="1600" dirty="0"/>
          </a:p>
        </p:txBody>
      </p:sp>
      <p:sp>
        <p:nvSpPr>
          <p:cNvPr id="13" name="Shape 10"/>
          <p:cNvSpPr/>
          <p:nvPr/>
        </p:nvSpPr>
        <p:spPr>
          <a:xfrm>
            <a:off x="5925312" y="2560320"/>
            <a:ext cx="265176" cy="0"/>
          </a:xfrm>
          <a:prstGeom prst="line">
            <a:avLst/>
          </a:prstGeom>
          <a:noFill/>
          <a:ln w="25400">
            <a:solidFill>
              <a:srgbClr val="8A8984"/>
            </a:solidFill>
            <a:prstDash val="solid"/>
            <a:tailEnd type="triangle"/>
          </a:ln>
        </p:spPr>
      </p:sp>
      <p:sp>
        <p:nvSpPr>
          <p:cNvPr id="14" name="Shape 11"/>
          <p:cNvSpPr/>
          <p:nvPr/>
        </p:nvSpPr>
        <p:spPr>
          <a:xfrm>
            <a:off x="6217920" y="1554480"/>
            <a:ext cx="2514600" cy="2011680"/>
          </a:xfrm>
          <a:prstGeom prst="roundRect">
            <a:avLst>
              <a:gd name="adj" fmla="val 5455"/>
            </a:avLst>
          </a:prstGeom>
          <a:solidFill>
            <a:srgbClr val="EEF3F8"/>
          </a:solidFill>
          <a:ln w="12700">
            <a:solidFill>
              <a:srgbClr val="EEF3F8"/>
            </a:solidFill>
            <a:prstDash val="solid"/>
          </a:ln>
        </p:spPr>
      </p:sp>
      <p:sp>
        <p:nvSpPr>
          <p:cNvPr id="15" name="Shape 12"/>
          <p:cNvSpPr/>
          <p:nvPr/>
        </p:nvSpPr>
        <p:spPr>
          <a:xfrm>
            <a:off x="6217920" y="1554480"/>
            <a:ext cx="2514600" cy="109728"/>
          </a:xfrm>
          <a:prstGeom prst="rect">
            <a:avLst/>
          </a:prstGeom>
          <a:solidFill>
            <a:srgbClr val="1BAF7A"/>
          </a:solidFill>
          <a:ln w="12700">
            <a:solidFill>
              <a:srgbClr val="1BAF7A"/>
            </a:solidFill>
            <a:prstDash val="solid"/>
          </a:ln>
        </p:spPr>
      </p:sp>
      <p:sp>
        <p:nvSpPr>
          <p:cNvPr id="16" name="Text 13"/>
          <p:cNvSpPr txBox="1"/>
          <p:nvPr/>
        </p:nvSpPr>
        <p:spPr>
          <a:xfrm>
            <a:off x="6355080" y="1783080"/>
            <a:ext cx="2240280" cy="502920"/>
          </a:xfrm>
          <a:prstGeom prst="rect">
            <a:avLst/>
          </a:prstGeom>
          <a:noFill/>
          <a:ln/>
        </p:spPr>
        <p:txBody>
          <a:bodyPr wrap="square" lIns="1016" tIns="1016" rIns="1016" bIns="1016" rtlCol="0" anchor="t"/>
          <a:lstStyle/>
          <a:p>
            <a:pPr algn="ctr" indent="0" marL="0">
              <a:buNone/>
            </a:pPr>
            <a:r>
              <a:rPr lang="en-US" sz="2100" b="1" dirty="0">
                <a:solidFill>
                  <a:srgbClr val="16324F"/>
                </a:solidFill>
                <a:latin typeface="Calibri" pitchFamily="34" charset="0"/>
                <a:ea typeface="Calibri" pitchFamily="34" charset="-122"/>
                <a:cs typeface="Calibri" pitchFamily="34" charset="-120"/>
              </a:rPr>
              <a:t>Local answer</a:t>
            </a:r>
            <a:endParaRPr lang="en-US" sz="2100" dirty="0"/>
          </a:p>
        </p:txBody>
      </p:sp>
      <p:sp>
        <p:nvSpPr>
          <p:cNvPr id="17" name="Text 14"/>
          <p:cNvSpPr txBox="1"/>
          <p:nvPr/>
        </p:nvSpPr>
        <p:spPr>
          <a:xfrm>
            <a:off x="6355080" y="2331720"/>
            <a:ext cx="2240280" cy="1097280"/>
          </a:xfrm>
          <a:prstGeom prst="rect">
            <a:avLst/>
          </a:prstGeom>
          <a:noFill/>
          <a:ln/>
        </p:spPr>
        <p:txBody>
          <a:bodyPr wrap="square" lIns="1016" tIns="1016" rIns="1016" bIns="1016" rtlCol="0" anchor="t"/>
          <a:lstStyle/>
          <a:p>
            <a:pPr algn="ctr" indent="0" marL="0">
              <a:buNone/>
            </a:pPr>
            <a:r>
              <a:rPr lang="en-US" sz="1600" dirty="0">
                <a:solidFill>
                  <a:srgbClr val="52514E"/>
                </a:solidFill>
                <a:latin typeface="Calibri" pitchFamily="34" charset="0"/>
                <a:ea typeface="Calibri" pitchFamily="34" charset="-122"/>
                <a:cs typeface="Calibri" pitchFamily="34" charset="-120"/>
              </a:rPr>
              <a:t>bottom of one valley</a:t>
            </a:r>
            <a:endParaRPr lang="en-US" sz="1600" dirty="0"/>
          </a:p>
        </p:txBody>
      </p:sp>
      <p:sp>
        <p:nvSpPr>
          <p:cNvPr id="18" name="Shape 15"/>
          <p:cNvSpPr/>
          <p:nvPr/>
        </p:nvSpPr>
        <p:spPr>
          <a:xfrm>
            <a:off x="8759952" y="2560320"/>
            <a:ext cx="265176" cy="0"/>
          </a:xfrm>
          <a:prstGeom prst="line">
            <a:avLst/>
          </a:prstGeom>
          <a:noFill/>
          <a:ln w="25400">
            <a:solidFill>
              <a:srgbClr val="8A8984"/>
            </a:solidFill>
            <a:prstDash val="solid"/>
            <a:tailEnd type="triangle"/>
          </a:ln>
        </p:spPr>
      </p:sp>
      <p:sp>
        <p:nvSpPr>
          <p:cNvPr id="19" name="Shape 16"/>
          <p:cNvSpPr/>
          <p:nvPr/>
        </p:nvSpPr>
        <p:spPr>
          <a:xfrm>
            <a:off x="9052560" y="1554480"/>
            <a:ext cx="2514600" cy="2011680"/>
          </a:xfrm>
          <a:prstGeom prst="roundRect">
            <a:avLst>
              <a:gd name="adj" fmla="val 5455"/>
            </a:avLst>
          </a:prstGeom>
          <a:solidFill>
            <a:srgbClr val="EEF3F8"/>
          </a:solidFill>
          <a:ln w="12700">
            <a:solidFill>
              <a:srgbClr val="EEF3F8"/>
            </a:solidFill>
            <a:prstDash val="solid"/>
          </a:ln>
        </p:spPr>
      </p:sp>
      <p:sp>
        <p:nvSpPr>
          <p:cNvPr id="20" name="Shape 17"/>
          <p:cNvSpPr/>
          <p:nvPr/>
        </p:nvSpPr>
        <p:spPr>
          <a:xfrm>
            <a:off x="9052560" y="1554480"/>
            <a:ext cx="2514600" cy="109728"/>
          </a:xfrm>
          <a:prstGeom prst="rect">
            <a:avLst/>
          </a:prstGeom>
          <a:solidFill>
            <a:srgbClr val="16324F"/>
          </a:solidFill>
          <a:ln w="12700">
            <a:solidFill>
              <a:srgbClr val="16324F"/>
            </a:solidFill>
            <a:prstDash val="solid"/>
          </a:ln>
        </p:spPr>
      </p:sp>
      <p:sp>
        <p:nvSpPr>
          <p:cNvPr id="21" name="Text 18"/>
          <p:cNvSpPr txBox="1"/>
          <p:nvPr/>
        </p:nvSpPr>
        <p:spPr>
          <a:xfrm>
            <a:off x="9189720" y="1783080"/>
            <a:ext cx="2240280" cy="502920"/>
          </a:xfrm>
          <a:prstGeom prst="rect">
            <a:avLst/>
          </a:prstGeom>
          <a:noFill/>
          <a:ln/>
        </p:spPr>
        <p:txBody>
          <a:bodyPr wrap="square" lIns="1016" tIns="1016" rIns="1016" bIns="1016" rtlCol="0" anchor="t"/>
          <a:lstStyle/>
          <a:p>
            <a:pPr algn="ctr" indent="0" marL="0">
              <a:buNone/>
            </a:pPr>
            <a:r>
              <a:rPr lang="en-US" sz="2100" b="1" dirty="0">
                <a:solidFill>
                  <a:srgbClr val="16324F"/>
                </a:solidFill>
                <a:latin typeface="Calibri" pitchFamily="34" charset="0"/>
                <a:ea typeface="Calibri" pitchFamily="34" charset="-122"/>
                <a:cs typeface="Calibri" pitchFamily="34" charset="-120"/>
              </a:rPr>
              <a:t>Keep the best</a:t>
            </a:r>
            <a:endParaRPr lang="en-US" sz="2100" dirty="0"/>
          </a:p>
        </p:txBody>
      </p:sp>
      <p:sp>
        <p:nvSpPr>
          <p:cNvPr id="22" name="Text 19"/>
          <p:cNvSpPr txBox="1"/>
          <p:nvPr/>
        </p:nvSpPr>
        <p:spPr>
          <a:xfrm>
            <a:off x="9189720" y="2331720"/>
            <a:ext cx="2240280" cy="1097280"/>
          </a:xfrm>
          <a:prstGeom prst="rect">
            <a:avLst/>
          </a:prstGeom>
          <a:noFill/>
          <a:ln/>
        </p:spPr>
        <p:txBody>
          <a:bodyPr wrap="square" lIns="1016" tIns="1016" rIns="1016" bIns="1016" rtlCol="0" anchor="t"/>
          <a:lstStyle/>
          <a:p>
            <a:pPr algn="ctr" indent="0" marL="0">
              <a:buNone/>
            </a:pPr>
            <a:r>
              <a:rPr lang="en-US" sz="1600" dirty="0">
                <a:solidFill>
                  <a:srgbClr val="52514E"/>
                </a:solidFill>
                <a:latin typeface="Calibri" pitchFamily="34" charset="0"/>
                <a:ea typeface="Calibri" pitchFamily="34" charset="-122"/>
                <a:cs typeface="Calibri" pitchFamily="34" charset="-120"/>
              </a:rPr>
              <a:t>of 20 restarts</a:t>
            </a:r>
            <a:endParaRPr lang="en-US" sz="1600" dirty="0"/>
          </a:p>
        </p:txBody>
      </p:sp>
      <p:sp>
        <p:nvSpPr>
          <p:cNvPr id="23" name="Shape 20"/>
          <p:cNvSpPr/>
          <p:nvPr/>
        </p:nvSpPr>
        <p:spPr>
          <a:xfrm>
            <a:off x="1783080" y="3611880"/>
            <a:ext cx="8503920" cy="0"/>
          </a:xfrm>
          <a:prstGeom prst="line">
            <a:avLst/>
          </a:prstGeom>
          <a:noFill/>
          <a:ln w="19050">
            <a:solidFill>
              <a:srgbClr val="EB6834"/>
            </a:solidFill>
            <a:prstDash val="dash"/>
            <a:headEnd type="triangle"/>
          </a:ln>
        </p:spPr>
      </p:sp>
      <p:sp>
        <p:nvSpPr>
          <p:cNvPr id="24" name="Text 21"/>
          <p:cNvSpPr txBox="1"/>
          <p:nvPr/>
        </p:nvSpPr>
        <p:spPr>
          <a:xfrm>
            <a:off x="4206240" y="3611880"/>
            <a:ext cx="3657600" cy="365760"/>
          </a:xfrm>
          <a:prstGeom prst="rect">
            <a:avLst/>
          </a:prstGeom>
          <a:noFill/>
          <a:ln/>
        </p:spPr>
        <p:txBody>
          <a:bodyPr wrap="square" lIns="1016" tIns="1016" rIns="1016" bIns="1016" rtlCol="0" anchor="t"/>
          <a:lstStyle/>
          <a:p>
            <a:pPr algn="ctr" indent="0" marL="0">
              <a:buNone/>
            </a:pPr>
            <a:r>
              <a:rPr lang="en-US" sz="1400" dirty="0">
                <a:solidFill>
                  <a:srgbClr val="EB6834"/>
                </a:solidFill>
                <a:latin typeface="Calibri" pitchFamily="34" charset="0"/>
                <a:ea typeface="Calibri" pitchFamily="34" charset="-122"/>
                <a:cs typeface="Calibri" pitchFamily="34" charset="-120"/>
              </a:rPr>
              <a:t>repeat from a new random point</a:t>
            </a:r>
            <a:endParaRPr lang="en-US" sz="1400" dirty="0"/>
          </a:p>
        </p:txBody>
      </p:sp>
      <p:sp>
        <p:nvSpPr>
          <p:cNvPr id="25" name="Shape 22"/>
          <p:cNvSpPr/>
          <p:nvPr/>
        </p:nvSpPr>
        <p:spPr>
          <a:xfrm>
            <a:off x="548640" y="4343400"/>
            <a:ext cx="11064240" cy="1691640"/>
          </a:xfrm>
          <a:prstGeom prst="roundRect">
            <a:avLst>
              <a:gd name="adj" fmla="val 6486"/>
            </a:avLst>
          </a:prstGeom>
          <a:solidFill>
            <a:srgbClr val="FFFFFF"/>
          </a:solidFill>
          <a:ln w="19050">
            <a:solidFill>
              <a:srgbClr val="C9C8C2"/>
            </a:solidFill>
            <a:prstDash val="solid"/>
          </a:ln>
        </p:spPr>
      </p:sp>
      <p:sp>
        <p:nvSpPr>
          <p:cNvPr id="26" name="Text 23"/>
          <p:cNvSpPr txBox="1"/>
          <p:nvPr/>
        </p:nvSpPr>
        <p:spPr>
          <a:xfrm>
            <a:off x="777240" y="4480560"/>
            <a:ext cx="10607040" cy="1463040"/>
          </a:xfrm>
          <a:prstGeom prst="rect">
            <a:avLst/>
          </a:prstGeom>
          <a:noFill/>
          <a:ln/>
        </p:spPr>
        <p:txBody>
          <a:bodyPr wrap="square" lIns="1016" tIns="1016" rIns="1016" bIns="1016" rtlCol="0" anchor="t"/>
          <a:lstStyle/>
          <a:p>
            <a:pPr indent="0" marL="0">
              <a:buNone/>
            </a:pPr>
            <a:r>
              <a:rPr lang="en-US" sz="1800" b="1" dirty="0">
                <a:solidFill>
                  <a:srgbClr val="1B2433"/>
                </a:solidFill>
                <a:latin typeface="Calibri" pitchFamily="34" charset="0"/>
                <a:ea typeface="Calibri" pitchFamily="34" charset="-122"/>
                <a:cs typeface="Calibri" pitchFamily="34" charset="-120"/>
              </a:rPr>
              <a:t>SLP (Sequential Linear Programming): </a:t>
            </a:r>
            <a:pPr indent="0" marL="0">
              <a:buNone/>
            </a:pPr>
            <a:r>
              <a:rPr lang="en-US" sz="1800" dirty="0">
                <a:solidFill>
                  <a:srgbClr val="1B2433"/>
                </a:solidFill>
                <a:latin typeface="Calibri" pitchFamily="34" charset="0"/>
                <a:ea typeface="Calibri" pitchFamily="34" charset="-122"/>
                <a:cs typeface="Calibri" pitchFamily="34" charset="-120"/>
              </a:rPr>
              <a:t>near the current point the curved problem is replaced by a simple linear one (an LP). Solve the LP, take the step if it really improves, and repeat until it stops improving. It is fast, but it only finds the bottom of the valley it started in.</a:t>
            </a:r>
            <a:endParaRPr lang="en-US" sz="18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gap we found in IA-1</a:t>
            </a:r>
            <a:endParaRPr lang="en-US" sz="3000" dirty="0"/>
          </a:p>
        </p:txBody>
      </p:sp>
      <p:sp>
        <p:nvSpPr>
          <p:cNvPr id="4" name="Shape 1"/>
          <p:cNvSpPr/>
          <p:nvPr/>
        </p:nvSpPr>
        <p:spPr>
          <a:xfrm>
            <a:off x="548640" y="1463040"/>
            <a:ext cx="3474720" cy="2011680"/>
          </a:xfrm>
          <a:prstGeom prst="roundRect">
            <a:avLst>
              <a:gd name="adj" fmla="val 5455"/>
            </a:avLst>
          </a:prstGeom>
          <a:solidFill>
            <a:srgbClr val="EEF3F8"/>
          </a:solidFill>
          <a:ln w="12700">
            <a:solidFill>
              <a:srgbClr val="EEF3F8"/>
            </a:solidFill>
            <a:prstDash val="solid"/>
          </a:ln>
        </p:spPr>
      </p:sp>
      <p:sp>
        <p:nvSpPr>
          <p:cNvPr id="5" name="Text 2"/>
          <p:cNvSpPr txBox="1"/>
          <p:nvPr/>
        </p:nvSpPr>
        <p:spPr>
          <a:xfrm>
            <a:off x="685800" y="1600200"/>
            <a:ext cx="3200400" cy="1005840"/>
          </a:xfrm>
          <a:prstGeom prst="rect">
            <a:avLst/>
          </a:prstGeom>
          <a:noFill/>
          <a:ln/>
        </p:spPr>
        <p:txBody>
          <a:bodyPr wrap="square" lIns="1016" tIns="1016" rIns="1016" bIns="1016" rtlCol="0" anchor="ctr"/>
          <a:lstStyle/>
          <a:p>
            <a:pPr algn="ctr" indent="0" marL="0">
              <a:buNone/>
            </a:pPr>
            <a:r>
              <a:rPr lang="en-US" sz="4400" b="1" dirty="0">
                <a:solidFill>
                  <a:srgbClr val="EB6834"/>
                </a:solidFill>
                <a:latin typeface="Cambria" pitchFamily="34" charset="0"/>
                <a:ea typeface="Cambria" pitchFamily="34" charset="-122"/>
                <a:cs typeface="Cambria" pitchFamily="34" charset="-120"/>
              </a:rPr>
              <a:t>6%</a:t>
            </a:r>
            <a:endParaRPr lang="en-US" sz="4400" dirty="0"/>
          </a:p>
        </p:txBody>
      </p:sp>
      <p:sp>
        <p:nvSpPr>
          <p:cNvPr id="6" name="Text 3"/>
          <p:cNvSpPr txBox="1"/>
          <p:nvPr/>
        </p:nvSpPr>
        <p:spPr>
          <a:xfrm>
            <a:off x="685800" y="2606040"/>
            <a:ext cx="3200400" cy="777240"/>
          </a:xfrm>
          <a:prstGeom prst="rect">
            <a:avLst/>
          </a:prstGeom>
          <a:noFill/>
          <a:ln/>
        </p:spPr>
        <p:txBody>
          <a:bodyPr wrap="square" lIns="1016" tIns="1016" rIns="1016" bIns="1016" rtlCol="0" anchor="t"/>
          <a:lstStyle/>
          <a:p>
            <a:pPr algn="ctr" indent="0" marL="0">
              <a:buNone/>
            </a:pPr>
            <a:r>
              <a:rPr lang="en-US" sz="1600" dirty="0">
                <a:solidFill>
                  <a:srgbClr val="52514E"/>
                </a:solidFill>
                <a:latin typeface="Calibri" pitchFamily="34" charset="0"/>
                <a:ea typeface="Calibri" pitchFamily="34" charset="-122"/>
                <a:cs typeface="Calibri" pitchFamily="34" charset="-120"/>
              </a:rPr>
              <a:t>of runs reach a Good solution on the 6 hard instances</a:t>
            </a:r>
            <a:endParaRPr lang="en-US" sz="1600" dirty="0"/>
          </a:p>
        </p:txBody>
      </p:sp>
      <p:sp>
        <p:nvSpPr>
          <p:cNvPr id="7" name="Shape 4"/>
          <p:cNvSpPr/>
          <p:nvPr/>
        </p:nvSpPr>
        <p:spPr>
          <a:xfrm>
            <a:off x="4343400" y="1463040"/>
            <a:ext cx="3474720" cy="2011680"/>
          </a:xfrm>
          <a:prstGeom prst="roundRect">
            <a:avLst>
              <a:gd name="adj" fmla="val 5455"/>
            </a:avLst>
          </a:prstGeom>
          <a:solidFill>
            <a:srgbClr val="EEF3F8"/>
          </a:solidFill>
          <a:ln w="12700">
            <a:solidFill>
              <a:srgbClr val="EEF3F8"/>
            </a:solidFill>
            <a:prstDash val="solid"/>
          </a:ln>
        </p:spPr>
      </p:sp>
      <p:sp>
        <p:nvSpPr>
          <p:cNvPr id="8" name="Text 5"/>
          <p:cNvSpPr txBox="1"/>
          <p:nvPr/>
        </p:nvSpPr>
        <p:spPr>
          <a:xfrm>
            <a:off x="4480560" y="1600200"/>
            <a:ext cx="3200400" cy="1005840"/>
          </a:xfrm>
          <a:prstGeom prst="rect">
            <a:avLst/>
          </a:prstGeom>
          <a:noFill/>
          <a:ln/>
        </p:spPr>
        <p:txBody>
          <a:bodyPr wrap="square" lIns="1016" tIns="1016" rIns="1016" bIns="1016" rtlCol="0" anchor="ctr"/>
          <a:lstStyle/>
          <a:p>
            <a:pPr algn="ctr" indent="0" marL="0">
              <a:buNone/>
            </a:pPr>
            <a:r>
              <a:rPr lang="en-US" sz="4400" b="1" dirty="0">
                <a:solidFill>
                  <a:srgbClr val="EB6834"/>
                </a:solidFill>
                <a:latin typeface="Cambria" pitchFamily="34" charset="0"/>
                <a:ea typeface="Cambria" pitchFamily="34" charset="-122"/>
                <a:cs typeface="Cambria" pitchFamily="34" charset="-120"/>
              </a:rPr>
              <a:t>12%</a:t>
            </a:r>
            <a:endParaRPr lang="en-US" sz="4400" dirty="0"/>
          </a:p>
        </p:txBody>
      </p:sp>
      <p:sp>
        <p:nvSpPr>
          <p:cNvPr id="9" name="Text 6"/>
          <p:cNvSpPr txBox="1"/>
          <p:nvPr/>
        </p:nvSpPr>
        <p:spPr>
          <a:xfrm>
            <a:off x="4480560" y="2606040"/>
            <a:ext cx="3200400" cy="777240"/>
          </a:xfrm>
          <a:prstGeom prst="rect">
            <a:avLst/>
          </a:prstGeom>
          <a:noFill/>
          <a:ln/>
        </p:spPr>
        <p:txBody>
          <a:bodyPr wrap="square" lIns="1016" tIns="1016" rIns="1016" bIns="1016" rtlCol="0" anchor="t"/>
          <a:lstStyle/>
          <a:p>
            <a:pPr algn="ctr" indent="0" marL="0">
              <a:buNone/>
            </a:pPr>
            <a:r>
              <a:rPr lang="en-US" sz="1600" dirty="0">
                <a:solidFill>
                  <a:srgbClr val="52514E"/>
                </a:solidFill>
                <a:latin typeface="Calibri" pitchFamily="34" charset="0"/>
                <a:ea typeface="Calibri" pitchFamily="34" charset="-122"/>
                <a:cs typeface="Calibri" pitchFamily="34" charset="-120"/>
              </a:rPr>
              <a:t>of all runs end infeasible (break a constraint)</a:t>
            </a:r>
            <a:endParaRPr lang="en-US" sz="1600" dirty="0"/>
          </a:p>
        </p:txBody>
      </p:sp>
      <p:sp>
        <p:nvSpPr>
          <p:cNvPr id="10" name="Shape 7"/>
          <p:cNvSpPr/>
          <p:nvPr/>
        </p:nvSpPr>
        <p:spPr>
          <a:xfrm>
            <a:off x="8138160" y="1463040"/>
            <a:ext cx="3474720" cy="2011680"/>
          </a:xfrm>
          <a:prstGeom prst="roundRect">
            <a:avLst>
              <a:gd name="adj" fmla="val 5455"/>
            </a:avLst>
          </a:prstGeom>
          <a:solidFill>
            <a:srgbClr val="EEF3F8"/>
          </a:solidFill>
          <a:ln w="12700">
            <a:solidFill>
              <a:srgbClr val="EEF3F8"/>
            </a:solidFill>
            <a:prstDash val="solid"/>
          </a:ln>
        </p:spPr>
      </p:sp>
      <p:sp>
        <p:nvSpPr>
          <p:cNvPr id="11" name="Text 8"/>
          <p:cNvSpPr txBox="1"/>
          <p:nvPr/>
        </p:nvSpPr>
        <p:spPr>
          <a:xfrm>
            <a:off x="8275320" y="1600200"/>
            <a:ext cx="3200400" cy="1005840"/>
          </a:xfrm>
          <a:prstGeom prst="rect">
            <a:avLst/>
          </a:prstGeom>
          <a:noFill/>
          <a:ln/>
        </p:spPr>
        <p:txBody>
          <a:bodyPr wrap="square" lIns="1016" tIns="1016" rIns="1016" bIns="1016" rtlCol="0" anchor="ctr"/>
          <a:lstStyle/>
          <a:p>
            <a:pPr algn="ctr" indent="0" marL="0">
              <a:buNone/>
            </a:pPr>
            <a:r>
              <a:rPr lang="en-US" sz="4400" b="1" dirty="0">
                <a:solidFill>
                  <a:srgbClr val="EB6834"/>
                </a:solidFill>
                <a:latin typeface="Cambria" pitchFamily="34" charset="0"/>
                <a:ea typeface="Cambria" pitchFamily="34" charset="-122"/>
                <a:cs typeface="Cambria" pitchFamily="34" charset="-120"/>
              </a:rPr>
              <a:t>0</a:t>
            </a:r>
            <a:endParaRPr lang="en-US" sz="4400" dirty="0"/>
          </a:p>
        </p:txBody>
      </p:sp>
      <p:sp>
        <p:nvSpPr>
          <p:cNvPr id="12" name="Text 9"/>
          <p:cNvSpPr txBox="1"/>
          <p:nvPr/>
        </p:nvSpPr>
        <p:spPr>
          <a:xfrm>
            <a:off x="8275320" y="2606040"/>
            <a:ext cx="3200400" cy="777240"/>
          </a:xfrm>
          <a:prstGeom prst="rect">
            <a:avLst/>
          </a:prstGeom>
          <a:noFill/>
          <a:ln/>
        </p:spPr>
        <p:txBody>
          <a:bodyPr wrap="square" lIns="1016" tIns="1016" rIns="1016" bIns="1016" rtlCol="0" anchor="t"/>
          <a:lstStyle/>
          <a:p>
            <a:pPr algn="ctr" indent="0" marL="0">
              <a:buNone/>
            </a:pPr>
            <a:r>
              <a:rPr lang="en-US" sz="1600" dirty="0">
                <a:solidFill>
                  <a:srgbClr val="52514E"/>
                </a:solidFill>
                <a:latin typeface="Calibri" pitchFamily="34" charset="0"/>
                <a:ea typeface="Calibri" pitchFamily="34" charset="-122"/>
                <a:cs typeface="Calibri" pitchFamily="34" charset="-120"/>
              </a:rPr>
              <a:t>information reused between restarts: every start is random</a:t>
            </a:r>
            <a:endParaRPr lang="en-US" sz="1600" dirty="0"/>
          </a:p>
        </p:txBody>
      </p:sp>
      <p:sp>
        <p:nvSpPr>
          <p:cNvPr id="13" name="Shape 10"/>
          <p:cNvSpPr/>
          <p:nvPr/>
        </p:nvSpPr>
        <p:spPr>
          <a:xfrm>
            <a:off x="548640" y="3840480"/>
            <a:ext cx="11064240" cy="2194560"/>
          </a:xfrm>
          <a:prstGeom prst="roundRect">
            <a:avLst>
              <a:gd name="adj" fmla="val 5000"/>
            </a:avLst>
          </a:prstGeom>
          <a:solidFill>
            <a:srgbClr val="FFFFFF"/>
          </a:solidFill>
          <a:ln w="19050">
            <a:solidFill>
              <a:srgbClr val="C9C8C2"/>
            </a:solidFill>
            <a:prstDash val="solid"/>
          </a:ln>
        </p:spPr>
      </p:sp>
      <p:sp>
        <p:nvSpPr>
          <p:cNvPr id="14" name="Text 11"/>
          <p:cNvSpPr txBox="1"/>
          <p:nvPr/>
        </p:nvSpPr>
        <p:spPr>
          <a:xfrm>
            <a:off x="777240" y="3977640"/>
            <a:ext cx="10607040" cy="1920240"/>
          </a:xfrm>
          <a:prstGeom prst="rect">
            <a:avLst/>
          </a:prstGeom>
          <a:noFill/>
          <a:ln/>
        </p:spPr>
        <p:txBody>
          <a:bodyPr wrap="square" lIns="1016" tIns="1016" rIns="1016" bIns="1016" rtlCol="0" anchor="t"/>
          <a:lstStyle/>
          <a:p>
            <a:pPr indent="0" marL="0">
              <a:spcAft>
                <a:spcPts val="1000"/>
              </a:spcAft>
              <a:buNone/>
            </a:pPr>
            <a:r>
              <a:rPr lang="en-US" sz="1900" b="1" dirty="0">
                <a:solidFill>
                  <a:srgbClr val="1B2433"/>
                </a:solidFill>
                <a:latin typeface="Calibri" pitchFamily="34" charset="0"/>
                <a:ea typeface="Calibri" pitchFamily="34" charset="-122"/>
                <a:cs typeface="Calibri" pitchFamily="34" charset="-120"/>
              </a:rPr>
              <a:t>Good solution = </a:t>
            </a:r>
            <a:pPr indent="0" marL="0">
              <a:spcAft>
                <a:spcPts val="1000"/>
              </a:spcAft>
              <a:buNone/>
            </a:pPr>
            <a:r>
              <a:rPr lang="en-US" sz="1900" dirty="0">
                <a:solidFill>
                  <a:srgbClr val="1B2433"/>
                </a:solidFill>
                <a:latin typeface="Calibri" pitchFamily="34" charset="0"/>
                <a:ea typeface="Calibri" pitchFamily="34" charset="-122"/>
                <a:cs typeface="Calibri" pitchFamily="34" charset="-120"/>
              </a:rPr>
              <a:t>cost within 0.2% of the best cost ever found for that instance.</a:t>
            </a:r>
            <a:endParaRPr lang="en-US" sz="1900" dirty="0"/>
          </a:p>
          <a:p>
            <a:pPr indent="0" marL="0">
              <a:spcAft>
                <a:spcPts val="1000"/>
              </a:spcAft>
              <a:buNone/>
            </a:pPr>
            <a:r>
              <a:rPr lang="en-US" sz="1900" b="1" dirty="0">
                <a:solidFill>
                  <a:srgbClr val="EB6834"/>
                </a:solidFill>
                <a:latin typeface="Calibri" pitchFamily="34" charset="0"/>
                <a:ea typeface="Calibri" pitchFamily="34" charset="-122"/>
                <a:cs typeface="Calibri" pitchFamily="34" charset="-120"/>
              </a:rPr>
              <a:t>Gap: </a:t>
            </a:r>
            <a:pPr indent="0" marL="0">
              <a:spcAft>
                <a:spcPts val="1000"/>
              </a:spcAft>
              <a:buNone/>
            </a:pPr>
            <a:r>
              <a:rPr lang="en-US" sz="1900" dirty="0">
                <a:solidFill>
                  <a:srgbClr val="1B2433"/>
                </a:solidFill>
                <a:latin typeface="Calibri" pitchFamily="34" charset="0"/>
                <a:ea typeface="Calibri" pitchFamily="34" charset="-122"/>
                <a:cs typeface="Calibri" pitchFamily="34" charset="-120"/>
              </a:rPr>
              <a:t>random restarts waste most of the time in bad valleys. Yet the problem has a simple structure that nobody used: if the bins are fixed, the rest is an easy LP.</a:t>
            </a:r>
            <a:endParaRPr lang="en-US" sz="1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IA-2: restart smart, not random</a:t>
            </a:r>
            <a:endParaRPr lang="en-US" sz="3000" dirty="0"/>
          </a:p>
        </p:txBody>
      </p:sp>
      <p:sp>
        <p:nvSpPr>
          <p:cNvPr id="4" name="Shape 1"/>
          <p:cNvSpPr/>
          <p:nvPr/>
        </p:nvSpPr>
        <p:spPr>
          <a:xfrm>
            <a:off x="548640" y="1417320"/>
            <a:ext cx="3520440" cy="3840480"/>
          </a:xfrm>
          <a:prstGeom prst="roundRect">
            <a:avLst>
              <a:gd name="adj" fmla="val 3117"/>
            </a:avLst>
          </a:prstGeom>
          <a:solidFill>
            <a:srgbClr val="EEF3F8"/>
          </a:solidFill>
          <a:ln w="12700">
            <a:solidFill>
              <a:srgbClr val="EEF3F8"/>
            </a:solidFill>
            <a:prstDash val="solid"/>
          </a:ln>
        </p:spPr>
      </p:sp>
      <p:sp>
        <p:nvSpPr>
          <p:cNvPr id="5" name="Shape 2"/>
          <p:cNvSpPr/>
          <p:nvPr/>
        </p:nvSpPr>
        <p:spPr>
          <a:xfrm>
            <a:off x="1920240" y="1645920"/>
            <a:ext cx="777240" cy="777240"/>
          </a:xfrm>
          <a:prstGeom prst="ellipse">
            <a:avLst/>
          </a:prstGeom>
          <a:solidFill>
            <a:srgbClr val="2A78D6"/>
          </a:solidFill>
          <a:ln w="12700">
            <a:solidFill>
              <a:srgbClr val="2A78D6"/>
            </a:solidFill>
            <a:prstDash val="solid"/>
          </a:ln>
        </p:spPr>
      </p:sp>
      <p:sp>
        <p:nvSpPr>
          <p:cNvPr id="6" name="Text 3"/>
          <p:cNvSpPr txBox="1"/>
          <p:nvPr/>
        </p:nvSpPr>
        <p:spPr>
          <a:xfrm>
            <a:off x="1737360" y="1645920"/>
            <a:ext cx="114300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a:t>
            </a:r>
            <a:endParaRPr lang="en-US" sz="2600" dirty="0"/>
          </a:p>
        </p:txBody>
      </p:sp>
      <p:sp>
        <p:nvSpPr>
          <p:cNvPr id="7" name="Text 4"/>
          <p:cNvSpPr txBox="1"/>
          <p:nvPr/>
        </p:nvSpPr>
        <p:spPr>
          <a:xfrm>
            <a:off x="731520" y="2560320"/>
            <a:ext cx="3154680" cy="548640"/>
          </a:xfrm>
          <a:prstGeom prst="rect">
            <a:avLst/>
          </a:prstGeom>
          <a:noFill/>
          <a:ln/>
        </p:spPr>
        <p:txBody>
          <a:bodyPr wrap="square" lIns="1016" tIns="1016" rIns="1016" bIns="1016" rtlCol="0" anchor="t"/>
          <a:lstStyle/>
          <a:p>
            <a:pPr algn="ctr" indent="0" marL="0">
              <a:buNone/>
            </a:pPr>
            <a:r>
              <a:rPr lang="en-US" sz="2200" b="1" dirty="0">
                <a:solidFill>
                  <a:srgbClr val="16324F"/>
                </a:solidFill>
                <a:latin typeface="Calibri" pitchFamily="34" charset="0"/>
                <a:ea typeface="Calibri" pitchFamily="34" charset="-122"/>
                <a:cs typeface="Calibri" pitchFamily="34" charset="-120"/>
              </a:rPr>
              <a:t>Smart start</a:t>
            </a:r>
            <a:endParaRPr lang="en-US" sz="2200" dirty="0"/>
          </a:p>
        </p:txBody>
      </p:sp>
      <p:sp>
        <p:nvSpPr>
          <p:cNvPr id="8" name="Text 5"/>
          <p:cNvSpPr txBox="1"/>
          <p:nvPr/>
        </p:nvSpPr>
        <p:spPr>
          <a:xfrm>
            <a:off x="777240" y="3154680"/>
            <a:ext cx="3063240" cy="2011680"/>
          </a:xfrm>
          <a:prstGeom prst="rect">
            <a:avLst/>
          </a:prstGeom>
          <a:noFill/>
          <a:ln/>
        </p:spPr>
        <p:txBody>
          <a:bodyPr wrap="square" lIns="1016" tIns="1016" rIns="1016" bIns="1016" rtlCol="0" anchor="t"/>
          <a:lstStyle/>
          <a:p>
            <a:pPr algn="ctr" indent="0" marL="0">
              <a:buNone/>
            </a:pPr>
            <a:r>
              <a:rPr lang="en-US" sz="1800" dirty="0">
                <a:solidFill>
                  <a:srgbClr val="52514E"/>
                </a:solidFill>
                <a:latin typeface="Calibri" pitchFamily="34" charset="0"/>
                <a:ea typeface="Calibri" pitchFamily="34" charset="-122"/>
                <a:cs typeface="Calibri" pitchFamily="34" charset="-120"/>
              </a:rPr>
              <a:t>Compute each feed's ideal recipe (a small LP), then group similar recipes into the bins.</a:t>
            </a:r>
            <a:endParaRPr lang="en-US" sz="1800" dirty="0"/>
          </a:p>
        </p:txBody>
      </p:sp>
      <p:sp>
        <p:nvSpPr>
          <p:cNvPr id="9" name="Shape 6"/>
          <p:cNvSpPr/>
          <p:nvPr/>
        </p:nvSpPr>
        <p:spPr>
          <a:xfrm>
            <a:off x="4315968" y="1417320"/>
            <a:ext cx="3520440" cy="3840480"/>
          </a:xfrm>
          <a:prstGeom prst="roundRect">
            <a:avLst>
              <a:gd name="adj" fmla="val 3117"/>
            </a:avLst>
          </a:prstGeom>
          <a:solidFill>
            <a:srgbClr val="EEF3F8"/>
          </a:solidFill>
          <a:ln w="12700">
            <a:solidFill>
              <a:srgbClr val="EEF3F8"/>
            </a:solidFill>
            <a:prstDash val="solid"/>
          </a:ln>
        </p:spPr>
      </p:sp>
      <p:sp>
        <p:nvSpPr>
          <p:cNvPr id="10" name="Shape 7"/>
          <p:cNvSpPr/>
          <p:nvPr/>
        </p:nvSpPr>
        <p:spPr>
          <a:xfrm>
            <a:off x="5687568" y="1645920"/>
            <a:ext cx="777240" cy="777240"/>
          </a:xfrm>
          <a:prstGeom prst="ellipse">
            <a:avLst/>
          </a:prstGeom>
          <a:solidFill>
            <a:srgbClr val="1BAF7A"/>
          </a:solidFill>
          <a:ln w="12700">
            <a:solidFill>
              <a:srgbClr val="1BAF7A"/>
            </a:solidFill>
            <a:prstDash val="solid"/>
          </a:ln>
        </p:spPr>
      </p:sp>
      <p:sp>
        <p:nvSpPr>
          <p:cNvPr id="11" name="Text 8"/>
          <p:cNvSpPr txBox="1"/>
          <p:nvPr/>
        </p:nvSpPr>
        <p:spPr>
          <a:xfrm>
            <a:off x="5504688" y="1645920"/>
            <a:ext cx="114300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a:t>
            </a:r>
            <a:endParaRPr lang="en-US" sz="2600" dirty="0"/>
          </a:p>
        </p:txBody>
      </p:sp>
      <p:sp>
        <p:nvSpPr>
          <p:cNvPr id="12" name="Text 9"/>
          <p:cNvSpPr txBox="1"/>
          <p:nvPr/>
        </p:nvSpPr>
        <p:spPr>
          <a:xfrm>
            <a:off x="4498848" y="2560320"/>
            <a:ext cx="3154680" cy="548640"/>
          </a:xfrm>
          <a:prstGeom prst="rect">
            <a:avLst/>
          </a:prstGeom>
          <a:noFill/>
          <a:ln/>
        </p:spPr>
        <p:txBody>
          <a:bodyPr wrap="square" lIns="1016" tIns="1016" rIns="1016" bIns="1016" rtlCol="0" anchor="t"/>
          <a:lstStyle/>
          <a:p>
            <a:pPr algn="ctr" indent="0" marL="0">
              <a:buNone/>
            </a:pPr>
            <a:r>
              <a:rPr lang="en-US" sz="2200" b="1" dirty="0">
                <a:solidFill>
                  <a:srgbClr val="16324F"/>
                </a:solidFill>
                <a:latin typeface="Calibri" pitchFamily="34" charset="0"/>
                <a:ea typeface="Calibri" pitchFamily="34" charset="-122"/>
                <a:cs typeface="Calibri" pitchFamily="34" charset="-120"/>
              </a:rPr>
              <a:t>Fix one, solve the other</a:t>
            </a:r>
            <a:endParaRPr lang="en-US" sz="2200" dirty="0"/>
          </a:p>
        </p:txBody>
      </p:sp>
      <p:sp>
        <p:nvSpPr>
          <p:cNvPr id="13" name="Text 10"/>
          <p:cNvSpPr txBox="1"/>
          <p:nvPr/>
        </p:nvSpPr>
        <p:spPr>
          <a:xfrm>
            <a:off x="4544568" y="3154680"/>
            <a:ext cx="3063240" cy="2011680"/>
          </a:xfrm>
          <a:prstGeom prst="rect">
            <a:avLst/>
          </a:prstGeom>
          <a:noFill/>
          <a:ln/>
        </p:spPr>
        <p:txBody>
          <a:bodyPr wrap="square" lIns="1016" tIns="1016" rIns="1016" bIns="1016" rtlCol="0" anchor="t"/>
          <a:lstStyle/>
          <a:p>
            <a:pPr algn="ctr" indent="0" marL="0">
              <a:buNone/>
            </a:pPr>
            <a:r>
              <a:rPr lang="en-US" sz="1800" dirty="0">
                <a:solidFill>
                  <a:srgbClr val="52514E"/>
                </a:solidFill>
                <a:latin typeface="Calibri" pitchFamily="34" charset="0"/>
                <a:ea typeface="Calibri" pitchFamily="34" charset="-122"/>
                <a:cs typeface="Calibri" pitchFamily="34" charset="-120"/>
              </a:rPr>
              <a:t>With the bins fixed, the rest is an easy LP. We use it to repair and polish every answer.</a:t>
            </a:r>
            <a:endParaRPr lang="en-US" sz="1800" dirty="0"/>
          </a:p>
        </p:txBody>
      </p:sp>
      <p:sp>
        <p:nvSpPr>
          <p:cNvPr id="14" name="Shape 11"/>
          <p:cNvSpPr/>
          <p:nvPr/>
        </p:nvSpPr>
        <p:spPr>
          <a:xfrm>
            <a:off x="8083296" y="1417320"/>
            <a:ext cx="3520440" cy="3840480"/>
          </a:xfrm>
          <a:prstGeom prst="roundRect">
            <a:avLst>
              <a:gd name="adj" fmla="val 3117"/>
            </a:avLst>
          </a:prstGeom>
          <a:solidFill>
            <a:srgbClr val="EEF3F8"/>
          </a:solidFill>
          <a:ln w="12700">
            <a:solidFill>
              <a:srgbClr val="EEF3F8"/>
            </a:solidFill>
            <a:prstDash val="solid"/>
          </a:ln>
        </p:spPr>
      </p:sp>
      <p:sp>
        <p:nvSpPr>
          <p:cNvPr id="15" name="Shape 12"/>
          <p:cNvSpPr/>
          <p:nvPr/>
        </p:nvSpPr>
        <p:spPr>
          <a:xfrm>
            <a:off x="9454896" y="1645920"/>
            <a:ext cx="777240" cy="777240"/>
          </a:xfrm>
          <a:prstGeom prst="ellipse">
            <a:avLst/>
          </a:prstGeom>
          <a:solidFill>
            <a:srgbClr val="6250D6"/>
          </a:solidFill>
          <a:ln w="12700">
            <a:solidFill>
              <a:srgbClr val="6250D6"/>
            </a:solidFill>
            <a:prstDash val="solid"/>
          </a:ln>
        </p:spPr>
      </p:sp>
      <p:sp>
        <p:nvSpPr>
          <p:cNvPr id="16" name="Text 13"/>
          <p:cNvSpPr txBox="1"/>
          <p:nvPr/>
        </p:nvSpPr>
        <p:spPr>
          <a:xfrm>
            <a:off x="9272016" y="1645920"/>
            <a:ext cx="114300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a:t>
            </a:r>
            <a:endParaRPr lang="en-US" sz="2600" dirty="0"/>
          </a:p>
        </p:txBody>
      </p:sp>
      <p:sp>
        <p:nvSpPr>
          <p:cNvPr id="17" name="Text 14"/>
          <p:cNvSpPr txBox="1"/>
          <p:nvPr/>
        </p:nvSpPr>
        <p:spPr>
          <a:xfrm>
            <a:off x="8266176" y="2560320"/>
            <a:ext cx="3154680" cy="548640"/>
          </a:xfrm>
          <a:prstGeom prst="rect">
            <a:avLst/>
          </a:prstGeom>
          <a:noFill/>
          <a:ln/>
        </p:spPr>
        <p:txBody>
          <a:bodyPr wrap="square" lIns="1016" tIns="1016" rIns="1016" bIns="1016" rtlCol="0" anchor="t"/>
          <a:lstStyle/>
          <a:p>
            <a:pPr algn="ctr" indent="0" marL="0">
              <a:buNone/>
            </a:pPr>
            <a:r>
              <a:rPr lang="en-US" sz="2200" b="1" dirty="0">
                <a:solidFill>
                  <a:srgbClr val="16324F"/>
                </a:solidFill>
                <a:latin typeface="Calibri" pitchFamily="34" charset="0"/>
                <a:ea typeface="Calibri" pitchFamily="34" charset="-122"/>
                <a:cs typeface="Calibri" pitchFamily="34" charset="-120"/>
              </a:rPr>
              <a:t>Learn from the best</a:t>
            </a:r>
            <a:endParaRPr lang="en-US" sz="2200" dirty="0"/>
          </a:p>
        </p:txBody>
      </p:sp>
      <p:sp>
        <p:nvSpPr>
          <p:cNvPr id="18" name="Text 15"/>
          <p:cNvSpPr txBox="1"/>
          <p:nvPr/>
        </p:nvSpPr>
        <p:spPr>
          <a:xfrm>
            <a:off x="8311896" y="3154680"/>
            <a:ext cx="3063240" cy="2011680"/>
          </a:xfrm>
          <a:prstGeom prst="rect">
            <a:avLst/>
          </a:prstGeom>
          <a:noFill/>
          <a:ln/>
        </p:spPr>
        <p:txBody>
          <a:bodyPr wrap="square" lIns="1016" tIns="1016" rIns="1016" bIns="1016" rtlCol="0" anchor="t"/>
          <a:lstStyle/>
          <a:p>
            <a:pPr algn="ctr" indent="0" marL="0">
              <a:buNone/>
            </a:pPr>
            <a:r>
              <a:rPr lang="en-US" sz="1800" dirty="0">
                <a:solidFill>
                  <a:srgbClr val="52514E"/>
                </a:solidFill>
                <a:latin typeface="Calibri" pitchFamily="34" charset="0"/>
                <a:ea typeface="Calibri" pitchFamily="34" charset="-122"/>
                <a:cs typeface="Calibri" pitchFamily="34" charset="-120"/>
              </a:rPr>
              <a:t>The next run starts from the best answer so far and changes the bin that costs one feed the most.</a:t>
            </a:r>
            <a:endParaRPr lang="en-US" sz="1800" dirty="0"/>
          </a:p>
        </p:txBody>
      </p:sp>
      <p:sp>
        <p:nvSpPr>
          <p:cNvPr id="19" name="Text 16"/>
          <p:cNvSpPr txBox="1"/>
          <p:nvPr/>
        </p:nvSpPr>
        <p:spPr>
          <a:xfrm>
            <a:off x="548640" y="5486400"/>
            <a:ext cx="11064240" cy="548640"/>
          </a:xfrm>
          <a:prstGeom prst="rect">
            <a:avLst/>
          </a:prstGeom>
          <a:noFill/>
          <a:ln/>
        </p:spPr>
        <p:txBody>
          <a:bodyPr wrap="square" lIns="1016" tIns="1016" rIns="1016" bIns="1016" rtlCol="0" anchor="t"/>
          <a:lstStyle/>
          <a:p>
            <a:pPr algn="ctr" indent="0" marL="0">
              <a:buNone/>
            </a:pPr>
            <a:r>
              <a:rPr lang="en-US" sz="1800" b="1" dirty="0">
                <a:solidFill>
                  <a:srgbClr val="2A78D6"/>
                </a:solidFill>
                <a:latin typeface="Calibri" pitchFamily="34" charset="0"/>
                <a:ea typeface="Calibri" pitchFamily="34" charset="-122"/>
                <a:cs typeface="Calibri" pitchFamily="34" charset="-120"/>
              </a:rPr>
              <a:t>The model and the SLP solver from IA-1 stay exactly the same: only the starting points and the restarts change.</a:t>
            </a:r>
            <a:endParaRPr lang="en-US" sz="18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How IA-2 runs</a:t>
            </a:r>
            <a:endParaRPr lang="en-US" sz="3000" dirty="0"/>
          </a:p>
        </p:txBody>
      </p:sp>
      <p:sp>
        <p:nvSpPr>
          <p:cNvPr id="4" name="Shape 1"/>
          <p:cNvSpPr/>
          <p:nvPr/>
        </p:nvSpPr>
        <p:spPr>
          <a:xfrm>
            <a:off x="548640" y="1554480"/>
            <a:ext cx="2560320" cy="1874520"/>
          </a:xfrm>
          <a:prstGeom prst="roundRect">
            <a:avLst>
              <a:gd name="adj" fmla="val 5854"/>
            </a:avLst>
          </a:prstGeom>
          <a:solidFill>
            <a:srgbClr val="EEF3F8"/>
          </a:solidFill>
          <a:ln w="12700">
            <a:solidFill>
              <a:srgbClr val="EEF3F8"/>
            </a:solidFill>
            <a:prstDash val="solid"/>
          </a:ln>
        </p:spPr>
      </p:sp>
      <p:sp>
        <p:nvSpPr>
          <p:cNvPr id="5" name="Shape 2"/>
          <p:cNvSpPr/>
          <p:nvPr/>
        </p:nvSpPr>
        <p:spPr>
          <a:xfrm>
            <a:off x="548640" y="1554480"/>
            <a:ext cx="2560320" cy="109728"/>
          </a:xfrm>
          <a:prstGeom prst="rect">
            <a:avLst/>
          </a:prstGeom>
          <a:solidFill>
            <a:srgbClr val="2A78D6"/>
          </a:solidFill>
          <a:ln w="12700">
            <a:solidFill>
              <a:srgbClr val="2A78D6"/>
            </a:solidFill>
            <a:prstDash val="solid"/>
          </a:ln>
        </p:spPr>
      </p:sp>
      <p:sp>
        <p:nvSpPr>
          <p:cNvPr id="6" name="Text 3"/>
          <p:cNvSpPr txBox="1"/>
          <p:nvPr/>
        </p:nvSpPr>
        <p:spPr>
          <a:xfrm>
            <a:off x="640080" y="1783080"/>
            <a:ext cx="2377440" cy="457200"/>
          </a:xfrm>
          <a:prstGeom prst="rect">
            <a:avLst/>
          </a:prstGeom>
          <a:noFill/>
          <a:ln/>
        </p:spPr>
        <p:txBody>
          <a:bodyPr wrap="square" lIns="1016" tIns="1016" rIns="1016" bIns="1016" rtlCol="0" anchor="t"/>
          <a:lstStyle/>
          <a:p>
            <a:pPr algn="ctr" indent="0" marL="0">
              <a:buNone/>
            </a:pPr>
            <a:r>
              <a:rPr lang="en-US" sz="2000" b="1" dirty="0">
                <a:solidFill>
                  <a:srgbClr val="16324F"/>
                </a:solidFill>
                <a:latin typeface="Calibri" pitchFamily="34" charset="0"/>
                <a:ea typeface="Calibri" pitchFamily="34" charset="-122"/>
                <a:cs typeface="Calibri" pitchFamily="34" charset="-120"/>
              </a:rPr>
              <a:t>Ideal recipes</a:t>
            </a:r>
            <a:endParaRPr lang="en-US" sz="2000" dirty="0"/>
          </a:p>
        </p:txBody>
      </p:sp>
      <p:sp>
        <p:nvSpPr>
          <p:cNvPr id="7" name="Text 4"/>
          <p:cNvSpPr txBox="1"/>
          <p:nvPr/>
        </p:nvSpPr>
        <p:spPr>
          <a:xfrm>
            <a:off x="640080" y="2286000"/>
            <a:ext cx="2377440" cy="1097280"/>
          </a:xfrm>
          <a:prstGeom prst="rect">
            <a:avLst/>
          </a:prstGeom>
          <a:noFill/>
          <a:ln/>
        </p:spPr>
        <p:txBody>
          <a:bodyPr wrap="square" lIns="1016" tIns="1016" rIns="1016" bIns="1016" rtlCol="0" anchor="t"/>
          <a:lstStyle/>
          <a:p>
            <a:pPr algn="ctr" indent="0" marL="0">
              <a:buNone/>
            </a:pPr>
            <a:r>
              <a:rPr lang="en-US" sz="1500" dirty="0">
                <a:solidFill>
                  <a:srgbClr val="52514E"/>
                </a:solidFill>
                <a:latin typeface="Calibri" pitchFamily="34" charset="0"/>
                <a:ea typeface="Calibri" pitchFamily="34" charset="-122"/>
                <a:cs typeface="Calibri" pitchFamily="34" charset="-120"/>
              </a:rPr>
              <a:t>one LP per feed</a:t>
            </a:r>
            <a:endParaRPr lang="en-US" sz="1500" dirty="0"/>
          </a:p>
          <a:p>
            <a:pPr algn="ctr" indent="0" marL="0">
              <a:buNone/>
            </a:pPr>
            <a:r>
              <a:rPr lang="en-US" sz="1500" dirty="0">
                <a:solidFill>
                  <a:srgbClr val="52514E"/>
                </a:solidFill>
                <a:latin typeface="Calibri" pitchFamily="34" charset="0"/>
                <a:ea typeface="Calibri" pitchFamily="34" charset="-122"/>
                <a:cs typeface="Calibri" pitchFamily="34" charset="-120"/>
              </a:rPr>
              <a:t>+ lower bound</a:t>
            </a:r>
            <a:endParaRPr lang="en-US" sz="1500" dirty="0"/>
          </a:p>
        </p:txBody>
      </p:sp>
      <p:sp>
        <p:nvSpPr>
          <p:cNvPr id="8" name="Shape 5"/>
          <p:cNvSpPr/>
          <p:nvPr/>
        </p:nvSpPr>
        <p:spPr>
          <a:xfrm>
            <a:off x="3383280" y="1554480"/>
            <a:ext cx="2560320" cy="1874520"/>
          </a:xfrm>
          <a:prstGeom prst="roundRect">
            <a:avLst>
              <a:gd name="adj" fmla="val 5854"/>
            </a:avLst>
          </a:prstGeom>
          <a:solidFill>
            <a:srgbClr val="EEF3F8"/>
          </a:solidFill>
          <a:ln w="12700">
            <a:solidFill>
              <a:srgbClr val="EEF3F8"/>
            </a:solidFill>
            <a:prstDash val="solid"/>
          </a:ln>
        </p:spPr>
      </p:sp>
      <p:sp>
        <p:nvSpPr>
          <p:cNvPr id="9" name="Shape 6"/>
          <p:cNvSpPr/>
          <p:nvPr/>
        </p:nvSpPr>
        <p:spPr>
          <a:xfrm>
            <a:off x="3383280" y="1554480"/>
            <a:ext cx="2560320" cy="109728"/>
          </a:xfrm>
          <a:prstGeom prst="rect">
            <a:avLst/>
          </a:prstGeom>
          <a:solidFill>
            <a:srgbClr val="2A78D6"/>
          </a:solidFill>
          <a:ln w="12700">
            <a:solidFill>
              <a:srgbClr val="2A78D6"/>
            </a:solidFill>
            <a:prstDash val="solid"/>
          </a:ln>
        </p:spPr>
      </p:sp>
      <p:sp>
        <p:nvSpPr>
          <p:cNvPr id="10" name="Text 7"/>
          <p:cNvSpPr txBox="1"/>
          <p:nvPr/>
        </p:nvSpPr>
        <p:spPr>
          <a:xfrm>
            <a:off x="3474720" y="1783080"/>
            <a:ext cx="2377440" cy="457200"/>
          </a:xfrm>
          <a:prstGeom prst="rect">
            <a:avLst/>
          </a:prstGeom>
          <a:noFill/>
          <a:ln/>
        </p:spPr>
        <p:txBody>
          <a:bodyPr wrap="square" lIns="1016" tIns="1016" rIns="1016" bIns="1016" rtlCol="0" anchor="t"/>
          <a:lstStyle/>
          <a:p>
            <a:pPr algn="ctr" indent="0" marL="0">
              <a:buNone/>
            </a:pPr>
            <a:r>
              <a:rPr lang="en-US" sz="2000" b="1" dirty="0">
                <a:solidFill>
                  <a:srgbClr val="16324F"/>
                </a:solidFill>
                <a:latin typeface="Calibri" pitchFamily="34" charset="0"/>
                <a:ea typeface="Calibri" pitchFamily="34" charset="-122"/>
                <a:cs typeface="Calibri" pitchFamily="34" charset="-120"/>
              </a:rPr>
              <a:t>Smart start</a:t>
            </a:r>
            <a:endParaRPr lang="en-US" sz="2000" dirty="0"/>
          </a:p>
        </p:txBody>
      </p:sp>
      <p:sp>
        <p:nvSpPr>
          <p:cNvPr id="11" name="Text 8"/>
          <p:cNvSpPr txBox="1"/>
          <p:nvPr/>
        </p:nvSpPr>
        <p:spPr>
          <a:xfrm>
            <a:off x="3474720" y="2286000"/>
            <a:ext cx="2377440" cy="1097280"/>
          </a:xfrm>
          <a:prstGeom prst="rect">
            <a:avLst/>
          </a:prstGeom>
          <a:noFill/>
          <a:ln/>
        </p:spPr>
        <p:txBody>
          <a:bodyPr wrap="square" lIns="1016" tIns="1016" rIns="1016" bIns="1016" rtlCol="0" anchor="t"/>
          <a:lstStyle/>
          <a:p>
            <a:pPr algn="ctr" indent="0" marL="0">
              <a:buNone/>
            </a:pPr>
            <a:r>
              <a:rPr lang="en-US" sz="1500" dirty="0">
                <a:solidFill>
                  <a:srgbClr val="52514E"/>
                </a:solidFill>
                <a:latin typeface="Calibri" pitchFamily="34" charset="0"/>
                <a:ea typeface="Calibri" pitchFamily="34" charset="-122"/>
                <a:cs typeface="Calibri" pitchFamily="34" charset="-120"/>
              </a:rPr>
              <a:t>group recipes</a:t>
            </a:r>
            <a:endParaRPr lang="en-US" sz="1500" dirty="0"/>
          </a:p>
          <a:p>
            <a:pPr algn="ctr" indent="0" marL="0">
              <a:buNone/>
            </a:pPr>
            <a:r>
              <a:rPr lang="en-US" sz="1500" dirty="0">
                <a:solidFill>
                  <a:srgbClr val="52514E"/>
                </a:solidFill>
                <a:latin typeface="Calibri" pitchFamily="34" charset="0"/>
                <a:ea typeface="Calibri" pitchFamily="34" charset="-122"/>
                <a:cs typeface="Calibri" pitchFamily="34" charset="-120"/>
              </a:rPr>
              <a:t>into bins</a:t>
            </a:r>
            <a:endParaRPr lang="en-US" sz="1500" dirty="0"/>
          </a:p>
        </p:txBody>
      </p:sp>
      <p:sp>
        <p:nvSpPr>
          <p:cNvPr id="12" name="Shape 9"/>
          <p:cNvSpPr/>
          <p:nvPr/>
        </p:nvSpPr>
        <p:spPr>
          <a:xfrm>
            <a:off x="6217920" y="1554480"/>
            <a:ext cx="2560320" cy="1874520"/>
          </a:xfrm>
          <a:prstGeom prst="roundRect">
            <a:avLst>
              <a:gd name="adj" fmla="val 5854"/>
            </a:avLst>
          </a:prstGeom>
          <a:solidFill>
            <a:srgbClr val="EEF3F8"/>
          </a:solidFill>
          <a:ln w="12700">
            <a:solidFill>
              <a:srgbClr val="EEF3F8"/>
            </a:solidFill>
            <a:prstDash val="solid"/>
          </a:ln>
        </p:spPr>
      </p:sp>
      <p:sp>
        <p:nvSpPr>
          <p:cNvPr id="13" name="Shape 10"/>
          <p:cNvSpPr/>
          <p:nvPr/>
        </p:nvSpPr>
        <p:spPr>
          <a:xfrm>
            <a:off x="6217920" y="1554480"/>
            <a:ext cx="2560320" cy="109728"/>
          </a:xfrm>
          <a:prstGeom prst="rect">
            <a:avLst/>
          </a:prstGeom>
          <a:solidFill>
            <a:srgbClr val="9AA9BC"/>
          </a:solidFill>
          <a:ln w="12700">
            <a:solidFill>
              <a:srgbClr val="9AA9BC"/>
            </a:solidFill>
            <a:prstDash val="solid"/>
          </a:ln>
        </p:spPr>
      </p:sp>
      <p:sp>
        <p:nvSpPr>
          <p:cNvPr id="14" name="Text 11"/>
          <p:cNvSpPr txBox="1"/>
          <p:nvPr/>
        </p:nvSpPr>
        <p:spPr>
          <a:xfrm>
            <a:off x="6309360" y="1783080"/>
            <a:ext cx="2377440" cy="457200"/>
          </a:xfrm>
          <a:prstGeom prst="rect">
            <a:avLst/>
          </a:prstGeom>
          <a:noFill/>
          <a:ln/>
        </p:spPr>
        <p:txBody>
          <a:bodyPr wrap="square" lIns="1016" tIns="1016" rIns="1016" bIns="1016" rtlCol="0" anchor="t"/>
          <a:lstStyle/>
          <a:p>
            <a:pPr algn="ctr" indent="0" marL="0">
              <a:buNone/>
            </a:pPr>
            <a:r>
              <a:rPr lang="en-US" sz="2000" b="1" dirty="0">
                <a:solidFill>
                  <a:srgbClr val="16324F"/>
                </a:solidFill>
                <a:latin typeface="Calibri" pitchFamily="34" charset="0"/>
                <a:ea typeface="Calibri" pitchFamily="34" charset="-122"/>
                <a:cs typeface="Calibri" pitchFamily="34" charset="-120"/>
              </a:rPr>
              <a:t>SLP</a:t>
            </a:r>
            <a:endParaRPr lang="en-US" sz="2000" dirty="0"/>
          </a:p>
        </p:txBody>
      </p:sp>
      <p:sp>
        <p:nvSpPr>
          <p:cNvPr id="15" name="Text 12"/>
          <p:cNvSpPr txBox="1"/>
          <p:nvPr/>
        </p:nvSpPr>
        <p:spPr>
          <a:xfrm>
            <a:off x="6309360" y="2286000"/>
            <a:ext cx="2377440" cy="1097280"/>
          </a:xfrm>
          <a:prstGeom prst="rect">
            <a:avLst/>
          </a:prstGeom>
          <a:noFill/>
          <a:ln/>
        </p:spPr>
        <p:txBody>
          <a:bodyPr wrap="square" lIns="1016" tIns="1016" rIns="1016" bIns="1016" rtlCol="0" anchor="t"/>
          <a:lstStyle/>
          <a:p>
            <a:pPr algn="ctr" indent="0" marL="0">
              <a:buNone/>
            </a:pPr>
            <a:r>
              <a:rPr lang="en-US" sz="1500" dirty="0">
                <a:solidFill>
                  <a:srgbClr val="52514E"/>
                </a:solidFill>
                <a:latin typeface="Calibri" pitchFamily="34" charset="0"/>
                <a:ea typeface="Calibri" pitchFamily="34" charset="-122"/>
                <a:cs typeface="Calibri" pitchFamily="34" charset="-120"/>
              </a:rPr>
              <a:t>same as IA-1</a:t>
            </a:r>
            <a:endParaRPr lang="en-US" sz="1500" dirty="0"/>
          </a:p>
        </p:txBody>
      </p:sp>
      <p:sp>
        <p:nvSpPr>
          <p:cNvPr id="16" name="Shape 13"/>
          <p:cNvSpPr/>
          <p:nvPr/>
        </p:nvSpPr>
        <p:spPr>
          <a:xfrm>
            <a:off x="9052560" y="1554480"/>
            <a:ext cx="2560320" cy="1874520"/>
          </a:xfrm>
          <a:prstGeom prst="roundRect">
            <a:avLst>
              <a:gd name="adj" fmla="val 5854"/>
            </a:avLst>
          </a:prstGeom>
          <a:solidFill>
            <a:srgbClr val="EEF3F8"/>
          </a:solidFill>
          <a:ln w="12700">
            <a:solidFill>
              <a:srgbClr val="EEF3F8"/>
            </a:solidFill>
            <a:prstDash val="solid"/>
          </a:ln>
        </p:spPr>
      </p:sp>
      <p:sp>
        <p:nvSpPr>
          <p:cNvPr id="17" name="Shape 14"/>
          <p:cNvSpPr/>
          <p:nvPr/>
        </p:nvSpPr>
        <p:spPr>
          <a:xfrm>
            <a:off x="9052560" y="1554480"/>
            <a:ext cx="2560320" cy="109728"/>
          </a:xfrm>
          <a:prstGeom prst="rect">
            <a:avLst/>
          </a:prstGeom>
          <a:solidFill>
            <a:srgbClr val="1BAF7A"/>
          </a:solidFill>
          <a:ln w="12700">
            <a:solidFill>
              <a:srgbClr val="1BAF7A"/>
            </a:solidFill>
            <a:prstDash val="solid"/>
          </a:ln>
        </p:spPr>
      </p:sp>
      <p:sp>
        <p:nvSpPr>
          <p:cNvPr id="18" name="Text 15"/>
          <p:cNvSpPr txBox="1"/>
          <p:nvPr/>
        </p:nvSpPr>
        <p:spPr>
          <a:xfrm>
            <a:off x="9144000" y="1783080"/>
            <a:ext cx="2377440" cy="457200"/>
          </a:xfrm>
          <a:prstGeom prst="rect">
            <a:avLst/>
          </a:prstGeom>
          <a:noFill/>
          <a:ln/>
        </p:spPr>
        <p:txBody>
          <a:bodyPr wrap="square" lIns="1016" tIns="1016" rIns="1016" bIns="1016" rtlCol="0" anchor="t"/>
          <a:lstStyle/>
          <a:p>
            <a:pPr algn="ctr" indent="0" marL="0">
              <a:buNone/>
            </a:pPr>
            <a:r>
              <a:rPr lang="en-US" sz="2000" b="1" dirty="0">
                <a:solidFill>
                  <a:srgbClr val="16324F"/>
                </a:solidFill>
                <a:latin typeface="Calibri" pitchFamily="34" charset="0"/>
                <a:ea typeface="Calibri" pitchFamily="34" charset="-122"/>
                <a:cs typeface="Calibri" pitchFamily="34" charset="-120"/>
              </a:rPr>
              <a:t>Polish</a:t>
            </a:r>
            <a:endParaRPr lang="en-US" sz="2000" dirty="0"/>
          </a:p>
        </p:txBody>
      </p:sp>
      <p:sp>
        <p:nvSpPr>
          <p:cNvPr id="19" name="Text 16"/>
          <p:cNvSpPr txBox="1"/>
          <p:nvPr/>
        </p:nvSpPr>
        <p:spPr>
          <a:xfrm>
            <a:off x="9144000" y="2286000"/>
            <a:ext cx="2377440" cy="1097280"/>
          </a:xfrm>
          <a:prstGeom prst="rect">
            <a:avLst/>
          </a:prstGeom>
          <a:noFill/>
          <a:ln/>
        </p:spPr>
        <p:txBody>
          <a:bodyPr wrap="square" lIns="1016" tIns="1016" rIns="1016" bIns="1016" rtlCol="0" anchor="t"/>
          <a:lstStyle/>
          <a:p>
            <a:pPr algn="ctr" indent="0" marL="0">
              <a:buNone/>
            </a:pPr>
            <a:r>
              <a:rPr lang="en-US" sz="1500" dirty="0">
                <a:solidFill>
                  <a:srgbClr val="52514E"/>
                </a:solidFill>
                <a:latin typeface="Calibri" pitchFamily="34" charset="0"/>
                <a:ea typeface="Calibri" pitchFamily="34" charset="-122"/>
                <a:cs typeface="Calibri" pitchFamily="34" charset="-120"/>
              </a:rPr>
              <a:t>fix bins → LP</a:t>
            </a:r>
            <a:endParaRPr lang="en-US" sz="1500" dirty="0"/>
          </a:p>
          <a:p>
            <a:pPr algn="ctr" indent="0" marL="0">
              <a:buNone/>
            </a:pPr>
            <a:r>
              <a:rPr lang="en-US" sz="1500" dirty="0">
                <a:solidFill>
                  <a:srgbClr val="52514E"/>
                </a:solidFill>
                <a:latin typeface="Calibri" pitchFamily="34" charset="0"/>
                <a:ea typeface="Calibri" pitchFamily="34" charset="-122"/>
                <a:cs typeface="Calibri" pitchFamily="34" charset="-120"/>
              </a:rPr>
              <a:t>fix shares → LP</a:t>
            </a:r>
            <a:endParaRPr lang="en-US" sz="1500" dirty="0"/>
          </a:p>
        </p:txBody>
      </p:sp>
      <p:sp>
        <p:nvSpPr>
          <p:cNvPr id="20" name="Shape 17"/>
          <p:cNvSpPr/>
          <p:nvPr/>
        </p:nvSpPr>
        <p:spPr>
          <a:xfrm>
            <a:off x="6217920" y="4069080"/>
            <a:ext cx="2560320" cy="1874520"/>
          </a:xfrm>
          <a:prstGeom prst="roundRect">
            <a:avLst>
              <a:gd name="adj" fmla="val 5854"/>
            </a:avLst>
          </a:prstGeom>
          <a:solidFill>
            <a:srgbClr val="EEF3F8"/>
          </a:solidFill>
          <a:ln w="12700">
            <a:solidFill>
              <a:srgbClr val="EEF3F8"/>
            </a:solidFill>
            <a:prstDash val="solid"/>
          </a:ln>
        </p:spPr>
      </p:sp>
      <p:sp>
        <p:nvSpPr>
          <p:cNvPr id="21" name="Shape 18"/>
          <p:cNvSpPr/>
          <p:nvPr/>
        </p:nvSpPr>
        <p:spPr>
          <a:xfrm>
            <a:off x="6217920" y="4069080"/>
            <a:ext cx="2560320" cy="109728"/>
          </a:xfrm>
          <a:prstGeom prst="rect">
            <a:avLst/>
          </a:prstGeom>
          <a:solidFill>
            <a:srgbClr val="6250D6"/>
          </a:solidFill>
          <a:ln w="12700">
            <a:solidFill>
              <a:srgbClr val="6250D6"/>
            </a:solidFill>
            <a:prstDash val="solid"/>
          </a:ln>
        </p:spPr>
      </p:sp>
      <p:sp>
        <p:nvSpPr>
          <p:cNvPr id="22" name="Text 19"/>
          <p:cNvSpPr txBox="1"/>
          <p:nvPr/>
        </p:nvSpPr>
        <p:spPr>
          <a:xfrm>
            <a:off x="6309360" y="4297680"/>
            <a:ext cx="2377440" cy="457200"/>
          </a:xfrm>
          <a:prstGeom prst="rect">
            <a:avLst/>
          </a:prstGeom>
          <a:noFill/>
          <a:ln/>
        </p:spPr>
        <p:txBody>
          <a:bodyPr wrap="square" lIns="1016" tIns="1016" rIns="1016" bIns="1016" rtlCol="0" anchor="t"/>
          <a:lstStyle/>
          <a:p>
            <a:pPr algn="ctr" indent="0" marL="0">
              <a:buNone/>
            </a:pPr>
            <a:r>
              <a:rPr lang="en-US" sz="2000" b="1" dirty="0">
                <a:solidFill>
                  <a:srgbClr val="16324F"/>
                </a:solidFill>
                <a:latin typeface="Calibri" pitchFamily="34" charset="0"/>
                <a:ea typeface="Calibri" pitchFamily="34" charset="-122"/>
                <a:cs typeface="Calibri" pitchFamily="34" charset="-120"/>
              </a:rPr>
              <a:t>Learn &amp; change</a:t>
            </a:r>
            <a:endParaRPr lang="en-US" sz="2000" dirty="0"/>
          </a:p>
        </p:txBody>
      </p:sp>
      <p:sp>
        <p:nvSpPr>
          <p:cNvPr id="23" name="Text 20"/>
          <p:cNvSpPr txBox="1"/>
          <p:nvPr/>
        </p:nvSpPr>
        <p:spPr>
          <a:xfrm>
            <a:off x="6309360" y="4800600"/>
            <a:ext cx="2377440" cy="1097280"/>
          </a:xfrm>
          <a:prstGeom prst="rect">
            <a:avLst/>
          </a:prstGeom>
          <a:noFill/>
          <a:ln/>
        </p:spPr>
        <p:txBody>
          <a:bodyPr wrap="square" lIns="1016" tIns="1016" rIns="1016" bIns="1016" rtlCol="0" anchor="t"/>
          <a:lstStyle/>
          <a:p>
            <a:pPr algn="ctr" indent="0" marL="0">
              <a:buNone/>
            </a:pPr>
            <a:r>
              <a:rPr lang="en-US" sz="1500" dirty="0">
                <a:solidFill>
                  <a:srgbClr val="52514E"/>
                </a:solidFill>
                <a:latin typeface="Calibri" pitchFamily="34" charset="0"/>
                <a:ea typeface="Calibri" pitchFamily="34" charset="-122"/>
                <a:cs typeface="Calibri" pitchFamily="34" charset="-120"/>
              </a:rPr>
              <a:t>re-mix the bin that</a:t>
            </a:r>
            <a:endParaRPr lang="en-US" sz="1500" dirty="0"/>
          </a:p>
          <a:p>
            <a:pPr algn="ctr" indent="0" marL="0">
              <a:buNone/>
            </a:pPr>
            <a:r>
              <a:rPr lang="en-US" sz="1500" dirty="0">
                <a:solidFill>
                  <a:srgbClr val="52514E"/>
                </a:solidFill>
                <a:latin typeface="Calibri" pitchFamily="34" charset="0"/>
                <a:ea typeface="Calibri" pitchFamily="34" charset="-122"/>
                <a:cs typeface="Calibri" pitchFamily="34" charset="-120"/>
              </a:rPr>
              <a:t>hurts one feed most;</a:t>
            </a:r>
            <a:endParaRPr lang="en-US" sz="1500" dirty="0"/>
          </a:p>
          <a:p>
            <a:pPr algn="ctr" indent="0" marL="0">
              <a:buNone/>
            </a:pPr>
            <a:r>
              <a:rPr lang="en-US" sz="1500" dirty="0">
                <a:solidFill>
                  <a:srgbClr val="52514E"/>
                </a:solidFill>
                <a:latin typeface="Calibri" pitchFamily="34" charset="0"/>
                <a:ea typeface="Calibri" pitchFamily="34" charset="-122"/>
                <a:cs typeface="Calibri" pitchFamily="34" charset="-120"/>
              </a:rPr>
              <a:t>try 4, keep the best</a:t>
            </a:r>
            <a:endParaRPr lang="en-US" sz="1500" dirty="0"/>
          </a:p>
        </p:txBody>
      </p:sp>
      <p:sp>
        <p:nvSpPr>
          <p:cNvPr id="24" name="Shape 21"/>
          <p:cNvSpPr/>
          <p:nvPr/>
        </p:nvSpPr>
        <p:spPr>
          <a:xfrm>
            <a:off x="9052560" y="4069080"/>
            <a:ext cx="2560320" cy="1874520"/>
          </a:xfrm>
          <a:prstGeom prst="roundRect">
            <a:avLst>
              <a:gd name="adj" fmla="val 5854"/>
            </a:avLst>
          </a:prstGeom>
          <a:solidFill>
            <a:srgbClr val="EEF3F8"/>
          </a:solidFill>
          <a:ln w="12700">
            <a:solidFill>
              <a:srgbClr val="EEF3F8"/>
            </a:solidFill>
            <a:prstDash val="solid"/>
          </a:ln>
        </p:spPr>
      </p:sp>
      <p:sp>
        <p:nvSpPr>
          <p:cNvPr id="25" name="Shape 22"/>
          <p:cNvSpPr/>
          <p:nvPr/>
        </p:nvSpPr>
        <p:spPr>
          <a:xfrm>
            <a:off x="9052560" y="4069080"/>
            <a:ext cx="2560320" cy="109728"/>
          </a:xfrm>
          <a:prstGeom prst="rect">
            <a:avLst/>
          </a:prstGeom>
          <a:solidFill>
            <a:srgbClr val="16324F"/>
          </a:solidFill>
          <a:ln w="12700">
            <a:solidFill>
              <a:srgbClr val="16324F"/>
            </a:solidFill>
            <a:prstDash val="solid"/>
          </a:ln>
        </p:spPr>
      </p:sp>
      <p:sp>
        <p:nvSpPr>
          <p:cNvPr id="26" name="Text 23"/>
          <p:cNvSpPr txBox="1"/>
          <p:nvPr/>
        </p:nvSpPr>
        <p:spPr>
          <a:xfrm>
            <a:off x="9144000" y="4297680"/>
            <a:ext cx="2377440" cy="457200"/>
          </a:xfrm>
          <a:prstGeom prst="rect">
            <a:avLst/>
          </a:prstGeom>
          <a:noFill/>
          <a:ln/>
        </p:spPr>
        <p:txBody>
          <a:bodyPr wrap="square" lIns="1016" tIns="1016" rIns="1016" bIns="1016" rtlCol="0" anchor="t"/>
          <a:lstStyle/>
          <a:p>
            <a:pPr algn="ctr" indent="0" marL="0">
              <a:buNone/>
            </a:pPr>
            <a:r>
              <a:rPr lang="en-US" sz="2000" b="1" dirty="0">
                <a:solidFill>
                  <a:srgbClr val="16324F"/>
                </a:solidFill>
                <a:latin typeface="Calibri" pitchFamily="34" charset="0"/>
                <a:ea typeface="Calibri" pitchFamily="34" charset="-122"/>
                <a:cs typeface="Calibri" pitchFamily="34" charset="-120"/>
              </a:rPr>
              <a:t>Best so far</a:t>
            </a:r>
            <a:endParaRPr lang="en-US" sz="2000" dirty="0"/>
          </a:p>
        </p:txBody>
      </p:sp>
      <p:sp>
        <p:nvSpPr>
          <p:cNvPr id="27" name="Text 24"/>
          <p:cNvSpPr txBox="1"/>
          <p:nvPr/>
        </p:nvSpPr>
        <p:spPr>
          <a:xfrm>
            <a:off x="9144000" y="4800600"/>
            <a:ext cx="2377440" cy="1097280"/>
          </a:xfrm>
          <a:prstGeom prst="rect">
            <a:avLst/>
          </a:prstGeom>
          <a:noFill/>
          <a:ln/>
        </p:spPr>
        <p:txBody>
          <a:bodyPr wrap="square" lIns="1016" tIns="1016" rIns="1016" bIns="1016" rtlCol="0" anchor="t"/>
          <a:lstStyle/>
          <a:p>
            <a:pPr algn="ctr" indent="0" marL="0">
              <a:buNone/>
            </a:pPr>
            <a:r>
              <a:rPr lang="en-US" sz="1500" dirty="0">
                <a:solidFill>
                  <a:srgbClr val="52514E"/>
                </a:solidFill>
                <a:latin typeface="Calibri" pitchFamily="34" charset="0"/>
                <a:ea typeface="Calibri" pitchFamily="34" charset="-122"/>
                <a:cs typeface="Calibri" pitchFamily="34" charset="-120"/>
              </a:rPr>
              <a:t>keep the cheapest</a:t>
            </a:r>
            <a:endParaRPr lang="en-US" sz="1500" dirty="0"/>
          </a:p>
          <a:p>
            <a:pPr algn="ctr" indent="0" marL="0">
              <a:buNone/>
            </a:pPr>
            <a:r>
              <a:rPr lang="en-US" sz="1500" dirty="0">
                <a:solidFill>
                  <a:srgbClr val="52514E"/>
                </a:solidFill>
                <a:latin typeface="Calibri" pitchFamily="34" charset="0"/>
                <a:ea typeface="Calibri" pitchFamily="34" charset="-122"/>
                <a:cs typeface="Calibri" pitchFamily="34" charset="-120"/>
              </a:rPr>
              <a:t>valid answer</a:t>
            </a:r>
            <a:endParaRPr lang="en-US" sz="1500" dirty="0"/>
          </a:p>
        </p:txBody>
      </p:sp>
      <p:sp>
        <p:nvSpPr>
          <p:cNvPr id="28" name="Shape 25"/>
          <p:cNvSpPr/>
          <p:nvPr/>
        </p:nvSpPr>
        <p:spPr>
          <a:xfrm>
            <a:off x="3127248" y="2487168"/>
            <a:ext cx="237744" cy="0"/>
          </a:xfrm>
          <a:prstGeom prst="line">
            <a:avLst/>
          </a:prstGeom>
          <a:noFill/>
          <a:ln w="25400">
            <a:solidFill>
              <a:srgbClr val="8A8984"/>
            </a:solidFill>
            <a:prstDash val="solid"/>
            <a:tailEnd type="triangle"/>
          </a:ln>
        </p:spPr>
      </p:sp>
      <p:sp>
        <p:nvSpPr>
          <p:cNvPr id="29" name="Shape 26"/>
          <p:cNvSpPr/>
          <p:nvPr/>
        </p:nvSpPr>
        <p:spPr>
          <a:xfrm>
            <a:off x="5961888" y="2487168"/>
            <a:ext cx="237744" cy="0"/>
          </a:xfrm>
          <a:prstGeom prst="line">
            <a:avLst/>
          </a:prstGeom>
          <a:noFill/>
          <a:ln w="25400">
            <a:solidFill>
              <a:srgbClr val="8A8984"/>
            </a:solidFill>
            <a:prstDash val="solid"/>
            <a:tailEnd type="triangle"/>
          </a:ln>
        </p:spPr>
      </p:sp>
      <p:sp>
        <p:nvSpPr>
          <p:cNvPr id="30" name="Shape 27"/>
          <p:cNvSpPr/>
          <p:nvPr/>
        </p:nvSpPr>
        <p:spPr>
          <a:xfrm>
            <a:off x="8796528" y="2487168"/>
            <a:ext cx="237744" cy="0"/>
          </a:xfrm>
          <a:prstGeom prst="line">
            <a:avLst/>
          </a:prstGeom>
          <a:noFill/>
          <a:ln w="25400">
            <a:solidFill>
              <a:srgbClr val="8A8984"/>
            </a:solidFill>
            <a:prstDash val="solid"/>
            <a:tailEnd type="triangle"/>
          </a:ln>
        </p:spPr>
      </p:sp>
      <p:sp>
        <p:nvSpPr>
          <p:cNvPr id="31" name="Shape 28"/>
          <p:cNvSpPr/>
          <p:nvPr/>
        </p:nvSpPr>
        <p:spPr>
          <a:xfrm>
            <a:off x="10332720" y="3456432"/>
            <a:ext cx="0" cy="594360"/>
          </a:xfrm>
          <a:prstGeom prst="line">
            <a:avLst/>
          </a:prstGeom>
          <a:noFill/>
          <a:ln w="25400">
            <a:solidFill>
              <a:srgbClr val="8A8984"/>
            </a:solidFill>
            <a:prstDash val="solid"/>
            <a:tailEnd type="triangle"/>
          </a:ln>
        </p:spPr>
      </p:sp>
      <p:sp>
        <p:nvSpPr>
          <p:cNvPr id="32" name="Shape 29"/>
          <p:cNvSpPr/>
          <p:nvPr/>
        </p:nvSpPr>
        <p:spPr>
          <a:xfrm flipH="1">
            <a:off x="8796528" y="5001768"/>
            <a:ext cx="237744" cy="0"/>
          </a:xfrm>
          <a:prstGeom prst="line">
            <a:avLst/>
          </a:prstGeom>
          <a:noFill/>
          <a:ln w="25400">
            <a:solidFill>
              <a:srgbClr val="6250D6"/>
            </a:solidFill>
            <a:prstDash val="solid"/>
            <a:tailEnd type="triangle"/>
          </a:ln>
        </p:spPr>
      </p:sp>
      <p:sp>
        <p:nvSpPr>
          <p:cNvPr id="33" name="Shape 30"/>
          <p:cNvSpPr/>
          <p:nvPr/>
        </p:nvSpPr>
        <p:spPr>
          <a:xfrm flipV="1">
            <a:off x="7498080" y="3456432"/>
            <a:ext cx="0" cy="594360"/>
          </a:xfrm>
          <a:prstGeom prst="line">
            <a:avLst/>
          </a:prstGeom>
          <a:noFill/>
          <a:ln w="25400">
            <a:solidFill>
              <a:srgbClr val="6250D6"/>
            </a:solidFill>
            <a:prstDash val="dash"/>
            <a:tailEnd type="triangle"/>
          </a:ln>
        </p:spPr>
      </p:sp>
      <p:sp>
        <p:nvSpPr>
          <p:cNvPr id="34" name="Text 31"/>
          <p:cNvSpPr txBox="1"/>
          <p:nvPr/>
        </p:nvSpPr>
        <p:spPr>
          <a:xfrm>
            <a:off x="7589520" y="3520440"/>
            <a:ext cx="1280160" cy="411480"/>
          </a:xfrm>
          <a:prstGeom prst="rect">
            <a:avLst/>
          </a:prstGeom>
          <a:noFill/>
          <a:ln/>
        </p:spPr>
        <p:txBody>
          <a:bodyPr wrap="square" lIns="1016" tIns="1016" rIns="1016" bIns="1016" rtlCol="0" anchor="t"/>
          <a:lstStyle/>
          <a:p>
            <a:pPr indent="0" marL="0">
              <a:buNone/>
            </a:pPr>
            <a:r>
              <a:rPr lang="en-US" sz="1400" dirty="0">
                <a:solidFill>
                  <a:srgbClr val="6250D6"/>
                </a:solidFill>
                <a:latin typeface="Calibri" pitchFamily="34" charset="0"/>
                <a:ea typeface="Calibri" pitchFamily="34" charset="-122"/>
                <a:cs typeface="Calibri" pitchFamily="34" charset="-120"/>
              </a:rPr>
              <a:t>next run</a:t>
            </a:r>
            <a:endParaRPr lang="en-US" sz="1400" dirty="0"/>
          </a:p>
        </p:txBody>
      </p:sp>
      <p:sp>
        <p:nvSpPr>
          <p:cNvPr id="35" name="Shape 32"/>
          <p:cNvSpPr/>
          <p:nvPr/>
        </p:nvSpPr>
        <p:spPr>
          <a:xfrm>
            <a:off x="548640" y="4069080"/>
            <a:ext cx="5394960" cy="1874520"/>
          </a:xfrm>
          <a:prstGeom prst="roundRect">
            <a:avLst>
              <a:gd name="adj" fmla="val 5854"/>
            </a:avLst>
          </a:prstGeom>
          <a:solidFill>
            <a:srgbClr val="FFFFFF"/>
          </a:solidFill>
          <a:ln w="19050">
            <a:solidFill>
              <a:srgbClr val="C9C8C2"/>
            </a:solidFill>
            <a:prstDash val="solid"/>
          </a:ln>
        </p:spPr>
      </p:sp>
      <p:sp>
        <p:nvSpPr>
          <p:cNvPr id="36" name="Text 33"/>
          <p:cNvSpPr txBox="1"/>
          <p:nvPr/>
        </p:nvSpPr>
        <p:spPr>
          <a:xfrm>
            <a:off x="731520" y="4206240"/>
            <a:ext cx="5029200" cy="1645920"/>
          </a:xfrm>
          <a:prstGeom prst="rect">
            <a:avLst/>
          </a:prstGeom>
          <a:noFill/>
          <a:ln/>
        </p:spPr>
        <p:txBody>
          <a:bodyPr wrap="square" lIns="1016" tIns="1016" rIns="1016" bIns="1016" rtlCol="0" anchor="t"/>
          <a:lstStyle/>
          <a:p>
            <a:pPr indent="0" marL="0">
              <a:buNone/>
            </a:pPr>
            <a:r>
              <a:rPr lang="en-US" sz="1600" b="1" dirty="0">
                <a:solidFill>
                  <a:srgbClr val="1B2433"/>
                </a:solidFill>
                <a:latin typeface="Calibri" pitchFamily="34" charset="0"/>
                <a:ea typeface="Calibri" pitchFamily="34" charset="-122"/>
                <a:cs typeface="Calibri" pitchFamily="34" charset="-120"/>
              </a:rPr>
              <a:t>20 runs per instance. </a:t>
            </a:r>
            <a:pPr indent="0" marL="0">
              <a:buNone/>
            </a:pPr>
            <a:r>
              <a:rPr lang="en-US" sz="1600" dirty="0">
                <a:solidFill>
                  <a:srgbClr val="1B2433"/>
                </a:solidFill>
                <a:latin typeface="Calibri" pitchFamily="34" charset="0"/>
                <a:ea typeface="Calibri" pitchFamily="34" charset="-122"/>
                <a:cs typeface="Calibri" pitchFamily="34" charset="-120"/>
              </a:rPr>
              <a:t>The first 3 runs use smart starts. Each later run starts from the best answer and changes one bin. After 6 runs without progress, IA-2 takes a fresh smart start.</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key trick: fix one part, and the rest is easy</a:t>
            </a:r>
            <a:endParaRPr lang="en-US" sz="3000" dirty="0"/>
          </a:p>
        </p:txBody>
      </p:sp>
      <p:sp>
        <p:nvSpPr>
          <p:cNvPr id="4" name="Shape 1"/>
          <p:cNvSpPr/>
          <p:nvPr/>
        </p:nvSpPr>
        <p:spPr>
          <a:xfrm>
            <a:off x="548640" y="1417320"/>
            <a:ext cx="5394960" cy="2377440"/>
          </a:xfrm>
          <a:prstGeom prst="roundRect">
            <a:avLst>
              <a:gd name="adj" fmla="val 4615"/>
            </a:avLst>
          </a:prstGeom>
          <a:solidFill>
            <a:srgbClr val="EEF3F8"/>
          </a:solidFill>
          <a:ln w="12700">
            <a:solidFill>
              <a:srgbClr val="EEF3F8"/>
            </a:solidFill>
            <a:prstDash val="solid"/>
          </a:ln>
        </p:spPr>
      </p:sp>
      <p:sp>
        <p:nvSpPr>
          <p:cNvPr id="5" name="Shape 2"/>
          <p:cNvSpPr/>
          <p:nvPr/>
        </p:nvSpPr>
        <p:spPr>
          <a:xfrm>
            <a:off x="548640" y="1417320"/>
            <a:ext cx="128016" cy="2377440"/>
          </a:xfrm>
          <a:prstGeom prst="rect">
            <a:avLst/>
          </a:prstGeom>
          <a:solidFill>
            <a:srgbClr val="2A78D6"/>
          </a:solidFill>
          <a:ln w="12700">
            <a:solidFill>
              <a:srgbClr val="2A78D6"/>
            </a:solidFill>
            <a:prstDash val="solid"/>
          </a:ln>
        </p:spPr>
      </p:sp>
      <p:sp>
        <p:nvSpPr>
          <p:cNvPr id="6" name="Text 3"/>
          <p:cNvSpPr txBox="1"/>
          <p:nvPr/>
        </p:nvSpPr>
        <p:spPr>
          <a:xfrm>
            <a:off x="868680" y="1554480"/>
            <a:ext cx="4937760" cy="777240"/>
          </a:xfrm>
          <a:prstGeom prst="rect">
            <a:avLst/>
          </a:prstGeom>
          <a:noFill/>
          <a:ln/>
        </p:spPr>
        <p:txBody>
          <a:bodyPr wrap="square" lIns="1016" tIns="1016" rIns="1016" bIns="1016" rtlCol="0" anchor="t"/>
          <a:lstStyle/>
          <a:p>
            <a:pPr indent="0" marL="0">
              <a:buNone/>
            </a:pPr>
            <a:r>
              <a:rPr lang="en-US" sz="2100" b="1" dirty="0">
                <a:solidFill>
                  <a:srgbClr val="16324F"/>
                </a:solidFill>
                <a:latin typeface="Calibri" pitchFamily="34" charset="0"/>
                <a:ea typeface="Calibri" pitchFamily="34" charset="-122"/>
                <a:cs typeface="Calibri" pitchFamily="34" charset="-120"/>
              </a:rPr>
              <a:t>Fix what is in the bins</a:t>
            </a:r>
            <a:endParaRPr lang="en-US" sz="2100" dirty="0"/>
          </a:p>
        </p:txBody>
      </p:sp>
      <p:sp>
        <p:nvSpPr>
          <p:cNvPr id="7" name="Text 4"/>
          <p:cNvSpPr txBox="1"/>
          <p:nvPr/>
        </p:nvSpPr>
        <p:spPr>
          <a:xfrm>
            <a:off x="868680" y="2377440"/>
            <a:ext cx="4937760" cy="1325880"/>
          </a:xfrm>
          <a:prstGeom prst="rect">
            <a:avLst/>
          </a:prstGeom>
          <a:noFill/>
          <a:ln/>
        </p:spPr>
        <p:txBody>
          <a:bodyPr wrap="square" lIns="1016" tIns="1016" rIns="1016" bIns="1016" rtlCol="0" anchor="t"/>
          <a:lstStyle/>
          <a:p>
            <a:pPr indent="0" marL="0">
              <a:buNone/>
            </a:pPr>
            <a:r>
              <a:rPr lang="en-US" sz="1800" dirty="0">
                <a:solidFill>
                  <a:srgbClr val="52514E"/>
                </a:solidFill>
                <a:latin typeface="Calibri" pitchFamily="34" charset="0"/>
                <a:ea typeface="Calibri" pitchFamily="34" charset="-122"/>
                <a:cs typeface="Calibri" pitchFamily="34" charset="-120"/>
              </a:rPr>
              <a:t>Then choosing how much of each bin goes into each feed is a plain LP: exact and fast.</a:t>
            </a:r>
            <a:endParaRPr lang="en-US" sz="1800" dirty="0"/>
          </a:p>
        </p:txBody>
      </p:sp>
      <p:sp>
        <p:nvSpPr>
          <p:cNvPr id="8" name="Shape 5"/>
          <p:cNvSpPr/>
          <p:nvPr/>
        </p:nvSpPr>
        <p:spPr>
          <a:xfrm>
            <a:off x="6217920" y="1417320"/>
            <a:ext cx="5394960" cy="2377440"/>
          </a:xfrm>
          <a:prstGeom prst="roundRect">
            <a:avLst>
              <a:gd name="adj" fmla="val 4615"/>
            </a:avLst>
          </a:prstGeom>
          <a:solidFill>
            <a:srgbClr val="EEF3F8"/>
          </a:solidFill>
          <a:ln w="12700">
            <a:solidFill>
              <a:srgbClr val="EEF3F8"/>
            </a:solidFill>
            <a:prstDash val="solid"/>
          </a:ln>
        </p:spPr>
      </p:sp>
      <p:sp>
        <p:nvSpPr>
          <p:cNvPr id="9" name="Shape 6"/>
          <p:cNvSpPr/>
          <p:nvPr/>
        </p:nvSpPr>
        <p:spPr>
          <a:xfrm>
            <a:off x="6217920" y="1417320"/>
            <a:ext cx="128016" cy="2377440"/>
          </a:xfrm>
          <a:prstGeom prst="rect">
            <a:avLst/>
          </a:prstGeom>
          <a:solidFill>
            <a:srgbClr val="1BAF7A"/>
          </a:solidFill>
          <a:ln w="12700">
            <a:solidFill>
              <a:srgbClr val="1BAF7A"/>
            </a:solidFill>
            <a:prstDash val="solid"/>
          </a:ln>
        </p:spPr>
      </p:sp>
      <p:sp>
        <p:nvSpPr>
          <p:cNvPr id="10" name="Text 7"/>
          <p:cNvSpPr txBox="1"/>
          <p:nvPr/>
        </p:nvSpPr>
        <p:spPr>
          <a:xfrm>
            <a:off x="6537960" y="1554480"/>
            <a:ext cx="4937760" cy="777240"/>
          </a:xfrm>
          <a:prstGeom prst="rect">
            <a:avLst/>
          </a:prstGeom>
          <a:noFill/>
          <a:ln/>
        </p:spPr>
        <p:txBody>
          <a:bodyPr wrap="square" lIns="1016" tIns="1016" rIns="1016" bIns="1016" rtlCol="0" anchor="t"/>
          <a:lstStyle/>
          <a:p>
            <a:pPr indent="0" marL="0">
              <a:buNone/>
            </a:pPr>
            <a:r>
              <a:rPr lang="en-US" sz="2100" b="1" dirty="0">
                <a:solidFill>
                  <a:srgbClr val="16324F"/>
                </a:solidFill>
                <a:latin typeface="Calibri" pitchFamily="34" charset="0"/>
                <a:ea typeface="Calibri" pitchFamily="34" charset="-122"/>
                <a:cs typeface="Calibri" pitchFamily="34" charset="-120"/>
              </a:rPr>
              <a:t>Fix how much of each bin goes into each feed</a:t>
            </a:r>
            <a:endParaRPr lang="en-US" sz="2100" dirty="0"/>
          </a:p>
        </p:txBody>
      </p:sp>
      <p:sp>
        <p:nvSpPr>
          <p:cNvPr id="11" name="Text 8"/>
          <p:cNvSpPr txBox="1"/>
          <p:nvPr/>
        </p:nvSpPr>
        <p:spPr>
          <a:xfrm>
            <a:off x="6537960" y="2377440"/>
            <a:ext cx="4937760" cy="1325880"/>
          </a:xfrm>
          <a:prstGeom prst="rect">
            <a:avLst/>
          </a:prstGeom>
          <a:noFill/>
          <a:ln/>
        </p:spPr>
        <p:txBody>
          <a:bodyPr wrap="square" lIns="1016" tIns="1016" rIns="1016" bIns="1016" rtlCol="0" anchor="t"/>
          <a:lstStyle/>
          <a:p>
            <a:pPr indent="0" marL="0">
              <a:buNone/>
            </a:pPr>
            <a:r>
              <a:rPr lang="en-US" sz="1800" dirty="0">
                <a:solidFill>
                  <a:srgbClr val="52514E"/>
                </a:solidFill>
                <a:latin typeface="Calibri" pitchFamily="34" charset="0"/>
                <a:ea typeface="Calibri" pitchFamily="34" charset="-122"/>
                <a:cs typeface="Calibri" pitchFamily="34" charset="-120"/>
              </a:rPr>
              <a:t>Then choosing what goes into each bin is also a plain LP.</a:t>
            </a:r>
            <a:endParaRPr lang="en-US" sz="1800" dirty="0"/>
          </a:p>
        </p:txBody>
      </p:sp>
      <p:sp>
        <p:nvSpPr>
          <p:cNvPr id="12" name="Shape 9"/>
          <p:cNvSpPr/>
          <p:nvPr/>
        </p:nvSpPr>
        <p:spPr>
          <a:xfrm>
            <a:off x="548640" y="4023360"/>
            <a:ext cx="5394960" cy="2011680"/>
          </a:xfrm>
          <a:prstGeom prst="roundRect">
            <a:avLst>
              <a:gd name="adj" fmla="val 5455"/>
            </a:avLst>
          </a:prstGeom>
          <a:solidFill>
            <a:srgbClr val="FFFFFF"/>
          </a:solidFill>
          <a:ln w="19050">
            <a:solidFill>
              <a:srgbClr val="C9C8C2"/>
            </a:solidFill>
            <a:prstDash val="solid"/>
          </a:ln>
        </p:spPr>
      </p:sp>
      <p:sp>
        <p:nvSpPr>
          <p:cNvPr id="13" name="Text 10"/>
          <p:cNvSpPr txBox="1"/>
          <p:nvPr/>
        </p:nvSpPr>
        <p:spPr>
          <a:xfrm>
            <a:off x="777240" y="4160520"/>
            <a:ext cx="4937760" cy="1737360"/>
          </a:xfrm>
          <a:prstGeom prst="rect">
            <a:avLst/>
          </a:prstGeom>
          <a:noFill/>
          <a:ln/>
        </p:spPr>
        <p:txBody>
          <a:bodyPr wrap="square" lIns="1016" tIns="1016" rIns="1016" bIns="1016" rtlCol="0" anchor="t"/>
          <a:lstStyle/>
          <a:p>
            <a:pPr indent="0" marL="0">
              <a:buNone/>
            </a:pPr>
            <a:r>
              <a:rPr lang="en-US" sz="1800" b="1" dirty="0">
                <a:solidFill>
                  <a:srgbClr val="1B2433"/>
                </a:solidFill>
                <a:latin typeface="Calibri" pitchFamily="34" charset="0"/>
                <a:ea typeface="Calibri" pitchFamily="34" charset="-122"/>
                <a:cs typeface="Calibri" pitchFamily="34" charset="-120"/>
              </a:rPr>
              <a:t>Use: </a:t>
            </a:r>
            <a:pPr indent="0" marL="0">
              <a:buNone/>
            </a:pPr>
            <a:r>
              <a:rPr lang="en-US" sz="1800" dirty="0">
                <a:solidFill>
                  <a:srgbClr val="1B2433"/>
                </a:solidFill>
                <a:latin typeface="Calibri" pitchFamily="34" charset="0"/>
                <a:ea typeface="Calibri" pitchFamily="34" charset="-122"/>
                <a:cs typeface="Calibri" pitchFamily="34" charset="-120"/>
              </a:rPr>
              <a:t>alternating the two LPs repairs broken answers and polishes good ones, and the cost never goes up.</a:t>
            </a:r>
            <a:endParaRPr lang="en-US" sz="1800" dirty="0"/>
          </a:p>
        </p:txBody>
      </p:sp>
      <p:sp>
        <p:nvSpPr>
          <p:cNvPr id="14" name="Shape 11"/>
          <p:cNvSpPr/>
          <p:nvPr/>
        </p:nvSpPr>
        <p:spPr>
          <a:xfrm>
            <a:off x="6217920" y="4023360"/>
            <a:ext cx="5394960" cy="2011680"/>
          </a:xfrm>
          <a:prstGeom prst="roundRect">
            <a:avLst>
              <a:gd name="adj" fmla="val 5455"/>
            </a:avLst>
          </a:prstGeom>
          <a:solidFill>
            <a:srgbClr val="FFFFFF"/>
          </a:solidFill>
          <a:ln w="19050">
            <a:solidFill>
              <a:srgbClr val="C9C8C2"/>
            </a:solidFill>
            <a:prstDash val="solid"/>
          </a:ln>
        </p:spPr>
      </p:sp>
      <p:sp>
        <p:nvSpPr>
          <p:cNvPr id="15" name="Text 12"/>
          <p:cNvSpPr txBox="1"/>
          <p:nvPr/>
        </p:nvSpPr>
        <p:spPr>
          <a:xfrm>
            <a:off x="6446520" y="4160520"/>
            <a:ext cx="4937760" cy="1737360"/>
          </a:xfrm>
          <a:prstGeom prst="rect">
            <a:avLst/>
          </a:prstGeom>
          <a:noFill/>
          <a:ln/>
        </p:spPr>
        <p:txBody>
          <a:bodyPr wrap="square" lIns="1016" tIns="1016" rIns="1016" bIns="1016" rtlCol="0" anchor="t"/>
          <a:lstStyle/>
          <a:p>
            <a:pPr indent="0" marL="0">
              <a:buNone/>
            </a:pPr>
            <a:r>
              <a:rPr lang="en-US" sz="1800" b="1" dirty="0">
                <a:solidFill>
                  <a:srgbClr val="1B2433"/>
                </a:solidFill>
                <a:latin typeface="Calibri" pitchFamily="34" charset="0"/>
                <a:ea typeface="Calibri" pitchFamily="34" charset="-122"/>
                <a:cs typeface="Calibri" pitchFamily="34" charset="-120"/>
              </a:rPr>
              <a:t>Bonus: </a:t>
            </a:r>
            <a:pPr indent="0" marL="0">
              <a:buNone/>
            </a:pPr>
            <a:r>
              <a:rPr lang="en-US" sz="1800" dirty="0">
                <a:solidFill>
                  <a:srgbClr val="1B2433"/>
                </a:solidFill>
                <a:latin typeface="Calibri" pitchFamily="34" charset="0"/>
                <a:ea typeface="Calibri" pitchFamily="34" charset="-122"/>
                <a:cs typeface="Calibri" pitchFamily="34" charset="-120"/>
              </a:rPr>
              <a:t>ignoring bin sharing gives each feed's ideal recipe and a lower bound on the best cost. On af-1 it equals the bound of the global solver BARON (295.93), in milliseconds.</a:t>
            </a:r>
            <a:endParaRPr lang="en-US" sz="18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How we tested IA-1 against IA-2</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377440"/>
                <a:gridCol w="8686800"/>
              </a:tblGrid>
              <a:tr h="713232">
                <a:tc>
                  <a:txBody>
                    <a:bodyPr/>
                    <a:lstStyle/>
                    <a:p>
                      <a:pPr indent="0" marL="0">
                        <a:buNone/>
                      </a:pPr>
                      <a:r>
                        <a:rPr lang="en-US" sz="1900" b="1" dirty="0">
                          <a:solidFill>
                            <a:srgbClr val="1B2433"/>
                          </a:solidFill>
                        </a:rPr>
                        <a:t>Instances</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EF3F8"/>
                    </a:solidFill>
                  </a:tcPr>
                </a:tc>
                <a:tc>
                  <a:txBody>
                    <a:bodyPr/>
                    <a:lstStyle/>
                    <a:p>
                      <a:pPr indent="0" marL="0">
                        <a:buNone/>
                      </a:pPr>
                      <a:r>
                        <a:rPr lang="en-US" sz="1900" dirty="0">
                          <a:solidFill>
                            <a:srgbClr val="1B2433"/>
                          </a:solidFill>
                        </a:rPr>
                        <a:t>all 11 real feed-mill problems of the paper (af-1 … af-7b-fs)</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r>
              <a:tr h="713232">
                <a:tc>
                  <a:txBody>
                    <a:bodyPr/>
                    <a:lstStyle/>
                    <a:p>
                      <a:pPr indent="0" marL="0">
                        <a:buNone/>
                      </a:pPr>
                      <a:r>
                        <a:rPr lang="en-US" sz="1900" b="1" dirty="0">
                          <a:solidFill>
                            <a:srgbClr val="1B2433"/>
                          </a:solidFill>
                        </a:rPr>
                        <a:t>Methods</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EF3F8"/>
                    </a:solidFill>
                  </a:tcPr>
                </a:tc>
                <a:tc>
                  <a:txBody>
                    <a:bodyPr/>
                    <a:lstStyle/>
                    <a:p>
                      <a:pPr indent="0" marL="0">
                        <a:buNone/>
                      </a:pPr>
                      <a:r>
                        <a:rPr lang="en-US" sz="1900" dirty="0">
                          <a:solidFill>
                            <a:srgbClr val="1B2433"/>
                          </a:solidFill>
                        </a:rPr>
                        <a:t>IA-1 = our IA-1 code (baseline)  ·  IA-2 = the new method</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r>
              <a:tr h="713232">
                <a:tc>
                  <a:txBody>
                    <a:bodyPr/>
                    <a:lstStyle/>
                    <a:p>
                      <a:pPr indent="0" marL="0">
                        <a:buNone/>
                      </a:pPr>
                      <a:r>
                        <a:rPr lang="en-US" sz="1900" b="1" dirty="0">
                          <a:solidFill>
                            <a:srgbClr val="1B2433"/>
                          </a:solidFill>
                        </a:rPr>
                        <a:t>Runs</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EF3F8"/>
                    </a:solidFill>
                  </a:tcPr>
                </a:tc>
                <a:tc>
                  <a:txBody>
                    <a:bodyPr/>
                    <a:lstStyle/>
                    <a:p>
                      <a:pPr indent="0" marL="0">
                        <a:buNone/>
                      </a:pPr>
                      <a:r>
                        <a:rPr lang="en-US" sz="1900" dirty="0">
                          <a:solidFill>
                            <a:srgbClr val="1B2433"/>
                          </a:solidFill>
                        </a:rPr>
                        <a:t>3 seeds × 20 runs per method and instance, same computer</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r>
              <a:tr h="713232">
                <a:tc>
                  <a:txBody>
                    <a:bodyPr/>
                    <a:lstStyle/>
                    <a:p>
                      <a:pPr indent="0" marL="0">
                        <a:buNone/>
                      </a:pPr>
                      <a:r>
                        <a:rPr lang="en-US" sz="1900" b="1" dirty="0">
                          <a:solidFill>
                            <a:srgbClr val="1B2433"/>
                          </a:solidFill>
                        </a:rPr>
                        <a:t>Feasible %</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EF3F8"/>
                    </a:solidFill>
                  </a:tcPr>
                </a:tc>
                <a:tc>
                  <a:txBody>
                    <a:bodyPr/>
                    <a:lstStyle/>
                    <a:p>
                      <a:pPr indent="0" marL="0">
                        <a:buNone/>
                      </a:pPr>
                      <a:r>
                        <a:rPr lang="en-US" sz="1900" dirty="0">
                          <a:solidFill>
                            <a:srgbClr val="1B2433"/>
                          </a:solidFill>
                        </a:rPr>
                        <a:t>share of runs whose answer meets every constraint</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r>
              <a:tr h="713232">
                <a:tc>
                  <a:txBody>
                    <a:bodyPr/>
                    <a:lstStyle/>
                    <a:p>
                      <a:pPr indent="0" marL="0">
                        <a:buNone/>
                      </a:pPr>
                      <a:r>
                        <a:rPr lang="en-US" sz="1900" b="1" dirty="0">
                          <a:solidFill>
                            <a:srgbClr val="1B2433"/>
                          </a:solidFill>
                        </a:rPr>
                        <a:t>Good %</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EF3F8"/>
                    </a:solidFill>
                  </a:tcPr>
                </a:tc>
                <a:tc>
                  <a:txBody>
                    <a:bodyPr/>
                    <a:lstStyle/>
                    <a:p>
                      <a:pPr indent="0" marL="0">
                        <a:buNone/>
                      </a:pPr>
                      <a:r>
                        <a:rPr lang="en-US" sz="1900" dirty="0">
                          <a:solidFill>
                            <a:srgbClr val="1B2433"/>
                          </a:solidFill>
                        </a:rPr>
                        <a:t>share of runs within 0.2% of the best cost ever found</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r>
              <a:tr h="713232">
                <a:tc>
                  <a:txBody>
                    <a:bodyPr/>
                    <a:lstStyle/>
                    <a:p>
                      <a:pPr indent="0" marL="0">
                        <a:buNone/>
                      </a:pPr>
                      <a:r>
                        <a:rPr lang="en-US" sz="1900" b="1" dirty="0">
                          <a:solidFill>
                            <a:srgbClr val="1B2433"/>
                          </a:solidFill>
                        </a:rPr>
                        <a:t>Time to Good</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EF3F8"/>
                    </a:solidFill>
                  </a:tcPr>
                </a:tc>
                <a:tc>
                  <a:txBody>
                    <a:bodyPr/>
                    <a:lstStyle/>
                    <a:p>
                      <a:pPr indent="0" marL="0">
                        <a:buNone/>
                      </a:pPr>
                      <a:r>
                        <a:rPr lang="en-US" sz="1900" dirty="0">
                          <a:solidFill>
                            <a:srgbClr val="1B2433"/>
                          </a:solidFill>
                        </a:rPr>
                        <a:t>expected seconds until a Good answer appears</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First check: af-1, the instance we validated in IA-1</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383280"/>
                <a:gridCol w="2560320"/>
                <a:gridCol w="2560320"/>
                <a:gridCol w="2560320"/>
              </a:tblGrid>
              <a:tr h="658368">
                <a:tc>
                  <a:txBody>
                    <a:bodyPr/>
                    <a:lstStyle/>
                    <a:p>
                      <a:pPr algn="l" indent="0" marL="0">
                        <a:buNone/>
                      </a:pPr>
                      <a:r>
                        <a:rPr lang="en-US" sz="1900" b="1" dirty="0">
                          <a:solidFill>
                            <a:srgbClr val="1B2433"/>
                          </a:solidFill>
                        </a:rPr>
                        <a:t>af-1</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DCE6F2"/>
                    </a:solidFill>
                  </a:tcPr>
                </a:tc>
                <a:tc>
                  <a:txBody>
                    <a:bodyPr/>
                    <a:lstStyle/>
                    <a:p>
                      <a:pPr algn="ctr" indent="0" marL="0">
                        <a:buNone/>
                      </a:pPr>
                      <a:r>
                        <a:rPr lang="en-US" sz="1900" b="1" dirty="0">
                          <a:solidFill>
                            <a:srgbClr val="1B2433"/>
                          </a:solidFill>
                        </a:rPr>
                        <a:t>Paper (CPLEX)</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DCE6F2"/>
                    </a:solidFill>
                  </a:tcPr>
                </a:tc>
                <a:tc>
                  <a:txBody>
                    <a:bodyPr/>
                    <a:lstStyle/>
                    <a:p>
                      <a:pPr algn="ctr" indent="0" marL="0">
                        <a:buNone/>
                      </a:pPr>
                      <a:r>
                        <a:rPr lang="en-US" sz="1900" b="1" dirty="0">
                          <a:solidFill>
                            <a:srgbClr val="1B2433"/>
                          </a:solidFill>
                        </a:rPr>
                        <a:t>IA-1 (our IA-1 code)</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DCE6F2"/>
                    </a:solidFill>
                  </a:tcPr>
                </a:tc>
                <a:tc>
                  <a:txBody>
                    <a:bodyPr/>
                    <a:lstStyle/>
                    <a:p>
                      <a:pPr algn="ctr" indent="0" marL="0">
                        <a:buNone/>
                      </a:pPr>
                      <a:r>
                        <a:rPr lang="en-US" sz="1900" b="1" dirty="0">
                          <a:solidFill>
                            <a:srgbClr val="1B2433"/>
                          </a:solidFill>
                        </a:rPr>
                        <a:t>IA-2 (new method)</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DCE6F2"/>
                    </a:solidFill>
                  </a:tcPr>
                </a:tc>
              </a:tr>
              <a:tr h="658368">
                <a:tc>
                  <a:txBody>
                    <a:bodyPr/>
                    <a:lstStyle/>
                    <a:p>
                      <a:pPr algn="l" indent="0" marL="0">
                        <a:buNone/>
                      </a:pPr>
                      <a:r>
                        <a:rPr lang="en-US" sz="1900" b="1" dirty="0">
                          <a:solidFill>
                            <a:srgbClr val="1B2433"/>
                          </a:solidFill>
                        </a:rPr>
                        <a:t>Runs that are Good</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EF3F8"/>
                    </a:solidFill>
                  </a:tcPr>
                </a:tc>
                <a:tc>
                  <a:txBody>
                    <a:bodyPr/>
                    <a:lstStyle/>
                    <a:p>
                      <a:pPr algn="ctr" indent="0" marL="0">
                        <a:buNone/>
                      </a:pPr>
                      <a:r>
                        <a:rPr lang="en-US" sz="1900" dirty="0">
                          <a:solidFill>
                            <a:srgbClr val="1B2433"/>
                          </a:solidFill>
                        </a:rPr>
                        <a:t>79%</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2433"/>
                          </a:solidFill>
                        </a:rPr>
                        <a:t>100%</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2433"/>
                          </a:solidFill>
                        </a:rPr>
                        <a:t>100%</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AF2FC"/>
                    </a:solidFill>
                  </a:tcPr>
                </a:tc>
              </a:tr>
              <a:tr h="658368">
                <a:tc>
                  <a:txBody>
                    <a:bodyPr/>
                    <a:lstStyle/>
                    <a:p>
                      <a:pPr algn="l" indent="0" marL="0">
                        <a:buNone/>
                      </a:pPr>
                      <a:r>
                        <a:rPr lang="en-US" sz="1900" b="1" dirty="0">
                          <a:solidFill>
                            <a:srgbClr val="1B2433"/>
                          </a:solidFill>
                        </a:rPr>
                        <a:t>Runs that are feasible</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EF3F8"/>
                    </a:solidFill>
                  </a:tcPr>
                </a:tc>
                <a:tc>
                  <a:txBody>
                    <a:bodyPr/>
                    <a:lstStyle/>
                    <a:p>
                      <a:pPr algn="ctr" indent="0" marL="0">
                        <a:buNone/>
                      </a:pPr>
                      <a:r>
                        <a:rPr lang="en-US" sz="1900" dirty="0">
                          <a:solidFill>
                            <a:srgbClr val="1B2433"/>
                          </a:solidFill>
                        </a:rPr>
                        <a:t>100%</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2433"/>
                          </a:solidFill>
                        </a:rPr>
                        <a:t>100%</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2433"/>
                          </a:solidFill>
                        </a:rPr>
                        <a:t>100%</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AF2FC"/>
                    </a:solidFill>
                  </a:tcPr>
                </a:tc>
              </a:tr>
              <a:tr h="658368">
                <a:tc>
                  <a:txBody>
                    <a:bodyPr/>
                    <a:lstStyle/>
                    <a:p>
                      <a:pPr algn="l" indent="0" marL="0">
                        <a:buNone/>
                      </a:pPr>
                      <a:r>
                        <a:rPr lang="en-US" sz="1900" b="1" dirty="0">
                          <a:solidFill>
                            <a:srgbClr val="1B2433"/>
                          </a:solidFill>
                        </a:rPr>
                        <a:t>Best cost found</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EF3F8"/>
                    </a:solidFill>
                  </a:tcPr>
                </a:tc>
                <a:tc>
                  <a:txBody>
                    <a:bodyPr/>
                    <a:lstStyle/>
                    <a:p>
                      <a:pPr algn="ctr" indent="0" marL="0">
                        <a:buNone/>
                      </a:pPr>
                      <a:r>
                        <a:rPr lang="en-US" sz="1900" dirty="0">
                          <a:solidFill>
                            <a:srgbClr val="1B2433"/>
                          </a:solidFill>
                        </a:rPr>
                        <a:t>296.446</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2433"/>
                          </a:solidFill>
                        </a:rPr>
                        <a:t>296.446</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2433"/>
                          </a:solidFill>
                        </a:rPr>
                        <a:t>296.446</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AF2FC"/>
                    </a:solidFill>
                  </a:tcPr>
                </a:tc>
              </a:tr>
              <a:tr h="658368">
                <a:tc>
                  <a:txBody>
                    <a:bodyPr/>
                    <a:lstStyle/>
                    <a:p>
                      <a:pPr algn="l" indent="0" marL="0">
                        <a:buNone/>
                      </a:pPr>
                      <a:r>
                        <a:rPr lang="en-US" sz="1900" b="1" dirty="0">
                          <a:solidFill>
                            <a:srgbClr val="1B2433"/>
                          </a:solidFill>
                        </a:rPr>
                        <a:t>Lower bound (proof of quality)</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EF3F8"/>
                    </a:solidFill>
                  </a:tcPr>
                </a:tc>
                <a:tc>
                  <a:txBody>
                    <a:bodyPr/>
                    <a:lstStyle/>
                    <a:p>
                      <a:pPr algn="ctr" indent="0" marL="0">
                        <a:buNone/>
                      </a:pPr>
                      <a:r>
                        <a:rPr lang="en-US" sz="1900" dirty="0">
                          <a:solidFill>
                            <a:srgbClr val="1B2433"/>
                          </a:solidFill>
                        </a:rPr>
                        <a:t>BARON: 295.932 (hours)</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2433"/>
                          </a:solidFill>
                        </a:rPr>
                        <a:t>none</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1B2433"/>
                          </a:solidFill>
                        </a:rPr>
                        <a:t>295.932 (milliseconds)</a:t>
                      </a:r>
                      <a:endParaRPr lang="en-US" sz="1900" dirty="0"/>
                    </a:p>
                  </a:txBody>
                  <a:tcPr marL="91440" marR="91440" marT="45720" marB="45720" anchor="ctr">
                    <a:lnL w="9525" cap="flat" cmpd="sng" algn="ctr">
                      <a:solidFill>
                        <a:srgbClr val="C9C8C2"/>
                      </a:solidFill>
                      <a:prstDash val="solid"/>
                      <a:round/>
                      <a:headEnd type="none" w="med" len="med"/>
                      <a:tailEnd type="none" w="med" len="med"/>
                    </a:lnL>
                    <a:lnR w="9525" cap="flat" cmpd="sng" algn="ctr">
                      <a:solidFill>
                        <a:srgbClr val="C9C8C2"/>
                      </a:solidFill>
                      <a:prstDash val="solid"/>
                      <a:round/>
                      <a:headEnd type="none" w="med" len="med"/>
                      <a:tailEnd type="none" w="med" len="med"/>
                    </a:lnR>
                    <a:lnT w="9525" cap="flat" cmpd="sng" algn="ctr">
                      <a:solidFill>
                        <a:srgbClr val="C9C8C2"/>
                      </a:solidFill>
                      <a:prstDash val="solid"/>
                      <a:round/>
                      <a:headEnd type="none" w="med" len="med"/>
                      <a:tailEnd type="none" w="med" len="med"/>
                    </a:lnT>
                    <a:lnB w="9525" cap="flat" cmpd="sng" algn="ctr">
                      <a:solidFill>
                        <a:srgbClr val="C9C8C2"/>
                      </a:solidFill>
                      <a:prstDash val="solid"/>
                      <a:round/>
                      <a:headEnd type="none" w="med" len="med"/>
                      <a:tailEnd type="none" w="med" len="med"/>
                    </a:lnB>
                    <a:solidFill>
                      <a:srgbClr val="EAF2FC"/>
                    </a:solidFill>
                  </a:tcPr>
                </a:tc>
              </a:tr>
            </a:tbl>
          </a:graphicData>
        </a:graphic>
      </p:graphicFrame>
      <p:sp>
        <p:nvSpPr>
          <p:cNvPr id="5" name="Shape 1"/>
          <p:cNvSpPr/>
          <p:nvPr/>
        </p:nvSpPr>
        <p:spPr>
          <a:xfrm>
            <a:off x="548640" y="4937760"/>
            <a:ext cx="11064240" cy="1143000"/>
          </a:xfrm>
          <a:prstGeom prst="roundRect">
            <a:avLst>
              <a:gd name="adj" fmla="val 9600"/>
            </a:avLst>
          </a:prstGeom>
          <a:solidFill>
            <a:srgbClr val="FFFFFF"/>
          </a:solidFill>
          <a:ln w="19050">
            <a:solidFill>
              <a:srgbClr val="C9C8C2"/>
            </a:solidFill>
            <a:prstDash val="solid"/>
          </a:ln>
        </p:spPr>
      </p:sp>
      <p:sp>
        <p:nvSpPr>
          <p:cNvPr id="6" name="Text 2"/>
          <p:cNvSpPr txBox="1"/>
          <p:nvPr/>
        </p:nvSpPr>
        <p:spPr>
          <a:xfrm>
            <a:off x="777240" y="5029200"/>
            <a:ext cx="10607040" cy="960120"/>
          </a:xfrm>
          <a:prstGeom prst="rect">
            <a:avLst/>
          </a:prstGeom>
          <a:noFill/>
          <a:ln/>
        </p:spPr>
        <p:txBody>
          <a:bodyPr wrap="square" lIns="1016" tIns="1016" rIns="1016" bIns="1016" rtlCol="0" anchor="ctr"/>
          <a:lstStyle/>
          <a:p>
            <a:pPr indent="0" marL="0">
              <a:buNone/>
            </a:pPr>
            <a:r>
              <a:rPr lang="en-US" sz="2000" b="1" dirty="0">
                <a:solidFill>
                  <a:srgbClr val="16324F"/>
                </a:solidFill>
                <a:latin typeface="Calibri" pitchFamily="34" charset="0"/>
                <a:ea typeface="Calibri" pitchFamily="34" charset="-122"/>
                <a:cs typeface="Calibri" pitchFamily="34" charset="-120"/>
              </a:rPr>
              <a:t>IA-2 keeps everything IA-1 got right on af-1 </a:t>
            </a:r>
            <a:pPr indent="0" marL="0">
              <a:buNone/>
            </a:pPr>
            <a:r>
              <a:rPr lang="en-US" sz="2000" dirty="0">
                <a:solidFill>
                  <a:srgbClr val="1B2433"/>
                </a:solidFill>
                <a:latin typeface="Calibri" pitchFamily="34" charset="0"/>
                <a:ea typeface="Calibri" pitchFamily="34" charset="-122"/>
                <a:cs typeface="Calibri" pitchFamily="34" charset="-120"/>
              </a:rPr>
              <a:t>and adds a proof: the best cost is at most 0.17% above the true optimum.</a:t>
            </a:r>
            <a:endParaRPr lang="en-US" sz="2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Result: IA-2 finds Good solutions 5× more often on hard problems</a:t>
            </a:r>
            <a:endParaRPr lang="en-US" sz="3000" dirty="0"/>
          </a:p>
        </p:txBody>
      </p:sp>
      <p:graphicFrame>
        <p:nvGraphicFramePr>
          <p:cNvPr id="4" name="Chart 0" descr=""/>
          <p:cNvGraphicFramePr/>
          <p:nvPr/>
        </p:nvGraphicFramePr>
        <p:xfrm>
          <a:off x="548640" y="132588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7680960" y="1371600"/>
            <a:ext cx="3931920" cy="2011680"/>
          </a:xfrm>
          <a:prstGeom prst="roundRect">
            <a:avLst>
              <a:gd name="adj" fmla="val 5455"/>
            </a:avLst>
          </a:prstGeom>
          <a:solidFill>
            <a:srgbClr val="EEF3F8"/>
          </a:solidFill>
          <a:ln w="12700">
            <a:solidFill>
              <a:srgbClr val="EEF3F8"/>
            </a:solidFill>
            <a:prstDash val="solid"/>
          </a:ln>
        </p:spPr>
      </p:sp>
      <p:sp>
        <p:nvSpPr>
          <p:cNvPr id="6" name="Text 2"/>
          <p:cNvSpPr txBox="1"/>
          <p:nvPr/>
        </p:nvSpPr>
        <p:spPr>
          <a:xfrm>
            <a:off x="7818120" y="1508760"/>
            <a:ext cx="3657600" cy="1005840"/>
          </a:xfrm>
          <a:prstGeom prst="rect">
            <a:avLst/>
          </a:prstGeom>
          <a:noFill/>
          <a:ln/>
        </p:spPr>
        <p:txBody>
          <a:bodyPr wrap="square" lIns="1016" tIns="1016" rIns="1016" bIns="1016" rtlCol="0" anchor="ctr"/>
          <a:lstStyle/>
          <a:p>
            <a:pPr algn="ctr" indent="0" marL="0">
              <a:buNone/>
            </a:pPr>
            <a:r>
              <a:rPr lang="en-US" sz="4400" b="1" dirty="0">
                <a:solidFill>
                  <a:srgbClr val="2A78D6"/>
                </a:solidFill>
                <a:latin typeface="Cambria" pitchFamily="34" charset="0"/>
                <a:ea typeface="Cambria" pitchFamily="34" charset="-122"/>
                <a:cs typeface="Cambria" pitchFamily="34" charset="-120"/>
              </a:rPr>
              <a:t>5×</a:t>
            </a:r>
            <a:endParaRPr lang="en-US" sz="4400" dirty="0"/>
          </a:p>
        </p:txBody>
      </p:sp>
      <p:sp>
        <p:nvSpPr>
          <p:cNvPr id="7" name="Text 3"/>
          <p:cNvSpPr txBox="1"/>
          <p:nvPr/>
        </p:nvSpPr>
        <p:spPr>
          <a:xfrm>
            <a:off x="7818120" y="2514600"/>
            <a:ext cx="3657600" cy="777240"/>
          </a:xfrm>
          <a:prstGeom prst="rect">
            <a:avLst/>
          </a:prstGeom>
          <a:noFill/>
          <a:ln/>
        </p:spPr>
        <p:txBody>
          <a:bodyPr wrap="square" lIns="1016" tIns="1016" rIns="1016" bIns="1016" rtlCol="0" anchor="t"/>
          <a:lstStyle/>
          <a:p>
            <a:pPr algn="ctr" indent="0" marL="0">
              <a:buNone/>
            </a:pPr>
            <a:r>
              <a:rPr lang="en-US" sz="1600" dirty="0">
                <a:solidFill>
                  <a:srgbClr val="52514E"/>
                </a:solidFill>
                <a:latin typeface="Calibri" pitchFamily="34" charset="0"/>
                <a:ea typeface="Calibri" pitchFamily="34" charset="-122"/>
                <a:cs typeface="Calibri" pitchFamily="34" charset="-120"/>
              </a:rPr>
              <a:t>faster to a Good solution (hard instances)</a:t>
            </a:r>
            <a:endParaRPr lang="en-US" sz="1600" dirty="0"/>
          </a:p>
        </p:txBody>
      </p:sp>
      <p:sp>
        <p:nvSpPr>
          <p:cNvPr id="8" name="Shape 4"/>
          <p:cNvSpPr/>
          <p:nvPr/>
        </p:nvSpPr>
        <p:spPr>
          <a:xfrm>
            <a:off x="7680960" y="3611880"/>
            <a:ext cx="3931920" cy="2514600"/>
          </a:xfrm>
          <a:prstGeom prst="roundRect">
            <a:avLst>
              <a:gd name="adj" fmla="val 4364"/>
            </a:avLst>
          </a:prstGeom>
          <a:solidFill>
            <a:srgbClr val="FFFFFF"/>
          </a:solidFill>
          <a:ln w="19050">
            <a:solidFill>
              <a:srgbClr val="C9C8C2"/>
            </a:solidFill>
            <a:prstDash val="solid"/>
          </a:ln>
        </p:spPr>
      </p:sp>
      <p:sp>
        <p:nvSpPr>
          <p:cNvPr id="9" name="Text 5"/>
          <p:cNvSpPr txBox="1"/>
          <p:nvPr/>
        </p:nvSpPr>
        <p:spPr>
          <a:xfrm>
            <a:off x="7863840" y="3749040"/>
            <a:ext cx="3566160" cy="2286000"/>
          </a:xfrm>
          <a:prstGeom prst="rect">
            <a:avLst/>
          </a:prstGeom>
          <a:noFill/>
          <a:ln/>
        </p:spPr>
        <p:txBody>
          <a:bodyPr wrap="square" lIns="1016" tIns="1016" rIns="1016" bIns="1016" rtlCol="0" anchor="t"/>
          <a:lstStyle/>
          <a:p>
            <a:pPr indent="0" marL="0">
              <a:spcAft>
                <a:spcPts val="600"/>
              </a:spcAft>
              <a:buNone/>
            </a:pPr>
            <a:r>
              <a:rPr lang="en-US" sz="2000" b="1" dirty="0">
                <a:solidFill>
                  <a:srgbClr val="16324F"/>
                </a:solidFill>
                <a:latin typeface="Calibri" pitchFamily="34" charset="0"/>
                <a:ea typeface="Calibri" pitchFamily="34" charset="-122"/>
                <a:cs typeface="Calibri" pitchFamily="34" charset="-120"/>
              </a:rPr>
              <a:t>af-2:  2% → 68%</a:t>
            </a:r>
            <a:endParaRPr lang="en-US" sz="2000" dirty="0"/>
          </a:p>
          <a:p>
            <a:pPr indent="0" marL="0">
              <a:spcAft>
                <a:spcPts val="600"/>
              </a:spcAft>
              <a:buNone/>
            </a:pPr>
            <a:r>
              <a:rPr lang="en-US" sz="2000" b="1" dirty="0">
                <a:solidFill>
                  <a:srgbClr val="16324F"/>
                </a:solidFill>
                <a:latin typeface="Calibri" pitchFamily="34" charset="0"/>
                <a:ea typeface="Calibri" pitchFamily="34" charset="-122"/>
                <a:cs typeface="Calibri" pitchFamily="34" charset="-120"/>
              </a:rPr>
              <a:t>af-3:  2% → 32%</a:t>
            </a:r>
            <a:endParaRPr lang="en-US" sz="2000" dirty="0"/>
          </a:p>
          <a:p>
            <a:pPr indent="0" marL="0">
              <a:spcAft>
                <a:spcPts val="600"/>
              </a:spcAft>
              <a:buNone/>
            </a:pPr>
            <a:r>
              <a:rPr lang="en-US" sz="2000" b="1" dirty="0">
                <a:solidFill>
                  <a:srgbClr val="16324F"/>
                </a:solidFill>
                <a:latin typeface="Calibri" pitchFamily="34" charset="0"/>
                <a:ea typeface="Calibri" pitchFamily="34" charset="-122"/>
                <a:cs typeface="Calibri" pitchFamily="34" charset="-120"/>
              </a:rPr>
              <a:t>af-4:  20% → 58%</a:t>
            </a:r>
            <a:endParaRPr lang="en-US" sz="2000" dirty="0"/>
          </a:p>
          <a:p>
            <a:pPr indent="0" marL="0">
              <a:spcAft>
                <a:spcPts val="600"/>
              </a:spcAft>
              <a:buNone/>
            </a:pPr>
            <a:r>
              <a:rPr lang="en-US" sz="2000" b="1" dirty="0">
                <a:solidFill>
                  <a:srgbClr val="16324F"/>
                </a:solidFill>
                <a:latin typeface="Calibri" pitchFamily="34" charset="0"/>
                <a:ea typeface="Calibri" pitchFamily="34" charset="-122"/>
                <a:cs typeface="Calibri" pitchFamily="34" charset="-120"/>
              </a:rPr>
              <a:t>af-6-fs:  3% → 27%</a:t>
            </a:r>
            <a:endParaRPr lang="en-US" sz="2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Result on every instance</a:t>
            </a:r>
            <a:endParaRPr lang="en-US" sz="3000" dirty="0"/>
          </a:p>
        </p:txBody>
      </p:sp>
      <p:graphicFrame>
        <p:nvGraphicFramePr>
          <p:cNvPr id="4" name="Chart 0" descr=""/>
          <p:cNvGraphicFramePr/>
          <p:nvPr/>
        </p:nvGraphicFramePr>
        <p:xfrm>
          <a:off x="548640" y="1280160"/>
          <a:ext cx="11064240" cy="42062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 y="5623560"/>
            <a:ext cx="11064240" cy="548640"/>
          </a:xfrm>
          <a:prstGeom prst="rect">
            <a:avLst/>
          </a:prstGeom>
          <a:noFill/>
          <a:ln/>
        </p:spPr>
        <p:txBody>
          <a:bodyPr wrap="square" lIns="1016" tIns="1016" rIns="1016" bIns="1016" rtlCol="0" anchor="t"/>
          <a:lstStyle/>
          <a:p>
            <a:pPr algn="ctr" indent="0" marL="0">
              <a:buNone/>
            </a:pPr>
            <a:r>
              <a:rPr lang="en-US" sz="1700" dirty="0">
                <a:solidFill>
                  <a:srgbClr val="52514E"/>
                </a:solidFill>
                <a:latin typeface="Calibri" pitchFamily="34" charset="0"/>
                <a:ea typeface="Calibri" pitchFamily="34" charset="-122"/>
                <a:cs typeface="Calibri" pitchFamily="34" charset="-120"/>
              </a:rPr>
              <a:t>Easy instances: both near 100%.   Hard instances: IA-2 far ahead, except af-6-f, which neither method solves.</a:t>
            </a:r>
            <a:endParaRPr lang="en-US" sz="17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Result: more reliable on all 11 instances</a:t>
            </a:r>
            <a:endParaRPr lang="en-US" sz="3000" dirty="0"/>
          </a:p>
        </p:txBody>
      </p:sp>
      <p:sp>
        <p:nvSpPr>
          <p:cNvPr id="4" name="Shape 1"/>
          <p:cNvSpPr/>
          <p:nvPr/>
        </p:nvSpPr>
        <p:spPr>
          <a:xfrm>
            <a:off x="548640" y="1463040"/>
            <a:ext cx="3474720" cy="2011680"/>
          </a:xfrm>
          <a:prstGeom prst="roundRect">
            <a:avLst>
              <a:gd name="adj" fmla="val 5455"/>
            </a:avLst>
          </a:prstGeom>
          <a:solidFill>
            <a:srgbClr val="EEF3F8"/>
          </a:solidFill>
          <a:ln w="12700">
            <a:solidFill>
              <a:srgbClr val="EEF3F8"/>
            </a:solidFill>
            <a:prstDash val="solid"/>
          </a:ln>
        </p:spPr>
      </p:sp>
      <p:sp>
        <p:nvSpPr>
          <p:cNvPr id="5" name="Text 2"/>
          <p:cNvSpPr txBox="1"/>
          <p:nvPr/>
        </p:nvSpPr>
        <p:spPr>
          <a:xfrm>
            <a:off x="685800" y="1600200"/>
            <a:ext cx="3200400" cy="1005840"/>
          </a:xfrm>
          <a:prstGeom prst="rect">
            <a:avLst/>
          </a:prstGeom>
          <a:noFill/>
          <a:ln/>
        </p:spPr>
        <p:txBody>
          <a:bodyPr wrap="square" lIns="1016" tIns="1016" rIns="1016" bIns="1016" rtlCol="0" anchor="ctr"/>
          <a:lstStyle/>
          <a:p>
            <a:pPr algn="ctr" indent="0" marL="0">
              <a:buNone/>
            </a:pPr>
            <a:r>
              <a:rPr lang="en-US" sz="4400" b="1" dirty="0">
                <a:solidFill>
                  <a:srgbClr val="16324F"/>
                </a:solidFill>
                <a:latin typeface="Cambria" pitchFamily="34" charset="0"/>
                <a:ea typeface="Cambria" pitchFamily="34" charset="-122"/>
                <a:cs typeface="Cambria" pitchFamily="34" charset="-120"/>
              </a:rPr>
              <a:t>88% → 96%</a:t>
            </a:r>
            <a:endParaRPr lang="en-US" sz="4400" dirty="0"/>
          </a:p>
        </p:txBody>
      </p:sp>
      <p:sp>
        <p:nvSpPr>
          <p:cNvPr id="6" name="Text 3"/>
          <p:cNvSpPr txBox="1"/>
          <p:nvPr/>
        </p:nvSpPr>
        <p:spPr>
          <a:xfrm>
            <a:off x="685800" y="2606040"/>
            <a:ext cx="3200400" cy="777240"/>
          </a:xfrm>
          <a:prstGeom prst="rect">
            <a:avLst/>
          </a:prstGeom>
          <a:noFill/>
          <a:ln/>
        </p:spPr>
        <p:txBody>
          <a:bodyPr wrap="square" lIns="1016" tIns="1016" rIns="1016" bIns="1016" rtlCol="0" anchor="t"/>
          <a:lstStyle/>
          <a:p>
            <a:pPr algn="ctr" indent="0" marL="0">
              <a:buNone/>
            </a:pPr>
            <a:r>
              <a:rPr lang="en-US" sz="1600" dirty="0">
                <a:solidFill>
                  <a:srgbClr val="52514E"/>
                </a:solidFill>
                <a:latin typeface="Calibri" pitchFamily="34" charset="0"/>
                <a:ea typeface="Calibri" pitchFamily="34" charset="-122"/>
                <a:cs typeface="Calibri" pitchFamily="34" charset="-120"/>
              </a:rPr>
              <a:t>runs that end feasible (IA-1 → IA-2)</a:t>
            </a:r>
            <a:endParaRPr lang="en-US" sz="1600" dirty="0"/>
          </a:p>
        </p:txBody>
      </p:sp>
      <p:sp>
        <p:nvSpPr>
          <p:cNvPr id="7" name="Shape 4"/>
          <p:cNvSpPr/>
          <p:nvPr/>
        </p:nvSpPr>
        <p:spPr>
          <a:xfrm>
            <a:off x="4343400" y="1463040"/>
            <a:ext cx="3474720" cy="2011680"/>
          </a:xfrm>
          <a:prstGeom prst="roundRect">
            <a:avLst>
              <a:gd name="adj" fmla="val 5455"/>
            </a:avLst>
          </a:prstGeom>
          <a:solidFill>
            <a:srgbClr val="EEF3F8"/>
          </a:solidFill>
          <a:ln w="12700">
            <a:solidFill>
              <a:srgbClr val="EEF3F8"/>
            </a:solidFill>
            <a:prstDash val="solid"/>
          </a:ln>
        </p:spPr>
      </p:sp>
      <p:sp>
        <p:nvSpPr>
          <p:cNvPr id="8" name="Text 5"/>
          <p:cNvSpPr txBox="1"/>
          <p:nvPr/>
        </p:nvSpPr>
        <p:spPr>
          <a:xfrm>
            <a:off x="4480560" y="1600200"/>
            <a:ext cx="3200400" cy="1005840"/>
          </a:xfrm>
          <a:prstGeom prst="rect">
            <a:avLst/>
          </a:prstGeom>
          <a:noFill/>
          <a:ln/>
        </p:spPr>
        <p:txBody>
          <a:bodyPr wrap="square" lIns="1016" tIns="1016" rIns="1016" bIns="1016" rtlCol="0" anchor="ctr"/>
          <a:lstStyle/>
          <a:p>
            <a:pPr algn="ctr" indent="0" marL="0">
              <a:buNone/>
            </a:pPr>
            <a:r>
              <a:rPr lang="en-US" sz="4400" b="1" dirty="0">
                <a:solidFill>
                  <a:srgbClr val="16324F"/>
                </a:solidFill>
                <a:latin typeface="Cambria" pitchFamily="34" charset="0"/>
                <a:ea typeface="Cambria" pitchFamily="34" charset="-122"/>
                <a:cs typeface="Cambria" pitchFamily="34" charset="-120"/>
              </a:rPr>
              <a:t>44% → 62%</a:t>
            </a:r>
            <a:endParaRPr lang="en-US" sz="4400" dirty="0"/>
          </a:p>
        </p:txBody>
      </p:sp>
      <p:sp>
        <p:nvSpPr>
          <p:cNvPr id="9" name="Text 6"/>
          <p:cNvSpPr txBox="1"/>
          <p:nvPr/>
        </p:nvSpPr>
        <p:spPr>
          <a:xfrm>
            <a:off x="4480560" y="2606040"/>
            <a:ext cx="3200400" cy="777240"/>
          </a:xfrm>
          <a:prstGeom prst="rect">
            <a:avLst/>
          </a:prstGeom>
          <a:noFill/>
          <a:ln/>
        </p:spPr>
        <p:txBody>
          <a:bodyPr wrap="square" lIns="1016" tIns="1016" rIns="1016" bIns="1016" rtlCol="0" anchor="t"/>
          <a:lstStyle/>
          <a:p>
            <a:pPr algn="ctr" indent="0" marL="0">
              <a:buNone/>
            </a:pPr>
            <a:r>
              <a:rPr lang="en-US" sz="1600" dirty="0">
                <a:solidFill>
                  <a:srgbClr val="52514E"/>
                </a:solidFill>
                <a:latin typeface="Calibri" pitchFamily="34" charset="0"/>
                <a:ea typeface="Calibri" pitchFamily="34" charset="-122"/>
                <a:cs typeface="Calibri" pitchFamily="34" charset="-120"/>
              </a:rPr>
              <a:t>runs that are Good (IA-1 → IA-2)</a:t>
            </a:r>
            <a:endParaRPr lang="en-US" sz="1600" dirty="0"/>
          </a:p>
        </p:txBody>
      </p:sp>
      <p:sp>
        <p:nvSpPr>
          <p:cNvPr id="10" name="Shape 7"/>
          <p:cNvSpPr/>
          <p:nvPr/>
        </p:nvSpPr>
        <p:spPr>
          <a:xfrm>
            <a:off x="8138160" y="1463040"/>
            <a:ext cx="3474720" cy="2011680"/>
          </a:xfrm>
          <a:prstGeom prst="roundRect">
            <a:avLst>
              <a:gd name="adj" fmla="val 5455"/>
            </a:avLst>
          </a:prstGeom>
          <a:solidFill>
            <a:srgbClr val="EEF3F8"/>
          </a:solidFill>
          <a:ln w="12700">
            <a:solidFill>
              <a:srgbClr val="EEF3F8"/>
            </a:solidFill>
            <a:prstDash val="solid"/>
          </a:ln>
        </p:spPr>
      </p:sp>
      <p:sp>
        <p:nvSpPr>
          <p:cNvPr id="11" name="Text 8"/>
          <p:cNvSpPr txBox="1"/>
          <p:nvPr/>
        </p:nvSpPr>
        <p:spPr>
          <a:xfrm>
            <a:off x="8275320" y="1600200"/>
            <a:ext cx="3200400" cy="1005840"/>
          </a:xfrm>
          <a:prstGeom prst="rect">
            <a:avLst/>
          </a:prstGeom>
          <a:noFill/>
          <a:ln/>
        </p:spPr>
        <p:txBody>
          <a:bodyPr wrap="square" lIns="1016" tIns="1016" rIns="1016" bIns="1016" rtlCol="0" anchor="ctr"/>
          <a:lstStyle/>
          <a:p>
            <a:pPr algn="ctr" indent="0" marL="0">
              <a:buNone/>
            </a:pPr>
            <a:r>
              <a:rPr lang="en-US" sz="4400" b="1" dirty="0">
                <a:solidFill>
                  <a:srgbClr val="16324F"/>
                </a:solidFill>
                <a:latin typeface="Cambria" pitchFamily="34" charset="0"/>
                <a:ea typeface="Cambria" pitchFamily="34" charset="-122"/>
                <a:cs typeface="Cambria" pitchFamily="34" charset="-120"/>
              </a:rPr>
              <a:t>5 of 11</a:t>
            </a:r>
            <a:endParaRPr lang="en-US" sz="4400" dirty="0"/>
          </a:p>
        </p:txBody>
      </p:sp>
      <p:sp>
        <p:nvSpPr>
          <p:cNvPr id="12" name="Text 9"/>
          <p:cNvSpPr txBox="1"/>
          <p:nvPr/>
        </p:nvSpPr>
        <p:spPr>
          <a:xfrm>
            <a:off x="8275320" y="2606040"/>
            <a:ext cx="3200400" cy="777240"/>
          </a:xfrm>
          <a:prstGeom prst="rect">
            <a:avLst/>
          </a:prstGeom>
          <a:noFill/>
          <a:ln/>
        </p:spPr>
        <p:txBody>
          <a:bodyPr wrap="square" lIns="1016" tIns="1016" rIns="1016" bIns="1016" rtlCol="0" anchor="t"/>
          <a:lstStyle/>
          <a:p>
            <a:pPr algn="ctr" indent="0" marL="0">
              <a:buNone/>
            </a:pPr>
            <a:r>
              <a:rPr lang="en-US" sz="1600" dirty="0">
                <a:solidFill>
                  <a:srgbClr val="52514E"/>
                </a:solidFill>
                <a:latin typeface="Calibri" pitchFamily="34" charset="0"/>
                <a:ea typeface="Calibri" pitchFamily="34" charset="-122"/>
                <a:cs typeface="Calibri" pitchFamily="34" charset="-120"/>
              </a:rPr>
              <a:t>instances where the gain is statistically significant</a:t>
            </a:r>
            <a:endParaRPr lang="en-US" sz="1600" dirty="0"/>
          </a:p>
        </p:txBody>
      </p:sp>
      <p:sp>
        <p:nvSpPr>
          <p:cNvPr id="13" name="Shape 10"/>
          <p:cNvSpPr/>
          <p:nvPr/>
        </p:nvSpPr>
        <p:spPr>
          <a:xfrm>
            <a:off x="548640" y="3840480"/>
            <a:ext cx="11064240" cy="2194560"/>
          </a:xfrm>
          <a:prstGeom prst="roundRect">
            <a:avLst>
              <a:gd name="adj" fmla="val 5000"/>
            </a:avLst>
          </a:prstGeom>
          <a:solidFill>
            <a:srgbClr val="FFFFFF"/>
          </a:solidFill>
          <a:ln w="19050">
            <a:solidFill>
              <a:srgbClr val="C9C8C2"/>
            </a:solidFill>
            <a:prstDash val="solid"/>
          </a:ln>
        </p:spPr>
      </p:sp>
      <p:sp>
        <p:nvSpPr>
          <p:cNvPr id="14" name="Text 11"/>
          <p:cNvSpPr txBox="1"/>
          <p:nvPr/>
        </p:nvSpPr>
        <p:spPr>
          <a:xfrm>
            <a:off x="777240" y="4023360"/>
            <a:ext cx="10607040" cy="1828800"/>
          </a:xfrm>
          <a:prstGeom prst="rect">
            <a:avLst/>
          </a:prstGeom>
          <a:noFill/>
          <a:ln/>
        </p:spPr>
        <p:txBody>
          <a:bodyPr wrap="square" lIns="1016" tIns="1016" rIns="1016" bIns="1016" rtlCol="0" anchor="t"/>
          <a:lstStyle/>
          <a:p>
            <a:pPr indent="0" marL="0">
              <a:buNone/>
            </a:pPr>
            <a:r>
              <a:rPr lang="en-US" sz="2000" b="1" dirty="0">
                <a:solidFill>
                  <a:srgbClr val="1B2433"/>
                </a:solidFill>
                <a:latin typeface="Calibri" pitchFamily="34" charset="0"/>
                <a:ea typeface="Calibri" pitchFamily="34" charset="-122"/>
                <a:cs typeface="Calibri" pitchFamily="34" charset="-120"/>
              </a:rPr>
              <a:t>Why: </a:t>
            </a:r>
            <a:pPr indent="0" marL="0">
              <a:buNone/>
            </a:pPr>
            <a:r>
              <a:rPr lang="en-US" sz="2000" dirty="0">
                <a:solidFill>
                  <a:srgbClr val="1B2433"/>
                </a:solidFill>
                <a:latin typeface="Calibri" pitchFamily="34" charset="0"/>
                <a:ea typeface="Calibri" pitchFamily="34" charset="-122"/>
                <a:cs typeface="Calibri" pitchFamily="34" charset="-120"/>
              </a:rPr>
              <a:t>smart starts begin in better valleys, the LP polish turns 'almost valid' answers into valid ones, and learning from the best answer means later runs search near it instead of starting over.</a:t>
            </a:r>
            <a:endParaRPr lang="en-US" sz="2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Honest limits</a:t>
            </a:r>
            <a:endParaRPr lang="en-US" sz="3000" dirty="0"/>
          </a:p>
        </p:txBody>
      </p:sp>
      <p:sp>
        <p:nvSpPr>
          <p:cNvPr id="4" name="Shape 1"/>
          <p:cNvSpPr/>
          <p:nvPr/>
        </p:nvSpPr>
        <p:spPr>
          <a:xfrm>
            <a:off x="548640" y="1463040"/>
            <a:ext cx="11064240" cy="1325880"/>
          </a:xfrm>
          <a:prstGeom prst="roundRect">
            <a:avLst>
              <a:gd name="adj" fmla="val 8276"/>
            </a:avLst>
          </a:prstGeom>
          <a:solidFill>
            <a:srgbClr val="EEF3F8"/>
          </a:solidFill>
          <a:ln w="12700">
            <a:solidFill>
              <a:srgbClr val="EEF3F8"/>
            </a:solidFill>
            <a:prstDash val="solid"/>
          </a:ln>
        </p:spPr>
      </p:sp>
      <p:sp>
        <p:nvSpPr>
          <p:cNvPr id="5" name="Text 2"/>
          <p:cNvSpPr txBox="1"/>
          <p:nvPr/>
        </p:nvSpPr>
        <p:spPr>
          <a:xfrm>
            <a:off x="822960" y="1600200"/>
            <a:ext cx="4206240" cy="1051560"/>
          </a:xfrm>
          <a:prstGeom prst="rect">
            <a:avLst/>
          </a:prstGeom>
          <a:noFill/>
          <a:ln/>
        </p:spPr>
        <p:txBody>
          <a:bodyPr wrap="square" lIns="1016" tIns="1016" rIns="1016" bIns="1016" rtlCol="0" anchor="ctr"/>
          <a:lstStyle/>
          <a:p>
            <a:pPr indent="0" marL="0">
              <a:buNone/>
            </a:pPr>
            <a:r>
              <a:rPr lang="en-US" sz="2100" b="1" dirty="0">
                <a:solidFill>
                  <a:srgbClr val="16324F"/>
                </a:solidFill>
                <a:latin typeface="Calibri" pitchFamily="34" charset="0"/>
                <a:ea typeface="Calibri" pitchFamily="34" charset="-122"/>
                <a:cs typeface="Calibri" pitchFamily="34" charset="-120"/>
              </a:rPr>
              <a:t>af-6-f is not solved</a:t>
            </a:r>
            <a:endParaRPr lang="en-US" sz="2100" dirty="0"/>
          </a:p>
        </p:txBody>
      </p:sp>
      <p:sp>
        <p:nvSpPr>
          <p:cNvPr id="6" name="Text 3"/>
          <p:cNvSpPr txBox="1"/>
          <p:nvPr/>
        </p:nvSpPr>
        <p:spPr>
          <a:xfrm>
            <a:off x="5120640" y="1600200"/>
            <a:ext cx="6309360" cy="1051560"/>
          </a:xfrm>
          <a:prstGeom prst="rect">
            <a:avLst/>
          </a:prstGeom>
          <a:noFill/>
          <a:ln/>
        </p:spPr>
        <p:txBody>
          <a:bodyPr wrap="square" lIns="1016" tIns="1016" rIns="1016" bIns="1016" rtlCol="0" anchor="ctr"/>
          <a:lstStyle/>
          <a:p>
            <a:pPr indent="0" marL="0">
              <a:buNone/>
            </a:pPr>
            <a:r>
              <a:rPr lang="en-US" sz="1800" dirty="0">
                <a:solidFill>
                  <a:srgbClr val="52514E"/>
                </a:solidFill>
                <a:latin typeface="Calibri" pitchFamily="34" charset="0"/>
                <a:ea typeface="Calibri" pitchFamily="34" charset="-122"/>
                <a:cs typeface="Calibri" pitchFamily="34" charset="-120"/>
              </a:rPr>
              <a:t>Neither method gets within 0.2% (the paper also only 4%).</a:t>
            </a:r>
            <a:endParaRPr lang="en-US" sz="1800" dirty="0"/>
          </a:p>
        </p:txBody>
      </p:sp>
      <p:sp>
        <p:nvSpPr>
          <p:cNvPr id="7" name="Shape 4"/>
          <p:cNvSpPr/>
          <p:nvPr/>
        </p:nvSpPr>
        <p:spPr>
          <a:xfrm>
            <a:off x="548640" y="3017520"/>
            <a:ext cx="11064240" cy="1325880"/>
          </a:xfrm>
          <a:prstGeom prst="roundRect">
            <a:avLst>
              <a:gd name="adj" fmla="val 8276"/>
            </a:avLst>
          </a:prstGeom>
          <a:solidFill>
            <a:srgbClr val="EEF3F8"/>
          </a:solidFill>
          <a:ln w="12700">
            <a:solidFill>
              <a:srgbClr val="EEF3F8"/>
            </a:solidFill>
            <a:prstDash val="solid"/>
          </a:ln>
        </p:spPr>
      </p:sp>
      <p:sp>
        <p:nvSpPr>
          <p:cNvPr id="8" name="Text 5"/>
          <p:cNvSpPr txBox="1"/>
          <p:nvPr/>
        </p:nvSpPr>
        <p:spPr>
          <a:xfrm>
            <a:off x="822960" y="3154680"/>
            <a:ext cx="4206240" cy="1051560"/>
          </a:xfrm>
          <a:prstGeom prst="rect">
            <a:avLst/>
          </a:prstGeom>
          <a:noFill/>
          <a:ln/>
        </p:spPr>
        <p:txBody>
          <a:bodyPr wrap="square" lIns="1016" tIns="1016" rIns="1016" bIns="1016" rtlCol="0" anchor="ctr"/>
          <a:lstStyle/>
          <a:p>
            <a:pPr indent="0" marL="0">
              <a:buNone/>
            </a:pPr>
            <a:r>
              <a:rPr lang="en-US" sz="2100" b="1" dirty="0">
                <a:solidFill>
                  <a:srgbClr val="16324F"/>
                </a:solidFill>
                <a:latin typeface="Calibri" pitchFamily="34" charset="0"/>
                <a:ea typeface="Calibri" pitchFamily="34" charset="-122"/>
                <a:cs typeface="Calibri" pitchFamily="34" charset="-120"/>
              </a:rPr>
              <a:t>Easy problems get a bit slower</a:t>
            </a:r>
            <a:endParaRPr lang="en-US" sz="2100" dirty="0"/>
          </a:p>
        </p:txBody>
      </p:sp>
      <p:sp>
        <p:nvSpPr>
          <p:cNvPr id="9" name="Text 6"/>
          <p:cNvSpPr txBox="1"/>
          <p:nvPr/>
        </p:nvSpPr>
        <p:spPr>
          <a:xfrm>
            <a:off x="5120640" y="3154680"/>
            <a:ext cx="6309360" cy="1051560"/>
          </a:xfrm>
          <a:prstGeom prst="rect">
            <a:avLst/>
          </a:prstGeom>
          <a:noFill/>
          <a:ln/>
        </p:spPr>
        <p:txBody>
          <a:bodyPr wrap="square" lIns="1016" tIns="1016" rIns="1016" bIns="1016" rtlCol="0" anchor="ctr"/>
          <a:lstStyle/>
          <a:p>
            <a:pPr indent="0" marL="0">
              <a:buNone/>
            </a:pPr>
            <a:r>
              <a:rPr lang="en-US" sz="1800" dirty="0">
                <a:solidFill>
                  <a:srgbClr val="52514E"/>
                </a:solidFill>
                <a:latin typeface="Calibri" pitchFamily="34" charset="0"/>
                <a:ea typeface="Calibri" pitchFamily="34" charset="-122"/>
                <a:cs typeface="Calibri" pitchFamily="34" charset="-120"/>
              </a:rPr>
              <a:t>The extra LPs cost time when random starts already work (up to ~2×).</a:t>
            </a:r>
            <a:endParaRPr lang="en-US" sz="1800" dirty="0"/>
          </a:p>
        </p:txBody>
      </p:sp>
      <p:sp>
        <p:nvSpPr>
          <p:cNvPr id="10" name="Shape 7"/>
          <p:cNvSpPr/>
          <p:nvPr/>
        </p:nvSpPr>
        <p:spPr>
          <a:xfrm>
            <a:off x="548640" y="4572000"/>
            <a:ext cx="11064240" cy="1325880"/>
          </a:xfrm>
          <a:prstGeom prst="roundRect">
            <a:avLst>
              <a:gd name="adj" fmla="val 8276"/>
            </a:avLst>
          </a:prstGeom>
          <a:solidFill>
            <a:srgbClr val="EEF3F8"/>
          </a:solidFill>
          <a:ln w="12700">
            <a:solidFill>
              <a:srgbClr val="EEF3F8"/>
            </a:solidFill>
            <a:prstDash val="solid"/>
          </a:ln>
        </p:spPr>
      </p:sp>
      <p:sp>
        <p:nvSpPr>
          <p:cNvPr id="11" name="Text 8"/>
          <p:cNvSpPr txBox="1"/>
          <p:nvPr/>
        </p:nvSpPr>
        <p:spPr>
          <a:xfrm>
            <a:off x="822960" y="4709160"/>
            <a:ext cx="4206240" cy="1051560"/>
          </a:xfrm>
          <a:prstGeom prst="rect">
            <a:avLst/>
          </a:prstGeom>
          <a:noFill/>
          <a:ln/>
        </p:spPr>
        <p:txBody>
          <a:bodyPr wrap="square" lIns="1016" tIns="1016" rIns="1016" bIns="1016" rtlCol="0" anchor="ctr"/>
          <a:lstStyle/>
          <a:p>
            <a:pPr indent="0" marL="0">
              <a:buNone/>
            </a:pPr>
            <a:r>
              <a:rPr lang="en-US" sz="2100" b="1" dirty="0">
                <a:solidFill>
                  <a:srgbClr val="16324F"/>
                </a:solidFill>
                <a:latin typeface="Calibri" pitchFamily="34" charset="0"/>
                <a:ea typeface="Calibri" pitchFamily="34" charset="-122"/>
                <a:cs typeface="Calibri" pitchFamily="34" charset="-120"/>
              </a:rPr>
              <a:t>af-7 just below the paper</a:t>
            </a:r>
            <a:endParaRPr lang="en-US" sz="2100" dirty="0"/>
          </a:p>
        </p:txBody>
      </p:sp>
      <p:sp>
        <p:nvSpPr>
          <p:cNvPr id="12" name="Text 9"/>
          <p:cNvSpPr txBox="1"/>
          <p:nvPr/>
        </p:nvSpPr>
        <p:spPr>
          <a:xfrm>
            <a:off x="5120640" y="4709160"/>
            <a:ext cx="6309360" cy="1051560"/>
          </a:xfrm>
          <a:prstGeom prst="rect">
            <a:avLst/>
          </a:prstGeom>
          <a:noFill/>
          <a:ln/>
        </p:spPr>
        <p:txBody>
          <a:bodyPr wrap="square" lIns="1016" tIns="1016" rIns="1016" bIns="1016" rtlCol="0" anchor="ctr"/>
          <a:lstStyle/>
          <a:p>
            <a:pPr indent="0" marL="0">
              <a:buNone/>
            </a:pPr>
            <a:r>
              <a:rPr lang="en-US" sz="1800" dirty="0">
                <a:solidFill>
                  <a:srgbClr val="52514E"/>
                </a:solidFill>
                <a:latin typeface="Calibri" pitchFamily="34" charset="0"/>
                <a:ea typeface="Calibri" pitchFamily="34" charset="-122"/>
                <a:cs typeface="Calibri" pitchFamily="34" charset="-120"/>
              </a:rPr>
              <a:t>IA-2 18% vs paper 20% (IA-1 10%).</a:t>
            </a:r>
            <a:endParaRPr lang="en-US" sz="18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01168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Restarting smartly makes SLP find good feed recipes far more often</a:t>
            </a:r>
            <a:endParaRPr lang="en-US" sz="4000" dirty="0"/>
          </a:p>
        </p:txBody>
      </p:sp>
      <p:sp>
        <p:nvSpPr>
          <p:cNvPr id="4" name="Text 0"/>
          <p:cNvSpPr/>
          <p:nvPr>
            <p:ph idx="101" type="body" hasCustomPrompt="1"/>
          </p:nvPr>
        </p:nvSpPr>
        <p:spPr>
          <a:xfrm>
            <a:off x="731520" y="3794760"/>
            <a:ext cx="10698480" cy="2377440"/>
          </a:xfrm>
          <a:prstGeom prst="rect">
            <a:avLst/>
          </a:prstGeom>
          <a:noFill/>
          <a:ln/>
        </p:spPr>
        <p:txBody>
          <a:bodyPr wrap="square" rtlCol="0" anchor="t"/>
          <a:lstStyle/>
          <a:p>
            <a:pPr indent="0" marL="0">
              <a:buNone/>
            </a:pPr>
            <a:r>
              <a:rPr lang="en-US" sz="1800" dirty="0">
                <a:solidFill>
                  <a:schemeClr val="bg2"/>
                </a:solidFill>
              </a:rPr>
              <a:t>Same model and solver as IA-1, plus simple LPs: Good runs on hard problems 6% → 34%, feasible runs 88% → 96%, 5× faster to a Good answer.</a:t>
            </a:r>
            <a:endParaRPr lang="en-US" sz="1800" dirty="0"/>
          </a:p>
          <a:p>
            <a:pPr indent="0" marL="0">
              <a:buNone/>
            </a:pPr>
            <a:r>
              <a:rPr lang="en-US" sz="1800" dirty="0">
                <a:solidFill>
                  <a:schemeClr val="bg2"/>
                </a:solidFill>
              </a:rPr>
              <a:t>Next: choose between smart starts and learning automatically; run the probes in parallel.</a:t>
            </a:r>
            <a:endParaRPr lang="en-US" sz="1800" dirty="0"/>
          </a:p>
          <a:p>
            <a:pPr indent="0" marL="0">
              <a:buNone/>
            </a:pPr>
            <a:r>
              <a:rPr lang="en-US" sz="1800" b="1" dirty="0">
                <a:solidFill>
                  <a:schemeClr val="bg2"/>
                </a:solidFill>
              </a:rPr>
              <a:t>Code and demo: GitHub repository + Google Colab notebook.   Thank you!</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6868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548640" y="1371600"/>
            <a:ext cx="11064240" cy="4754880"/>
          </a:xfrm>
          <a:prstGeom prst="rect">
            <a:avLst/>
          </a:prstGeom>
          <a:noFill/>
          <a:ln/>
        </p:spPr>
        <p:txBody>
          <a:bodyPr wrap="square" lIns="1016" tIns="1016" rIns="1016" bIns="1016" rtlCol="0" anchor="t"/>
          <a:lstStyle/>
          <a:p>
            <a:pPr indent="0" marL="0">
              <a:spcAft>
                <a:spcPts val="1000"/>
              </a:spcAft>
              <a:buNone/>
            </a:pPr>
            <a:r>
              <a:rPr lang="en-US" sz="1600" dirty="0">
                <a:solidFill>
                  <a:srgbClr val="1B2433"/>
                </a:solidFill>
                <a:latin typeface="Calibri" pitchFamily="34" charset="0"/>
                <a:ea typeface="Calibri" pitchFamily="34" charset="-122"/>
                <a:cs typeface="Calibri" pitchFamily="34" charset="-120"/>
              </a:rPr>
              <a:t>[1] A. Grothey, K. McKinnon, “On the effectiveness of sequential linear programming for the pooling problem,” Annals of Operations Research 322 (2023) 691–711.</a:t>
            </a:r>
            <a:endParaRPr lang="en-US" sz="1600" dirty="0"/>
          </a:p>
          <a:p>
            <a:pPr indent="0" marL="0">
              <a:spcAft>
                <a:spcPts val="1000"/>
              </a:spcAft>
              <a:buNone/>
            </a:pPr>
            <a:r>
              <a:rPr lang="en-US" sz="1600" dirty="0">
                <a:solidFill>
                  <a:srgbClr val="1B2433"/>
                </a:solidFill>
                <a:latin typeface="Calibri" pitchFamily="34" charset="0"/>
                <a:ea typeface="Calibri" pitchFamily="34" charset="-122"/>
                <a:cs typeface="Calibri" pitchFamily="34" charset="-120"/>
              </a:rPr>
              <a:t>[2] A. Grothey, K. McKinnon, Pooling problem test data (2020).</a:t>
            </a:r>
            <a:endParaRPr lang="en-US" sz="1600" dirty="0"/>
          </a:p>
          <a:p>
            <a:pPr indent="0" marL="0">
              <a:spcAft>
                <a:spcPts val="1000"/>
              </a:spcAft>
              <a:buNone/>
            </a:pPr>
            <a:r>
              <a:rPr lang="en-US" sz="1600" dirty="0">
                <a:solidFill>
                  <a:srgbClr val="1B2433"/>
                </a:solidFill>
                <a:latin typeface="Calibri" pitchFamily="34" charset="0"/>
                <a:ea typeface="Calibri" pitchFamily="34" charset="-122"/>
                <a:cs typeface="Calibri" pitchFamily="34" charset="-120"/>
              </a:rPr>
              <a:t>[3] C. A. Haverly, “Studies of the behavior of recursion for the pooling problem,” ACM SIGMAP Bulletin 25 (1978).</a:t>
            </a:r>
            <a:endParaRPr lang="en-US" sz="1600" dirty="0"/>
          </a:p>
          <a:p>
            <a:pPr indent="0" marL="0">
              <a:spcAft>
                <a:spcPts val="1000"/>
              </a:spcAft>
              <a:buNone/>
            </a:pPr>
            <a:r>
              <a:rPr lang="en-US" sz="1600" dirty="0">
                <a:solidFill>
                  <a:srgbClr val="1B2433"/>
                </a:solidFill>
                <a:latin typeface="Calibri" pitchFamily="34" charset="0"/>
                <a:ea typeface="Calibri" pitchFamily="34" charset="-122"/>
                <a:cs typeface="Calibri" pitchFamily="34" charset="-120"/>
              </a:rPr>
              <a:t>[4] C. Audet et al., “Pooling problem: alternate formulations and solution methods,” Management Science 50 (2004) 761–776.</a:t>
            </a:r>
            <a:endParaRPr lang="en-US" sz="1600" dirty="0"/>
          </a:p>
          <a:p>
            <a:pPr indent="0" marL="0">
              <a:spcAft>
                <a:spcPts val="1000"/>
              </a:spcAft>
              <a:buNone/>
            </a:pPr>
            <a:r>
              <a:rPr lang="en-US" sz="1600" dirty="0">
                <a:solidFill>
                  <a:srgbClr val="1B2433"/>
                </a:solidFill>
                <a:latin typeface="Calibri" pitchFamily="34" charset="0"/>
                <a:ea typeface="Calibri" pitchFamily="34" charset="-122"/>
                <a:cs typeface="Calibri" pitchFamily="34" charset="-120"/>
              </a:rPr>
              <a:t>[5] H. R. Lourenço et al., “Iterated local search,” Handbook of Metaheuristics (2019).</a:t>
            </a:r>
            <a:endParaRPr lang="en-US" sz="1600" dirty="0"/>
          </a:p>
          <a:p>
            <a:pPr indent="0" marL="0">
              <a:spcAft>
                <a:spcPts val="1000"/>
              </a:spcAft>
              <a:buNone/>
            </a:pPr>
            <a:r>
              <a:rPr lang="en-US" sz="1600" dirty="0">
                <a:solidFill>
                  <a:srgbClr val="1B2433"/>
                </a:solidFill>
                <a:latin typeface="Calibri" pitchFamily="34" charset="0"/>
                <a:ea typeface="Calibri" pitchFamily="34" charset="-122"/>
                <a:cs typeface="Calibri" pitchFamily="34" charset="-120"/>
              </a:rPr>
              <a:t>[6] Group OPT-09, IA-1 report: SLP for nonlinear pooling optimization problems (2026).</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Feed Mill Simple">
  <a:themeElements>
    <a:clrScheme name="Feed Mill Simple">
      <a:dk1>
        <a:srgbClr val="1B2433"/>
      </a:dk1>
      <a:lt1>
        <a:srgbClr val="FFFFFF"/>
      </a:lt1>
      <a:dk2>
        <a:srgbClr val="16324F"/>
      </a:dk2>
      <a:lt2>
        <a:srgbClr val="EEF3F8"/>
      </a:lt2>
      <a:accent1>
        <a:srgbClr val="2A78D6"/>
      </a:accent1>
      <a:accent2>
        <a:srgbClr val="EB6834"/>
      </a:accent2>
      <a:accent3>
        <a:srgbClr val="1BAF7A"/>
      </a:accent3>
      <a:accent4>
        <a:srgbClr val="EDA100"/>
      </a:accent4>
      <a:accent5>
        <a:srgbClr val="6250D6"/>
      </a:accent5>
      <a:accent6>
        <a:srgbClr val="52514E"/>
      </a:accent6>
      <a:hlink>
        <a:srgbClr val="2A78D6"/>
      </a:hlink>
      <a:folHlink>
        <a:srgbClr val="6250D6"/>
      </a:folHlink>
    </a:clrScheme>
    <a:fontScheme name="Feed Mill Sim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Smarter restarts for feed-blending optimization (IA-2)</dc:title>
  <dc:subject>PptxGenJS Presentation</dc:subject>
  <dc:creator>Group OPT-09</dc:creator>
  <cp:lastModifiedBy>Group OPT-09</cp:lastModifiedBy>
  <cp:revision>1</cp:revision>
  <dcterms:created xsi:type="dcterms:W3CDTF">2026-10-16T14:32:56Z</dcterms:created>
  <dcterms:modified xsi:type="dcterms:W3CDTF">2026-10-16T14:32:56Z</dcterms:modified>
</cp:coreProperties>
</file>